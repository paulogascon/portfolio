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instructors and fellow criminology students. Today we examine the fundamental protocols of Crime Scene Investigation—where forensic science meets criminal jurisprudence.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agenda covers four critical pillars: the Golden Rule, first responder duties, systematic search patterns, and chain of custody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Golden Rule of CSI is absolute. Once a crime scene is contaminated, physical evidence loses its judicial admissibility and cases collapse in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One examines first responder duties: preserving life, cordoning perimeters, and keeping unauthorized personnel outside the yellow tape.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statistics underscore that 85% of convictions rely on physical evidence, while 60% of technical acquittals result from procedural contamination.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Documentation requires three synchronized elements: comprehensive field notes, scaled forensic photographs, and triangulation sketches.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stark contrast between professional forensic rigor and fatal blunders that destroy legal cases in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Two focuses on search patterns, scientific packaging rules, and strict adherence to Philippine Supreme Court evidentiary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Search methods are chosen based on geography: grid for dense indoor scenes, strip search for large fields, and zone search for multi-room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physical evidence does not lie. It does not forget. But it can be ruined by careless human hands. Rigorous discipline is our solemn duty.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Here are our official legal references from the PNP Criminal Investigation Manual and the Revised Rules 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8A94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F5F5"/>
                </a:solidFill>
              </a:defRPr>
            </a:pPr>
            <a:r>
              <a:t>ACADEMIC KEYNOTE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5F5F5"/>
                </a:solidFill>
              </a:defRPr>
            </a:pPr>
            <a:r>
              <a:t>Crime Scene Investigation: Forensic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8102E"/>
                </a:solidFill>
              </a:defRPr>
            </a:pPr>
            <a:r>
              <a:t>Golden Rules, Physical Evidence Integrity, and Chain of Custody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CA3AF"/>
                </a:solidFill>
              </a:defRPr>
            </a:pPr>
            <a:r>
              <a:t>Presented by: Jhon Paulo V. Gascon  •  BSIT 2G</a:t>
            </a:r>
            <a:br/>
            <a:r>
              <a:t>STI West Negros University  •  Academic Year 2026–2027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STRUCTURE &amp;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Presentation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2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14600" cy="411480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C8102E"/>
                </a:solidFill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600" b="1">
                <a:solidFill>
                  <a:srgbClr val="F5F5F5"/>
                </a:solidFill>
              </a:defRPr>
            </a:pPr>
            <a:r>
              <a:t>The Golden Rule of CSI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Preserving the scene from contamination and unauthorized entry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14600" cy="411480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C8102E"/>
                </a:solidFill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600" b="1">
                <a:solidFill>
                  <a:srgbClr val="F5F5F5"/>
                </a:solidFill>
              </a:defRPr>
            </a:pPr>
            <a:r>
              <a:t>First Responder Duties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Securing perimeter, medical aid, and witness segregation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14600" cy="411480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C8102E"/>
                </a:solidFill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600" b="1">
                <a:solidFill>
                  <a:srgbClr val="F5F5F5"/>
                </a:solidFill>
              </a:defRPr>
            </a:pPr>
            <a:r>
              <a:t>Systematic Search &amp; Evidence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Strip, spiral, and grid search methods; packaging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828800"/>
            <a:ext cx="2514600" cy="411480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103120"/>
            <a:ext cx="2148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C8102E"/>
                </a:solidFill>
              </a:defRPr>
            </a:pPr>
            <a:r>
              <a:t>04</a:t>
            </a:r>
          </a:p>
          <a:p>
            <a:pPr>
              <a:spcBef>
                <a:spcPts val="1400"/>
              </a:spcBef>
              <a:defRPr sz="1600" b="1">
                <a:solidFill>
                  <a:srgbClr val="F5F5F5"/>
                </a:solidFill>
              </a:defRPr>
            </a:pPr>
            <a:r>
              <a:t>Chain of Custody &amp; Court Room</a:t>
            </a:r>
          </a:p>
          <a:p>
            <a:pPr>
              <a:spcBef>
                <a:spcPts val="1000"/>
              </a:spcBef>
              <a:defRPr sz="1300">
                <a:solidFill>
                  <a:srgbClr val="9CA3AF"/>
                </a:solidFill>
              </a:defRPr>
            </a:pPr>
            <a:r>
              <a:t>Documenting every transfer to guarantee judicial admissibility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Core Conceptual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3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B2026"/>
          </a:solidFill>
          <a:ln w="2540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C8102E"/>
                </a:solidFill>
              </a:defRPr>
            </a:pPr>
            <a:r>
              <a:t>"Never touch, move, or alter anything until it has been properly documented, photographed, and measured."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4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5F5"/>
                </a:solidFill>
              </a:defRPr>
            </a:pPr>
            <a:r>
              <a:t>Part I: First Responder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CA3AF"/>
                </a:solidFill>
              </a:defRPr>
            </a:pPr>
            <a:r>
              <a:t>Immediate operational priorities upon arriving at the scene.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EMPIRICAL EVIDENCE &amp;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Forensic Realities in Criminal Prosecution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5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8102E"/>
                </a:solidFill>
              </a:defRPr>
            </a:pPr>
            <a:r>
              <a:t>85%</a:t>
            </a:r>
          </a:p>
          <a:p>
            <a:pPr>
              <a:spcBef>
                <a:spcPts val="1600"/>
              </a:spcBef>
              <a:defRPr sz="1600">
                <a:solidFill>
                  <a:srgbClr val="F5F5F5"/>
                </a:solidFill>
              </a:defRPr>
            </a:pPr>
            <a:r>
              <a:t>Homicide convictions dependent upon untainted physical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8102E"/>
                </a:solidFill>
              </a:defRPr>
            </a:pPr>
            <a:r>
              <a:t>60%</a:t>
            </a:r>
          </a:p>
          <a:p>
            <a:pPr>
              <a:spcBef>
                <a:spcPts val="1600"/>
              </a:spcBef>
              <a:defRPr sz="1600">
                <a:solidFill>
                  <a:srgbClr val="F5F5F5"/>
                </a:solidFill>
              </a:defRPr>
            </a:pPr>
            <a:r>
              <a:t>Acquittals caused by contaminated crime scenes or broken chain of custody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8102E"/>
                </a:solidFill>
              </a:defRPr>
            </a:pPr>
            <a:r>
              <a:t>1st Hour</a:t>
            </a:r>
          </a:p>
          <a:p>
            <a:pPr>
              <a:spcBef>
                <a:spcPts val="1600"/>
              </a:spcBef>
              <a:defRPr sz="1600">
                <a:solidFill>
                  <a:srgbClr val="F5F5F5"/>
                </a:solidFill>
              </a:defRPr>
            </a:pPr>
            <a:r>
              <a:t>The 'Golden Hour' where forensic evidence is most volatile and vulnerable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STRATEGIC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Three Mandatory Stages of Scene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6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413455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8102E"/>
                </a:solidFill>
              </a:defRPr>
            </a:pPr>
            <a:r>
              <a:t>Accurate Notes</a:t>
            </a:r>
          </a:p>
          <a:p>
            <a:pPr>
              <a:spcBef>
                <a:spcPts val="1400"/>
              </a:spcBef>
              <a:defRPr sz="1400">
                <a:solidFill>
                  <a:srgbClr val="F5F5F5"/>
                </a:solidFill>
              </a:defRPr>
            </a:pPr>
            <a:r>
              <a:t>Detailed written chronological log of climate, lighting, odors, and arrival times.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13455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8102E"/>
                </a:solidFill>
              </a:defRPr>
            </a:pPr>
            <a:r>
              <a:t>Forensic Photography</a:t>
            </a:r>
          </a:p>
          <a:p>
            <a:pPr>
              <a:spcBef>
                <a:spcPts val="1400"/>
              </a:spcBef>
              <a:defRPr sz="1400">
                <a:solidFill>
                  <a:srgbClr val="F5F5F5"/>
                </a:solidFill>
              </a:defRPr>
            </a:pPr>
            <a:r>
              <a:t>Overall, medium-range, and close-up photographs taken with scale markers.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413455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286000"/>
            <a:ext cx="30476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C8102E"/>
                </a:solidFill>
              </a:defRPr>
            </a:pPr>
            <a:r>
              <a:t>Proportional Sketching</a:t>
            </a:r>
          </a:p>
          <a:p>
            <a:pPr>
              <a:spcBef>
                <a:spcPts val="1400"/>
              </a:spcBef>
              <a:defRPr sz="1400">
                <a:solidFill>
                  <a:srgbClr val="F5F5F5"/>
                </a:solidFill>
              </a:defRPr>
            </a:pPr>
            <a:r>
              <a:t>Rough and finished sketches with triangulation measurements from fixed points.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Evidence Integrity vs Contamination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7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114800"/>
          </a:xfrm>
          <a:prstGeom prst="roundRect">
            <a:avLst/>
          </a:prstGeom>
          <a:solidFill>
            <a:srgbClr val="1B2026"/>
          </a:solidFill>
          <a:ln w="254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Proper Forensic Protocols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Strict single-entry logbook enforced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Sterile disposable tools used per item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Air-drying biological stains before paper bag packaging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Continuous signed chain of custody 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B2026"/>
          </a:solidFill>
          <a:ln w="25400">
            <a:solidFill>
              <a:srgbClr val="8A9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A94A6"/>
                </a:solidFill>
              </a:defRPr>
            </a:pPr>
            <a:r>
              <a:t>Fatal CSI Errors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Allowing non-essential officers inside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Packaging moist blood swabs in airtight plastic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Failing to photograph evidence in situ before collection</a:t>
            </a:r>
          </a:p>
          <a:p>
            <a:pPr>
              <a:spcBef>
                <a:spcPts val="800"/>
              </a:spcBef>
              <a:defRPr sz="1300">
                <a:solidFill>
                  <a:srgbClr val="F5F5F5"/>
                </a:solidFill>
              </a:defRPr>
            </a:pPr>
            <a:r>
              <a:t>•  Unrecorded handoffs between officers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8 of 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286000"/>
            <a:ext cx="457200" cy="2560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9456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5F5"/>
                </a:solidFill>
              </a:defRPr>
            </a:pPr>
            <a:r>
              <a:t>Part II: Evidence Recovery &amp; Legal Admissibility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657600"/>
            <a:ext cx="9601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9CA3AF"/>
                </a:solidFill>
              </a:defRPr>
            </a:pPr>
            <a:r>
              <a:t>Systematic search methods, packaging, and constitutional compliance.</a:t>
            </a:r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EXECUTION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The 4 Standard Systematic Search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9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A94A6"/>
                </a:solidFill>
              </a:defRPr>
            </a:pPr>
            <a:r>
              <a:t>Pattern 1</a:t>
            </a:r>
          </a:p>
          <a:p>
            <a:pPr>
              <a:spcBef>
                <a:spcPts val="600"/>
              </a:spcBef>
              <a:defRPr sz="1600" b="1">
                <a:solidFill>
                  <a:srgbClr val="F5F5F5"/>
                </a:solidFill>
              </a:defRPr>
            </a:pPr>
            <a:r>
              <a:t>Strip / Lane Search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</a:defRPr>
            </a:pPr>
            <a:r>
              <a:t>Investigators walk parallel lanes across large outdoor open terrain.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011680"/>
            <a:ext cx="2514600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A94A6"/>
                </a:solidFill>
              </a:defRPr>
            </a:pPr>
            <a:r>
              <a:t>Pattern 2</a:t>
            </a:r>
          </a:p>
          <a:p>
            <a:pPr>
              <a:spcBef>
                <a:spcPts val="600"/>
              </a:spcBef>
              <a:defRPr sz="1600" b="1">
                <a:solidFill>
                  <a:srgbClr val="F5F5F5"/>
                </a:solidFill>
              </a:defRPr>
            </a:pPr>
            <a:r>
              <a:t>Grid Double-Check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</a:defRPr>
            </a:pPr>
            <a:r>
              <a:t>Perpendicular double-pass providing highest search thoroughness.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011680"/>
            <a:ext cx="2514600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A94A6"/>
                </a:solidFill>
              </a:defRPr>
            </a:pPr>
            <a:r>
              <a:t>Pattern 3</a:t>
            </a:r>
          </a:p>
          <a:p>
            <a:pPr>
              <a:spcBef>
                <a:spcPts val="600"/>
              </a:spcBef>
              <a:defRPr sz="1600" b="1">
                <a:solidFill>
                  <a:srgbClr val="F5F5F5"/>
                </a:solidFill>
              </a:defRPr>
            </a:pPr>
            <a:r>
              <a:t>Spiral Method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</a:defRPr>
            </a:pPr>
            <a:r>
              <a:t>Inward or outward circular pattern ideal for single-room crime scenes.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2011680"/>
            <a:ext cx="2514600" cy="384048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194560"/>
            <a:ext cx="2240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A94A6"/>
                </a:solidFill>
              </a:defRPr>
            </a:pPr>
            <a:r>
              <a:t>Pattern 4</a:t>
            </a:r>
          </a:p>
          <a:p>
            <a:pPr>
              <a:spcBef>
                <a:spcPts val="600"/>
              </a:spcBef>
              <a:defRPr sz="1600" b="1">
                <a:solidFill>
                  <a:srgbClr val="F5F5F5"/>
                </a:solidFill>
              </a:defRPr>
            </a:pPr>
            <a:r>
              <a:t>Zone / Quadrant</a:t>
            </a:r>
          </a:p>
          <a:p>
            <a:pPr>
              <a:spcBef>
                <a:spcPts val="800"/>
              </a:spcBef>
              <a:defRPr sz="1200">
                <a:solidFill>
                  <a:srgbClr val="9CA3AF"/>
                </a:solidFill>
              </a:defRPr>
            </a:pPr>
            <a:r>
              <a:t>Dividing complex indoor multi-story structures into numbered sectors.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FINAL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Guiding Principles for Future Criminologists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10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118872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Integrity Above All</a:t>
            </a:r>
          </a:p>
          <a:p>
            <a:pPr>
              <a:spcBef>
                <a:spcPts val="300"/>
              </a:spcBef>
              <a:defRPr sz="1300">
                <a:solidFill>
                  <a:srgbClr val="F5F5F5"/>
                </a:solidFill>
              </a:defRPr>
            </a:pPr>
            <a:r>
              <a:t>Forensic scientists serve truth, not the prosecution or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10728655" cy="118872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Strict Chain of Custody</a:t>
            </a:r>
          </a:p>
          <a:p>
            <a:pPr>
              <a:spcBef>
                <a:spcPts val="300"/>
              </a:spcBef>
              <a:defRPr sz="1300">
                <a:solidFill>
                  <a:srgbClr val="F5F5F5"/>
                </a:solidFill>
              </a:defRPr>
            </a:pPr>
            <a:r>
              <a:t>Every officer touching evidence must sign and document reason.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188720"/>
          </a:xfrm>
          <a:prstGeom prst="roundRect">
            <a:avLst/>
          </a:prstGeom>
          <a:solidFill>
            <a:srgbClr val="1B2026"/>
          </a:solidFill>
          <a:ln w="1905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548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C8102E"/>
                </a:solidFill>
              </a:defRPr>
            </a:pPr>
            <a:r>
              <a:t>Continuous Documentation</a:t>
            </a:r>
          </a:p>
          <a:p>
            <a:pPr>
              <a:spcBef>
                <a:spcPts val="300"/>
              </a:spcBef>
              <a:defRPr sz="1300">
                <a:solidFill>
                  <a:srgbClr val="F5F5F5"/>
                </a:solidFill>
              </a:defRPr>
            </a:pPr>
            <a:r>
              <a:t>If it is not written down in field notes, it legally did not happen.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t>SCHOLARLY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5F5F5"/>
                </a:solidFill>
              </a:defRPr>
            </a:pPr>
            <a:r>
              <a:t>Legal &amp; Forensic References (Rule 128 Rules of Court)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STI West Negros University  •  Jhon Paulo V. Gascon  •  Slide 11 of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B2026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10058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300">
                <a:solidFill>
                  <a:srgbClr val="F5F5F5"/>
                </a:solidFill>
              </a:defRPr>
            </a:pPr>
            <a:r>
              <a:t>•  Philippine National Police. (2014). Criminal investigation manual (Revised ed.). PNP Directorate for Investigation and Detective Management.</a:t>
            </a:r>
          </a:p>
          <a:p>
            <a:pPr>
              <a:spcBef>
                <a:spcPts val="1400"/>
              </a:spcBef>
              <a:defRPr sz="1300">
                <a:solidFill>
                  <a:srgbClr val="F5F5F5"/>
                </a:solidFill>
              </a:defRPr>
            </a:pPr>
            <a:r>
              <a:t>•  Saferstein, R. (2018). Criminalistics: An introduction to forensic science (12th ed.). Pearson Education.</a:t>
            </a:r>
          </a:p>
          <a:p>
            <a:pPr>
              <a:spcBef>
                <a:spcPts val="1400"/>
              </a:spcBef>
              <a:defRPr sz="1300">
                <a:solidFill>
                  <a:srgbClr val="F5F5F5"/>
                </a:solidFill>
              </a:defRPr>
            </a:pPr>
            <a:r>
              <a:t>•  Supreme Court of the Philippines. (2019). Revised rules on evidence (A.M. No. 19-08-15-SC). Rules of Court.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