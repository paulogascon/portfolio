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class. Today we examine the core scientific and procedural foundations of Crime Scene Investigation. Our focus centers on evidence preservation, meticulous documentation, and courtroom admissibility.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Dr. Locard established: 'Wherever he steps, whatever he touches, whatever he leaves, will serve as a silent witness against him.' Our sacred duty is to preserve those microscopic traces without contamination.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initial response dictates the ultimate success of prosecution. Securing the physical perimeter prevents contamination by curious bystanders, media, and unauthorized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Documentation must occur prior to disturbing a single artifact. If an item is moved before it is photographed with a scale, its legal probative weight in court is severely jeopardized.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Choosing the correct search pattern depends on the physical geography of the scene. A grid search provides the highest redundancy and minimizes the likelihood of overlooking minute trace fibers.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Biological evidence requires strict handling. Never seal wet bloodstains in plastic bags; moisture fosters mold growth that degrades DNA. All biological items must be air-dried and stored in paper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unbroken chain of custody is the absolute lifeblood of criminal prosecution. Any gap in the custody record can result in vital evidence being declared legally inadmissible.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individual who touches an item of evidence must sign the custody receipt. From the discovering patrolman to the forensic chemist, every transfer must be documented with absolute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 attorneys vigorously attack gaps in the chain of custody. If the prosecution cannot prove where a knife was stored for 48 hours, the court may exclude it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a forensic investigator is a seeker of truth. By combining scientific precision with ethical integrity, you ensure that the innocent are vindicated and the guilty held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class. Methodical science protects the integrity of our judicial system. Review your procedural manuals for our upcoming laboratory practical on evidence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slide1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CRIMINOLOGY &amp; FORENSIC SCIENCE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Crime Scene Investigation</a:t>
            </a:r>
          </a:p>
          <a:p>
            <a:pPr>
              <a:defRPr sz="1500">
                <a:solidFill>
                  <a:srgbClr val="B4C8DC"/>
                </a:solidFill>
              </a:defRPr>
            </a:pPr>
            <a:r>
              <a:t>Forensic Methodology, Evidence Preservation, and Legal Chain of Custody</a:t>
            </a:r>
          </a:p>
          <a:p>
            <a:br/>
            <a:pPr>
              <a:defRPr sz="1100">
                <a:solidFill>
                  <a:srgbClr val="8CA0B4"/>
                </a:solidFill>
              </a:defRPr>
            </a:pPr>
            <a:r>
              <a:t>Presenter: Jhon Paulo Gascon • STI West Negros University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FOUNDATIONAL LAW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Locard's Exchange Principle</a:t>
            </a:r>
          </a:p>
        </p:txBody>
      </p:sp>
      <p:pic>
        <p:nvPicPr>
          <p:cNvPr id="4" name="!!Content_Image" descr="csi_lo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Every Contact Leaves a Trace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Pioneered by Dr. Edmond Locard: physical contact between two surfaces results in cross-transfer of physical evidence.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Mutual Material Transfer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The perpetrator leaves traces (fibers, DNA, toolmarks) while carrying away elements of the scene.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Scientific Infallibility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Physical evidence cannot commit perjury; it can only be misunderstood, contaminated, or improperly handled.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cord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Securing the Scene &amp; Perimeter</a:t>
            </a:r>
          </a:p>
          <a:p>
            <a:pPr>
              <a:defRPr sz="1600">
                <a:solidFill>
                  <a:srgbClr val="D97706"/>
                </a:solidFill>
              </a:defRPr>
            </a:pPr>
            <a:r>
              <a:t>Primary &amp; Secondary Barrier Protocols to Prevent Contamination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PROCEDURAL STANDARDS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Forensic Scene Documentation</a:t>
            </a:r>
          </a:p>
        </p:txBody>
      </p:sp>
      <p:pic>
        <p:nvPicPr>
          <p:cNvPr id="4" name="!!Content_Image" descr="csi_docu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Panoramic to Macro Photography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Capture overall establishing shots, mid-range contextual photos, and close-up views with metric scale rulers.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Rough &amp; Final Sketches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Triangulation and baseline coordinate measurements linking key evidence to permanent architectural fixtures.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Audio &amp; Written Logs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Detailed contemporaneous notes documenting time of entry, atmospheric conditions, and initial witness observations.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SEARCH METHODOLOGY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Four Standard Search Patterns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1. Strip / Line Search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Investigators walk parallel paths in a straight line; ideal for large open outdoor fields and expansive terrains.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2. Grid Search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Two perpendicular strip searches offering thorough dual-coverage across complex indoor or vegetative areas.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3. Spiral Search (Inward/Outward)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Path spirals toward or away from the central focus; effective in localized rooms with clear focal epicenters.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COLLECTION PROTOCOLS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Physical &amp; Biological Evidence</a:t>
            </a:r>
          </a:p>
        </p:txBody>
      </p:sp>
      <p:pic>
        <p:nvPicPr>
          <p:cNvPr id="4" name="!!Content_Image" descr="csi_ball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Biological Fluids (Blood/DNA)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Air-dried before packaging in breathable paper bags to prevent anaerobic fungal degradation.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Trace Evidence (Fibers/Paint)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Sealed in druggist folds and rigid containers to prevent cross-contamination.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Ballistics &amp; Firearms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Firearms unloaded with chamber cleared; bullets wrapped in cotton to protect rifling striations.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Strict Chain of Custody</a:t>
            </a:r>
          </a:p>
          <a:p>
            <a:pPr>
              <a:defRPr sz="1600">
                <a:solidFill>
                  <a:srgbClr val="D97706"/>
                </a:solidFill>
              </a:defRPr>
            </a:pPr>
            <a:r>
              <a:t>Preserving Unbroken Accountability from Scene to Courtroom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CHAIN OF CUSTODY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Evidence Tagging &amp; Custody Records</a:t>
            </a:r>
          </a:p>
        </p:txBody>
      </p:sp>
      <p:pic>
        <p:nvPicPr>
          <p:cNvPr id="4" name="!!Content_Image" descr="csi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Tamper-Evident Evidence Seals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Custody labels signed across tape seams; any peel attempt creates visible voids.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Comprehensive Transfer Receipts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Exact log recording date, time, releasing officer, receiving technician, and specific analysis requested.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1C202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Secure Evidence Locker Vaults</a:t>
            </a:r>
          </a:p>
          <a:p>
            <a:pPr>
              <a:defRPr sz="1050">
                <a:solidFill>
                  <a:srgbClr val="F0F0F0"/>
                </a:solidFill>
              </a:defRPr>
            </a:pPr>
            <a:r>
              <a:t>Climate-controlled, biometric-logged storage preventing unauthorized access or spoliation.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JUDICIAL SCRUTINY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Three Grounds for Evidence Inadmissibility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1. Unlawful Search (Warrantless)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Evidence obtained in violation of Sec. 2, Art. III of the 1987 Constitution falls under the Exclusionary Rule.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2. Contamination / Spoliation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Failure to wear protective PPE resulting in investigator DNA being introduced into biological samples.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3. Broken Chain of Custody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Inability to account for custody during transfer intervals creates reasonable doubt regarding tampering.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PROFESSIONAL PRINCIPLES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Essential Takeaways for Forensic Students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Scientific Objectivity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Investigators gather objective facts without bias, regardless of public pressure or premature suspect theories.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Meticulous Precision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Treat every millimeter of a crime scene as vital historical testimony waiting to be interpreted.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C20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Ethical Integrity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The pursuit of justice requires uncompromising adherence to statutory law, human rights, and forensic rigor.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csi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Forensic Excellence in the Pursuit of Justice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Where Science Meets the Law to Protect Human Rights</a:t>
            </a:r>
          </a:p>
          <a:p>
            <a:br/>
            <a:pPr>
              <a:defRPr sz="1000">
                <a:solidFill>
                  <a:srgbClr val="96AABE"/>
                </a:solidFill>
              </a:defRPr>
            </a:pPr>
            <a:r>
              <a:t>Image &amp; Academic Credits:</a:t>
            </a:r>
            <a:br/>
            <a:r>
              <a:t>• Visual Assets: Custom 3D renders &amp; high-res vector graphics.</a:t>
            </a:r>
            <a:br/>
            <a:r>
              <a:t>• Research Citations: APA 7th academic standards.</a:t>
            </a:r>
            <a:br/>
            <a:r>
              <a:t>• STI West Negros University • BSIT Program 2026–2027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