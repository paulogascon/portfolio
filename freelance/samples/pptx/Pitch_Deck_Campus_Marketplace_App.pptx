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investors. Today we introduce Campus Marketplace — the dedicated, verified mobile commerce hub designed specifically for university students across the Philippines.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3.5 million tertiary students in the Philippines buy and sell secondhand textbooks, lab coats, and electronics every semester. Yet, they are forced to use chaotic Facebook groups where scamming and ghosting are rampant.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a closed-loop platform accessible exclusively to verified college students, featuring designated campus safe pickup zones and built-in escrow.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visualized on the market breakdown, our serviceable obtainable market represents ₱120 million across the extensive STI network alone, providing an immense captive user base for rapid unit-economic scaling.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core pillars solve trust. By binding accounts to verified student IDs and protecting funds through escrow, fraudulent listings drop to absolute zero.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revenue model is diversified. A modest 3.5% transaction commission generates strong margins, while campus merchant partnerships and micro-promotions provide recurring monthly cash 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our 60-day pilot at STI WNU, over 1,200 students onboarded, generating ₱480,000 in gross merchandise volume with a 98.4% customer satisfaction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experience is frictionless. A student can photograph an unwanted textbook, tag their course subject, and publish the listing in under 45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growth trajectory follows a disciplined hub-and-spoke expansion, scaling from Bacolod to Iloilo and ultimately activating the full nationwide STI campus network.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₱2.5 million to scale engineering and campus marketing. We invite you to partner with us in modernizing collegiate commerce across the nation.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Let's empower students to trade safely and build a vibrant circular campus economy. We welcome your partnership and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slide1.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1200" b="1">
                <a:solidFill>
                  <a:srgbClr val="34D399"/>
                </a:solidFill>
              </a:defRPr>
            </a:pPr>
            <a:r>
              <a:t>VENTURE INVESTOR PITCH</a:t>
            </a:r>
          </a:p>
          <a:p>
            <a:pPr>
              <a:defRPr sz="3600" b="1">
                <a:solidFill>
                  <a:srgbClr val="FFFFFF"/>
                </a:solidFill>
              </a:defRPr>
            </a:pPr>
            <a:r>
              <a:t>Campus Marketplace App</a:t>
            </a:r>
          </a:p>
          <a:p>
            <a:pPr>
              <a:defRPr sz="1500">
                <a:solidFill>
                  <a:srgbClr val="B4C8DC"/>
                </a:solidFill>
              </a:defRPr>
            </a:pPr>
            <a:r>
              <a:t>Peer-to-Peer Student Commerce Built for Trust, Safety, and Campus Velocity</a:t>
            </a:r>
          </a:p>
          <a:p>
            <a:br/>
            <a:pPr>
              <a:defRPr sz="1100">
                <a:solidFill>
                  <a:srgbClr val="8CA0B4"/>
                </a:solidFill>
              </a:defRPr>
            </a:pPr>
            <a:r>
              <a:t>Presenter: Jhon Paulo Gascon • STI West Negros University</a:t>
            </a:r>
          </a:p>
        </p:txBody>
      </p:sp>
    </p:spTree>
  </p:cSld>
  <p:clrMapOvr>
    <a:masterClrMapping/>
  </p:clrMapOvr>
  <p:transition spd="med">
    <p:fade/>
  </p:transition>
</p:sld>
</file>

<file path=ppt/slides/slide2.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MARKET FRICTION</a:t>
            </a:r>
          </a:p>
          <a:p>
            <a:pPr>
              <a:defRPr sz="2400" b="1">
                <a:solidFill>
                  <a:srgbClr val="FFFFFF"/>
                </a:solidFill>
              </a:defRPr>
            </a:pPr>
            <a:r>
              <a:t>The Problem: Unsafe Student Trading</a:t>
            </a:r>
          </a:p>
        </p:txBody>
      </p:sp>
      <p:pic>
        <p:nvPicPr>
          <p:cNvPr id="4" name="!!Content_Image" descr="market_problem.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Facebook Group Chaos</a:t>
            </a:r>
          </a:p>
          <a:p>
            <a:pPr>
              <a:defRPr sz="1050">
                <a:solidFill>
                  <a:srgbClr val="E6F8F0"/>
                </a:solidFill>
              </a:defRPr>
            </a:pPr>
            <a:r>
              <a:t>Students buy textbooks and uniforms on unvetted social media groups rampant with scammers.</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Meetup Safety Concerns</a:t>
            </a:r>
          </a:p>
          <a:p>
            <a:pPr>
              <a:defRPr sz="1050">
                <a:solidFill>
                  <a:srgbClr val="E6F8F0"/>
                </a:solidFill>
              </a:defRPr>
            </a:pPr>
            <a:r>
              <a:t>Exchanging high-value tech devices with anonymous strangers outside campus gates causes physical safety hazards.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Ghosting &amp; Payment Friction</a:t>
            </a:r>
          </a:p>
          <a:p>
            <a:pPr>
              <a:defRPr sz="1050">
                <a:solidFill>
                  <a:srgbClr val="E6F8F0"/>
                </a:solidFill>
              </a:defRPr>
            </a:pPr>
            <a:r>
              <a:t>High seller cancellation rates, payment delays, and lack of buyer escrow protections.</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3.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solution.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The Solution: Verified Student Hub</a:t>
            </a:r>
          </a:p>
          <a:p>
            <a:pPr>
              <a:defRPr sz="1600">
                <a:solidFill>
                  <a:srgbClr val="34D399"/>
                </a:solidFill>
              </a:defRPr>
            </a:pPr>
            <a:r>
              <a:t>Closed-Loop Collegiate Commerce with Institutional ID Verification</a:t>
            </a:r>
          </a:p>
        </p:txBody>
      </p:sp>
    </p:spTree>
  </p:cSld>
  <p:clrMapOvr>
    <a:masterClrMapping/>
  </p:clrMapOvr>
  <p:transition spd="med">
    <p:fade/>
  </p:transition>
</p:sld>
</file>

<file path=ppt/slides/slide4.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MARKET OPPORTUNITY</a:t>
            </a:r>
          </a:p>
          <a:p>
            <a:pPr>
              <a:defRPr sz="2400" b="1">
                <a:solidFill>
                  <a:srgbClr val="FFFFFF"/>
                </a:solidFill>
              </a:defRPr>
            </a:pPr>
            <a:r>
              <a:t>Total Addressable Market (TAM)</a:t>
            </a:r>
          </a:p>
        </p:txBody>
      </p:sp>
      <p:pic>
        <p:nvPicPr>
          <p:cNvPr id="4" name="!!Content_Image" descr="market_market_siz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TAM: ₱4.2B Annual Market</a:t>
            </a:r>
          </a:p>
          <a:p>
            <a:pPr>
              <a:defRPr sz="1050">
                <a:solidFill>
                  <a:srgbClr val="E6F8F0"/>
                </a:solidFill>
              </a:defRPr>
            </a:pPr>
            <a:r>
              <a:t>Total annual student spend on course materials, devices, and dorm essentials across 2,000+ PH colleges.</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SAM: ₱850M Regional Focus</a:t>
            </a:r>
          </a:p>
          <a:p>
            <a:pPr>
              <a:defRPr sz="1050">
                <a:solidFill>
                  <a:srgbClr val="E6F8F0"/>
                </a:solidFill>
              </a:defRPr>
            </a:pPr>
            <a:r>
              <a:t>Tertiary collegiate student demographic in Western Visayas and major regional university hubs.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SOM: ₱120M Initial Capture</a:t>
            </a:r>
          </a:p>
          <a:p>
            <a:pPr>
              <a:defRPr sz="1050">
                <a:solidFill>
                  <a:srgbClr val="E6F8F0"/>
                </a:solidFill>
              </a:defRPr>
            </a:pPr>
            <a:r>
              <a:t>Targeting 25 STI campus network branches during our 18-month rollout phase.</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5.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PRODUCT ARCHITECTURE</a:t>
            </a:r>
          </a:p>
          <a:p>
            <a:pPr>
              <a:defRPr sz="2400" b="1">
                <a:solidFill>
                  <a:srgbClr val="FFFFFF"/>
                </a:solidFill>
              </a:defRPr>
            </a:pPr>
            <a:r>
              <a:t>Three Core Product Features</a:t>
            </a:r>
          </a:p>
        </p:txBody>
      </p:sp>
      <p:sp>
        <p:nvSpPr>
          <p:cNvPr id="4" name="!!Card_1"/>
          <p:cNvSpPr/>
          <p:nvPr/>
        </p:nvSpPr>
        <p:spPr>
          <a:xfrm>
            <a:off x="7315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1. STI Student ID Auth</a:t>
            </a:r>
          </a:p>
          <a:p>
            <a:pPr>
              <a:defRPr sz="1100">
                <a:solidFill>
                  <a:srgbClr val="F0F0F0"/>
                </a:solidFill>
              </a:defRPr>
            </a:pPr>
            <a:r>
              <a:t>Automated OCR scanning of student registration forms and .edu.ph email domain binding to ensure 100% verified peers.</a:t>
            </a:r>
          </a:p>
        </p:txBody>
      </p:sp>
      <p:sp>
        <p:nvSpPr>
          <p:cNvPr id="5" name="!!Card_2"/>
          <p:cNvSpPr/>
          <p:nvPr/>
        </p:nvSpPr>
        <p:spPr>
          <a:xfrm>
            <a:off x="43891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2. In-App Escrow Holds</a:t>
            </a:r>
          </a:p>
          <a:p>
            <a:pPr>
              <a:defRPr sz="1100">
                <a:solidFill>
                  <a:srgbClr val="F0F0F0"/>
                </a:solidFill>
              </a:defRPr>
            </a:pPr>
            <a:r>
              <a:t>Buyer payments via GCash/Maya are held securely until physical item verification at designated campus zones.</a:t>
            </a:r>
          </a:p>
        </p:txBody>
      </p:sp>
      <p:sp>
        <p:nvSpPr>
          <p:cNvPr id="6" name="!!Card_3"/>
          <p:cNvSpPr/>
          <p:nvPr/>
        </p:nvSpPr>
        <p:spPr>
          <a:xfrm>
            <a:off x="80467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3. Course Material Matching</a:t>
            </a:r>
          </a:p>
          <a:p>
            <a:pPr>
              <a:defRPr sz="1100">
                <a:solidFill>
                  <a:srgbClr val="F0F0F0"/>
                </a:solidFill>
              </a:defRPr>
            </a:pPr>
            <a:r>
              <a:t>Algorithm maps syllabus requirements directly to matching secondhand textbooks sold by upperclassmen.</a:t>
            </a:r>
          </a:p>
        </p:txBody>
      </p:sp>
    </p:spTree>
  </p:cSld>
  <p:clrMapOvr>
    <a:masterClrMapping/>
  </p:clrMapOvr>
  <p:transition spd="med">
    <p:fade/>
  </p:transition>
</p:sld>
</file>

<file path=ppt/slides/slide6.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REVENUE ENGINE</a:t>
            </a:r>
          </a:p>
          <a:p>
            <a:pPr>
              <a:defRPr sz="2400" b="1">
                <a:solidFill>
                  <a:srgbClr val="FFFFFF"/>
                </a:solidFill>
              </a:defRPr>
            </a:pPr>
            <a:r>
              <a:t>Monetization &amp; Unit Economics</a:t>
            </a:r>
          </a:p>
        </p:txBody>
      </p:sp>
      <p:pic>
        <p:nvPicPr>
          <p:cNvPr id="4" name="!!Content_Image" descr="market_business.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3.5% Transaction Fee</a:t>
            </a:r>
          </a:p>
          <a:p>
            <a:pPr>
              <a:defRPr sz="1050">
                <a:solidFill>
                  <a:srgbClr val="E6F8F0"/>
                </a:solidFill>
              </a:defRPr>
            </a:pPr>
            <a:r>
              <a:t>Lightweight commission on successful transactions, split between buyer and seller.</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Campus Merchant Showcases</a:t>
            </a:r>
          </a:p>
          <a:p>
            <a:pPr>
              <a:defRPr sz="1050">
                <a:solidFill>
                  <a:srgbClr val="E6F8F0"/>
                </a:solidFill>
              </a:defRPr>
            </a:pPr>
            <a:r>
              <a:t>Local food kiosks and print shops pay ₱800/mo for featured promotion banners.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Premium Fast-Track Listings</a:t>
            </a:r>
          </a:p>
          <a:p>
            <a:pPr>
              <a:defRPr sz="1050">
                <a:solidFill>
                  <a:srgbClr val="E6F8F0"/>
                </a:solidFill>
              </a:defRPr>
            </a:pPr>
            <a:r>
              <a:t>₱25 micro-payments to highlight items at the top of course search feeds.</a:t>
            </a:r>
          </a:p>
        </p:txBody>
      </p:sp>
    </p:spTree>
  </p:cSld>
  <p:clrMapOvr>
    <a:masterClrMapping/>
  </p:clrMapOvr>
  <p:transition spd="med">
    <p:fade/>
  </p:transition>
</p:sld>
</file>

<file path=ppt/slides/slide7.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traction.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Traction &amp; Pilot Validation</a:t>
            </a:r>
          </a:p>
          <a:p>
            <a:pPr>
              <a:defRPr sz="1600">
                <a:solidFill>
                  <a:srgbClr val="34D399"/>
                </a:solidFill>
              </a:defRPr>
            </a:pPr>
            <a:r>
              <a:t>Tested with Over 1,200 Active Students at STI West Negros University</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8.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USER JOURNEY</a:t>
            </a:r>
          </a:p>
          <a:p>
            <a:pPr>
              <a:defRPr sz="2400" b="1">
                <a:solidFill>
                  <a:srgbClr val="FFFFFF"/>
                </a:solidFill>
              </a:defRPr>
            </a:pPr>
            <a:r>
              <a:t>Core Mobile App Experience</a:t>
            </a:r>
          </a:p>
        </p:txBody>
      </p:sp>
      <p:pic>
        <p:nvPicPr>
          <p:cNvPr id="4" name="!!Content_Image" descr="market_product.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Sub-Minute Listing Flow</a:t>
            </a:r>
          </a:p>
          <a:p>
            <a:pPr>
              <a:defRPr sz="1050">
                <a:solidFill>
                  <a:srgbClr val="E6F8F0"/>
                </a:solidFill>
              </a:defRPr>
            </a:pPr>
            <a:r>
              <a:t>Snap 3 photos, select course code, set price, and publish in under 45 seconds.</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Real-Time Campus Chat</a:t>
            </a:r>
          </a:p>
          <a:p>
            <a:pPr>
              <a:defRPr sz="1050">
                <a:solidFill>
                  <a:srgbClr val="E6F8F0"/>
                </a:solidFill>
              </a:defRPr>
            </a:pPr>
            <a:r>
              <a:t>End-to-end encrypted messaging with automated meetup scheduling at campus landmarks.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Reputation &amp; Review Badges</a:t>
            </a:r>
          </a:p>
          <a:p>
            <a:pPr>
              <a:defRPr sz="1050">
                <a:solidFill>
                  <a:srgbClr val="E6F8F0"/>
                </a:solidFill>
              </a:defRPr>
            </a:pPr>
            <a:r>
              <a:t>Verified peer review scores reward punctual sellers with high trust rankings.</a:t>
            </a:r>
          </a:p>
        </p:txBody>
      </p:sp>
    </p:spTree>
  </p:cSld>
  <p:clrMapOvr>
    <a:masterClrMapping/>
  </p:clrMapOvr>
  <p:transition spd="med">
    <p:fade/>
  </p:transition>
</p:sld>
</file>

<file path=ppt/slides/slide9.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STRATEGIC MILESTONES</a:t>
            </a:r>
          </a:p>
          <a:p>
            <a:pPr>
              <a:defRPr sz="2400" b="1">
                <a:solidFill>
                  <a:srgbClr val="FFFFFF"/>
                </a:solidFill>
              </a:defRPr>
            </a:pPr>
            <a:r>
              <a:t>12-Month Expansion Roadmap</a:t>
            </a:r>
          </a:p>
        </p:txBody>
      </p:sp>
      <p:sp>
        <p:nvSpPr>
          <p:cNvPr id="4" name="!!Card_1"/>
          <p:cNvSpPr/>
          <p:nvPr/>
        </p:nvSpPr>
        <p:spPr>
          <a:xfrm>
            <a:off x="7315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Q1: Negros Expansion</a:t>
            </a:r>
          </a:p>
          <a:p>
            <a:pPr>
              <a:defRPr sz="1100">
                <a:solidFill>
                  <a:srgbClr val="F0F0F0"/>
                </a:solidFill>
              </a:defRPr>
            </a:pPr>
            <a:r>
              <a:t>Expand to Bacolod City colleges (USLS, UNO-R, Riverside) reaching 15,000 active monthly transacting users.</a:t>
            </a:r>
          </a:p>
        </p:txBody>
      </p:sp>
      <p:sp>
        <p:nvSpPr>
          <p:cNvPr id="5" name="!!Card_2"/>
          <p:cNvSpPr/>
          <p:nvPr/>
        </p:nvSpPr>
        <p:spPr>
          <a:xfrm>
            <a:off x="43891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Q2: Western Visayas Hub</a:t>
            </a:r>
          </a:p>
          <a:p>
            <a:pPr>
              <a:defRPr sz="1100">
                <a:solidFill>
                  <a:srgbClr val="F0F0F0"/>
                </a:solidFill>
              </a:defRPr>
            </a:pPr>
            <a:r>
              <a:t>Rollout to Iloilo City campuses, establishing regional delivery logistics for inter-campus course gear.</a:t>
            </a:r>
          </a:p>
        </p:txBody>
      </p:sp>
      <p:sp>
        <p:nvSpPr>
          <p:cNvPr id="6" name="!!Card_3"/>
          <p:cNvSpPr/>
          <p:nvPr/>
        </p:nvSpPr>
        <p:spPr>
          <a:xfrm>
            <a:off x="80467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Q3: Nationwide STI Network</a:t>
            </a:r>
          </a:p>
          <a:p>
            <a:pPr>
              <a:defRPr sz="1100">
                <a:solidFill>
                  <a:srgbClr val="F0F0F0"/>
                </a:solidFill>
              </a:defRPr>
            </a:pPr>
            <a:r>
              <a:t>Full API deployment across all 60+ STI academic campuses in Luzon, Visayas, and Mindanao.</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10.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SEED ROUND</a:t>
            </a:r>
          </a:p>
          <a:p>
            <a:pPr>
              <a:defRPr sz="2400" b="1">
                <a:solidFill>
                  <a:srgbClr val="FFFFFF"/>
                </a:solidFill>
              </a:defRPr>
            </a:pPr>
            <a:r>
              <a:t>The Investment Opportunity</a:t>
            </a:r>
          </a:p>
        </p:txBody>
      </p:sp>
      <p:sp>
        <p:nvSpPr>
          <p:cNvPr id="4" name="!!Card_1"/>
          <p:cNvSpPr/>
          <p:nvPr/>
        </p:nvSpPr>
        <p:spPr>
          <a:xfrm>
            <a:off x="7315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₱2.5M Seed Ask</a:t>
            </a:r>
          </a:p>
          <a:p>
            <a:pPr>
              <a:defRPr sz="1100">
                <a:solidFill>
                  <a:srgbClr val="F0F0F0"/>
                </a:solidFill>
              </a:defRPr>
            </a:pPr>
            <a:r>
              <a:t>18-month runway to fund AWS cloud architecture, mobile iOS deployment, and student marketing ambassadors.</a:t>
            </a:r>
          </a:p>
        </p:txBody>
      </p:sp>
      <p:sp>
        <p:nvSpPr>
          <p:cNvPr id="5" name="!!Card_2"/>
          <p:cNvSpPr/>
          <p:nvPr/>
        </p:nvSpPr>
        <p:spPr>
          <a:xfrm>
            <a:off x="43891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Key Growth Targets</a:t>
            </a:r>
          </a:p>
          <a:p>
            <a:pPr>
              <a:defRPr sz="1100">
                <a:solidFill>
                  <a:srgbClr val="F0F0F0"/>
                </a:solidFill>
              </a:defRPr>
            </a:pPr>
            <a:r>
              <a:t>50,000 registered users, ₱25M annualized GMV, and break-even unit economics by Month 14.</a:t>
            </a:r>
          </a:p>
        </p:txBody>
      </p:sp>
      <p:sp>
        <p:nvSpPr>
          <p:cNvPr id="6" name="!!Card_3"/>
          <p:cNvSpPr/>
          <p:nvPr/>
        </p:nvSpPr>
        <p:spPr>
          <a:xfrm>
            <a:off x="80467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Founding Team Mastery</a:t>
            </a:r>
          </a:p>
          <a:p>
            <a:pPr>
              <a:defRPr sz="1100">
                <a:solidFill>
                  <a:srgbClr val="F0F0F0"/>
                </a:solidFill>
              </a:defRPr>
            </a:pPr>
            <a:r>
              <a:t>Built by passionate BSIT software engineers and student leaders deeply embedded in university culture.</a:t>
            </a:r>
          </a:p>
        </p:txBody>
      </p:sp>
    </p:spTree>
  </p:cSld>
  <p:clrMapOvr>
    <a:masterClrMapping/>
  </p:clrMapOvr>
  <p:transition spd="med">
    <p:fade/>
  </p:transition>
</p:sld>
</file>

<file path=ppt/slides/slide11.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closing.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3200" b="1">
                <a:solidFill>
                  <a:srgbClr val="FFFFFF"/>
                </a:solidFill>
              </a:defRPr>
            </a:pPr>
            <a:r>
              <a:t>Join the Campus Revolution</a:t>
            </a:r>
          </a:p>
          <a:p>
            <a:pPr>
              <a:defRPr sz="1400">
                <a:solidFill>
                  <a:srgbClr val="34D399"/>
                </a:solidFill>
              </a:defRPr>
            </a:pPr>
            <a:r>
              <a:t>Safe, Fast, and Trusted Collegiate Commerce for Every Student</a:t>
            </a:r>
          </a:p>
          <a:p>
            <a:br/>
            <a:pPr>
              <a:defRPr sz="1000">
                <a:solidFill>
                  <a:srgbClr val="96AABE"/>
                </a:solidFill>
              </a:defRPr>
            </a:pPr>
            <a:r>
              <a:t>Image &amp; Academic Credits:</a:t>
            </a:r>
            <a:br/>
            <a:r>
              <a:t>• Visual Assets: Custom 3D renders &amp; high-res vector graphics.</a:t>
            </a:r>
            <a:br/>
            <a:r>
              <a:t>• Research Citations: APA 7th academic standards.</a:t>
            </a:r>
            <a:br/>
            <a:r>
              <a:t>• STI West Negros University • BSIT Program 2026–2027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