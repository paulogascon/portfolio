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 class. Today we examine the core scientific and procedural foundations of Crime Scene Investigation. Our focus centers on evidence preservation, meticulous documentation, and courtroom admissibility.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 Dr. Locard established: 'Wherever he steps, whatever he touches, whatever he leaves, will serve as a silent witness against him.' Our sacred duty is to preserve those microscopic traces without contamination.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initial response dictates the ultimate success of prosecution. Securing the physical perimeter prevents contamination by curious bystanders, media, and unauthorized personnel.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Documentation must occur prior to disturbing a single artifact. If an item is moved before it is photographed with a scale, its legal probative weight in court is severely jeopardized.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Choosing the correct search pattern depends on the physical geography of the scene. A grid search provides the highest redundancy and minimizes the likelihood of overlooking minute trace fibers.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Biological evidence requires strict handling. Never seal wet bloodstains in plastic bags; moisture fosters mold growth that degrades DNA. All biological items must be air-dried and stored in paper containers.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 unbroken chain of custody is the absolute lifeblood of criminal prosecution. Any gap in the custody record can result in vital evidence being declared legally inadmissible.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individual who touches an item of evidence must sign the custody receipt. From the discovering patrolman to the forensic chemist, every transfer must be documented with absolute precision.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Defense attorneys vigorously attack gaps in the chain of custody. If the prosecution cannot prove where a knife was stored for 48 hours, the court may exclude it entirely.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conclusion, a forensic investigator is a seeker of truth. By combining scientific precision with ethical integrity, you ensure that the innocent are vindicated and the guilty held accountable.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 class. Methodical science protects the integrity of our judicial system. Review your procedural manuals for our upcoming laboratory practical on evidence collection.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!!Hero_Image" descr="csi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731520"/>
            <a:ext cx="5303520" cy="5394960"/>
          </a:xfrm>
          <a:prstGeom prst="rect">
            <a:avLst/>
          </a:prstGeom>
        </p:spPr>
      </p:pic>
      <p:sp>
        <p:nvSpPr>
          <p:cNvPr id="4" name="!!Title_Card"/>
          <p:cNvSpPr txBox="1"/>
          <p:nvPr/>
        </p:nvSpPr>
        <p:spPr>
          <a:xfrm>
            <a:off x="731520" y="146304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CRIMINOLOGY &amp; FORENSIC SCIENCE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t>Crime Scene Investigation</a:t>
            </a:r>
          </a:p>
          <a:p>
            <a:pPr>
              <a:defRPr sz="1500">
                <a:solidFill>
                  <a:srgbClr val="B4C8DC"/>
                </a:solidFill>
              </a:defRPr>
            </a:pPr>
            <a:r>
              <a:t>Forensic Methodology, Evidence Preservation, and Legal Chain of Custody</a:t>
            </a:r>
          </a:p>
          <a:p>
            <a:br/>
            <a:pPr>
              <a:defRPr sz="1100">
                <a:solidFill>
                  <a:srgbClr val="8CA0B4"/>
                </a:solidFill>
              </a:defRPr>
            </a:pPr>
            <a:r>
              <a:t>Presenter: Jhon Paulo Gascon • STI West Negros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FOUNDATIONAL LAW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Locard's Exchange Principle</a:t>
            </a:r>
          </a:p>
        </p:txBody>
      </p:sp>
      <p:pic>
        <p:nvPicPr>
          <p:cNvPr id="4" name="!!Content_Image" descr="csi_lo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029200" cy="4389120"/>
          </a:xfrm>
          <a:prstGeom prst="rect">
            <a:avLst/>
          </a:prstGeom>
        </p:spPr>
      </p:pic>
      <p:sp>
        <p:nvSpPr>
          <p:cNvPr id="5" name="!!Card_1"/>
          <p:cNvSpPr/>
          <p:nvPr/>
        </p:nvSpPr>
        <p:spPr>
          <a:xfrm>
            <a:off x="6126480" y="1645920"/>
            <a:ext cx="5303520" cy="1280160"/>
          </a:xfrm>
          <a:prstGeom prst="roundRect">
            <a:avLst/>
          </a:prstGeom>
          <a:solidFill>
            <a:srgbClr val="1C202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Every Contact Leaves a Trace</a:t>
            </a:r>
          </a:p>
          <a:p>
            <a:pPr>
              <a:defRPr sz="1050">
                <a:solidFill>
                  <a:srgbClr val="F0F0F0"/>
                </a:solidFill>
              </a:defRPr>
            </a:pPr>
            <a:r>
              <a:t>Pioneered by Dr. Edmond Locard: physical contact between two surfaces results in cross-transfer of physical evidence.</a:t>
            </a:r>
          </a:p>
        </p:txBody>
      </p:sp>
      <p:sp>
        <p:nvSpPr>
          <p:cNvPr id="6" name="!!Card_2"/>
          <p:cNvSpPr/>
          <p:nvPr/>
        </p:nvSpPr>
        <p:spPr>
          <a:xfrm>
            <a:off x="6126480" y="3108960"/>
            <a:ext cx="5303520" cy="1280160"/>
          </a:xfrm>
          <a:prstGeom prst="roundRect">
            <a:avLst/>
          </a:prstGeom>
          <a:solidFill>
            <a:srgbClr val="1C202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Mutual Material Transfer</a:t>
            </a:r>
          </a:p>
          <a:p>
            <a:pPr>
              <a:defRPr sz="1050">
                <a:solidFill>
                  <a:srgbClr val="F0F0F0"/>
                </a:solidFill>
              </a:defRPr>
            </a:pPr>
            <a:r>
              <a:t>The perpetrator leaves traces (fibers, DNA, toolmarks) while carrying away elements of the scene.</a:t>
            </a:r>
          </a:p>
        </p:txBody>
      </p:sp>
      <p:sp>
        <p:nvSpPr>
          <p:cNvPr id="7" name="!!Card_3"/>
          <p:cNvSpPr/>
          <p:nvPr/>
        </p:nvSpPr>
        <p:spPr>
          <a:xfrm>
            <a:off x="6126480" y="4572000"/>
            <a:ext cx="5303520" cy="1280160"/>
          </a:xfrm>
          <a:prstGeom prst="roundRect">
            <a:avLst/>
          </a:prstGeom>
          <a:solidFill>
            <a:srgbClr val="1C202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Scientific Infallibility</a:t>
            </a:r>
          </a:p>
          <a:p>
            <a:pPr>
              <a:defRPr sz="1050">
                <a:solidFill>
                  <a:srgbClr val="F0F0F0"/>
                </a:solidFill>
              </a:defRPr>
            </a:pPr>
            <a:r>
              <a:t>Physical evidence cannot commit perjury; it can only be misunderstood, contaminated, or improperly handled.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!!Hero_Image" descr="csi_cord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914400"/>
            <a:ext cx="5029200" cy="5029200"/>
          </a:xfrm>
          <a:prstGeom prst="rect">
            <a:avLst/>
          </a:prstGeom>
        </p:spPr>
      </p:pic>
      <p:sp>
        <p:nvSpPr>
          <p:cNvPr id="4" name="!!Title_Card"/>
          <p:cNvSpPr txBox="1"/>
          <p:nvPr/>
        </p:nvSpPr>
        <p:spPr>
          <a:xfrm>
            <a:off x="6217920" y="201168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Securing the Scene &amp; Perimeter</a:t>
            </a:r>
          </a:p>
          <a:p>
            <a:pPr>
              <a:defRPr sz="1600">
                <a:solidFill>
                  <a:srgbClr val="D97706"/>
                </a:solidFill>
              </a:defRPr>
            </a:pPr>
            <a:r>
              <a:t>Primary &amp; Secondary Barrier Protocols to Prevent Contamination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PROCEDURAL STANDARDS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Forensic Scene Documentation</a:t>
            </a:r>
          </a:p>
        </p:txBody>
      </p:sp>
      <p:pic>
        <p:nvPicPr>
          <p:cNvPr id="4" name="!!Content_Image" descr="csi_documen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029200" cy="4389120"/>
          </a:xfrm>
          <a:prstGeom prst="rect">
            <a:avLst/>
          </a:prstGeom>
        </p:spPr>
      </p:pic>
      <p:sp>
        <p:nvSpPr>
          <p:cNvPr id="5" name="!!Card_1"/>
          <p:cNvSpPr/>
          <p:nvPr/>
        </p:nvSpPr>
        <p:spPr>
          <a:xfrm>
            <a:off x="6126480" y="1645920"/>
            <a:ext cx="5303520" cy="1280160"/>
          </a:xfrm>
          <a:prstGeom prst="roundRect">
            <a:avLst/>
          </a:prstGeom>
          <a:solidFill>
            <a:srgbClr val="1C202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Panoramic to Macro Photography</a:t>
            </a:r>
          </a:p>
          <a:p>
            <a:pPr>
              <a:defRPr sz="1050">
                <a:solidFill>
                  <a:srgbClr val="F0F0F0"/>
                </a:solidFill>
              </a:defRPr>
            </a:pPr>
            <a:r>
              <a:t>Capture overall establishing shots, mid-range contextual photos, and close-up views with metric scale rulers.</a:t>
            </a:r>
          </a:p>
        </p:txBody>
      </p:sp>
      <p:sp>
        <p:nvSpPr>
          <p:cNvPr id="6" name="!!Card_2"/>
          <p:cNvSpPr/>
          <p:nvPr/>
        </p:nvSpPr>
        <p:spPr>
          <a:xfrm>
            <a:off x="6126480" y="3108960"/>
            <a:ext cx="5303520" cy="1280160"/>
          </a:xfrm>
          <a:prstGeom prst="roundRect">
            <a:avLst/>
          </a:prstGeom>
          <a:solidFill>
            <a:srgbClr val="1C202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Rough &amp; Final Sketches</a:t>
            </a:r>
          </a:p>
          <a:p>
            <a:pPr>
              <a:defRPr sz="1050">
                <a:solidFill>
                  <a:srgbClr val="F0F0F0"/>
                </a:solidFill>
              </a:defRPr>
            </a:pPr>
            <a:r>
              <a:t>Triangulation and baseline coordinate measurements linking key evidence to permanent architectural fixtures.</a:t>
            </a:r>
          </a:p>
        </p:txBody>
      </p:sp>
      <p:sp>
        <p:nvSpPr>
          <p:cNvPr id="7" name="!!Card_3"/>
          <p:cNvSpPr/>
          <p:nvPr/>
        </p:nvSpPr>
        <p:spPr>
          <a:xfrm>
            <a:off x="6126480" y="4572000"/>
            <a:ext cx="5303520" cy="1280160"/>
          </a:xfrm>
          <a:prstGeom prst="roundRect">
            <a:avLst/>
          </a:prstGeom>
          <a:solidFill>
            <a:srgbClr val="1C202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Audio &amp; Written Logs</a:t>
            </a:r>
          </a:p>
          <a:p>
            <a:pPr>
              <a:defRPr sz="1050">
                <a:solidFill>
                  <a:srgbClr val="F0F0F0"/>
                </a:solidFill>
              </a:defRPr>
            </a:pPr>
            <a:r>
              <a:t>Detailed contemporaneous notes documenting time of entry, atmospheric conditions, and initial witness observations.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SEARCH METHODOLOGY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Four Standard Search Patterns</a:t>
            </a:r>
          </a:p>
        </p:txBody>
      </p:sp>
      <p:sp>
        <p:nvSpPr>
          <p:cNvPr id="4" name="!!Card_1"/>
          <p:cNvSpPr/>
          <p:nvPr/>
        </p:nvSpPr>
        <p:spPr>
          <a:xfrm>
            <a:off x="731520" y="1645920"/>
            <a:ext cx="3291840" cy="4114800"/>
          </a:xfrm>
          <a:prstGeom prst="roundRect">
            <a:avLst/>
          </a:prstGeom>
          <a:solidFill>
            <a:srgbClr val="1C2026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D97706"/>
                </a:solidFill>
              </a:defRPr>
            </a:pPr>
            <a:r>
              <a:t>1. Strip / Line Search</a:t>
            </a:r>
          </a:p>
          <a:p>
            <a:pPr>
              <a:defRPr sz="1100">
                <a:solidFill>
                  <a:srgbClr val="F0F0F0"/>
                </a:solidFill>
              </a:defRPr>
            </a:pPr>
            <a:r>
              <a:t>Investigators walk parallel paths in a straight line; ideal for large open outdoor fields and expansive terrains.</a:t>
            </a:r>
          </a:p>
        </p:txBody>
      </p:sp>
      <p:sp>
        <p:nvSpPr>
          <p:cNvPr id="5" name="!!Card_2"/>
          <p:cNvSpPr/>
          <p:nvPr/>
        </p:nvSpPr>
        <p:spPr>
          <a:xfrm>
            <a:off x="4389120" y="1645920"/>
            <a:ext cx="3291840" cy="4114800"/>
          </a:xfrm>
          <a:prstGeom prst="roundRect">
            <a:avLst/>
          </a:prstGeom>
          <a:solidFill>
            <a:srgbClr val="1C2026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D97706"/>
                </a:solidFill>
              </a:defRPr>
            </a:pPr>
            <a:r>
              <a:t>2. Grid Search</a:t>
            </a:r>
          </a:p>
          <a:p>
            <a:pPr>
              <a:defRPr sz="1100">
                <a:solidFill>
                  <a:srgbClr val="F0F0F0"/>
                </a:solidFill>
              </a:defRPr>
            </a:pPr>
            <a:r>
              <a:t>Two perpendicular strip searches offering thorough dual-coverage across complex indoor or vegetative areas.</a:t>
            </a:r>
          </a:p>
        </p:txBody>
      </p:sp>
      <p:sp>
        <p:nvSpPr>
          <p:cNvPr id="6" name="!!Card_3"/>
          <p:cNvSpPr/>
          <p:nvPr/>
        </p:nvSpPr>
        <p:spPr>
          <a:xfrm>
            <a:off x="8046720" y="1645920"/>
            <a:ext cx="3291840" cy="4114800"/>
          </a:xfrm>
          <a:prstGeom prst="roundRect">
            <a:avLst/>
          </a:prstGeom>
          <a:solidFill>
            <a:srgbClr val="1C2026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D97706"/>
                </a:solidFill>
              </a:defRPr>
            </a:pPr>
            <a:r>
              <a:t>3. Spiral Search (Inward/Outward)</a:t>
            </a:r>
          </a:p>
          <a:p>
            <a:pPr>
              <a:defRPr sz="1100">
                <a:solidFill>
                  <a:srgbClr val="F0F0F0"/>
                </a:solidFill>
              </a:defRPr>
            </a:pPr>
            <a:r>
              <a:t>Path spirals toward or away from the central focus; effective in localized rooms with clear focal epicenters.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COLLECTION PROTOCOLS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Physical &amp; Biological Evidence</a:t>
            </a:r>
          </a:p>
        </p:txBody>
      </p:sp>
      <p:pic>
        <p:nvPicPr>
          <p:cNvPr id="4" name="!!Content_Image" descr="csi_ballis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029200" cy="4389120"/>
          </a:xfrm>
          <a:prstGeom prst="rect">
            <a:avLst/>
          </a:prstGeom>
        </p:spPr>
      </p:pic>
      <p:sp>
        <p:nvSpPr>
          <p:cNvPr id="5" name="!!Card_1"/>
          <p:cNvSpPr/>
          <p:nvPr/>
        </p:nvSpPr>
        <p:spPr>
          <a:xfrm>
            <a:off x="6126480" y="1645920"/>
            <a:ext cx="5303520" cy="1280160"/>
          </a:xfrm>
          <a:prstGeom prst="roundRect">
            <a:avLst/>
          </a:prstGeom>
          <a:solidFill>
            <a:srgbClr val="1C202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Biological Fluids (Blood/DNA)</a:t>
            </a:r>
          </a:p>
          <a:p>
            <a:pPr>
              <a:defRPr sz="1050">
                <a:solidFill>
                  <a:srgbClr val="F0F0F0"/>
                </a:solidFill>
              </a:defRPr>
            </a:pPr>
            <a:r>
              <a:t>Air-dried before packaging in breathable paper bags to prevent anaerobic fungal degradation.</a:t>
            </a:r>
          </a:p>
        </p:txBody>
      </p:sp>
      <p:sp>
        <p:nvSpPr>
          <p:cNvPr id="6" name="!!Card_2"/>
          <p:cNvSpPr/>
          <p:nvPr/>
        </p:nvSpPr>
        <p:spPr>
          <a:xfrm>
            <a:off x="6126480" y="3108960"/>
            <a:ext cx="5303520" cy="1280160"/>
          </a:xfrm>
          <a:prstGeom prst="roundRect">
            <a:avLst/>
          </a:prstGeom>
          <a:solidFill>
            <a:srgbClr val="1C202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Trace Evidence (Fibers/Paint)</a:t>
            </a:r>
          </a:p>
          <a:p>
            <a:pPr>
              <a:defRPr sz="1050">
                <a:solidFill>
                  <a:srgbClr val="F0F0F0"/>
                </a:solidFill>
              </a:defRPr>
            </a:pPr>
            <a:r>
              <a:t>Sealed in druggist folds and rigid containers to prevent cross-contamination.</a:t>
            </a:r>
          </a:p>
        </p:txBody>
      </p:sp>
      <p:sp>
        <p:nvSpPr>
          <p:cNvPr id="7" name="!!Card_3"/>
          <p:cNvSpPr/>
          <p:nvPr/>
        </p:nvSpPr>
        <p:spPr>
          <a:xfrm>
            <a:off x="6126480" y="4572000"/>
            <a:ext cx="5303520" cy="1280160"/>
          </a:xfrm>
          <a:prstGeom prst="roundRect">
            <a:avLst/>
          </a:prstGeom>
          <a:solidFill>
            <a:srgbClr val="1C202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Ballistics &amp; Firearms</a:t>
            </a:r>
          </a:p>
          <a:p>
            <a:pPr>
              <a:defRPr sz="1050">
                <a:solidFill>
                  <a:srgbClr val="F0F0F0"/>
                </a:solidFill>
              </a:defRPr>
            </a:pPr>
            <a:r>
              <a:t>Firearms unloaded with chamber cleared; bullets wrapped in cotton to protect rifling striations.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!!Hero_Image" descr="csi_ch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914400"/>
            <a:ext cx="5029200" cy="5029200"/>
          </a:xfrm>
          <a:prstGeom prst="rect">
            <a:avLst/>
          </a:prstGeom>
        </p:spPr>
      </p:pic>
      <p:sp>
        <p:nvSpPr>
          <p:cNvPr id="4" name="!!Title_Card"/>
          <p:cNvSpPr txBox="1"/>
          <p:nvPr/>
        </p:nvSpPr>
        <p:spPr>
          <a:xfrm>
            <a:off x="6217920" y="201168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Strict Chain of Custody</a:t>
            </a:r>
          </a:p>
          <a:p>
            <a:pPr>
              <a:defRPr sz="1600">
                <a:solidFill>
                  <a:srgbClr val="D97706"/>
                </a:solidFill>
              </a:defRPr>
            </a:pPr>
            <a:r>
              <a:t>Preserving Unbroken Accountability from Scene to Courtroom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CHAIN OF CUSTODY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Evidence Tagging &amp; Custody Records</a:t>
            </a:r>
          </a:p>
        </p:txBody>
      </p:sp>
      <p:pic>
        <p:nvPicPr>
          <p:cNvPr id="4" name="!!Content_Image" descr="csi_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029200" cy="4389120"/>
          </a:xfrm>
          <a:prstGeom prst="rect">
            <a:avLst/>
          </a:prstGeom>
        </p:spPr>
      </p:pic>
      <p:sp>
        <p:nvSpPr>
          <p:cNvPr id="5" name="!!Card_1"/>
          <p:cNvSpPr/>
          <p:nvPr/>
        </p:nvSpPr>
        <p:spPr>
          <a:xfrm>
            <a:off x="6126480" y="1645920"/>
            <a:ext cx="5303520" cy="1280160"/>
          </a:xfrm>
          <a:prstGeom prst="roundRect">
            <a:avLst/>
          </a:prstGeom>
          <a:solidFill>
            <a:srgbClr val="1C202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Tamper-Evident Evidence Seals</a:t>
            </a:r>
          </a:p>
          <a:p>
            <a:pPr>
              <a:defRPr sz="1050">
                <a:solidFill>
                  <a:srgbClr val="F0F0F0"/>
                </a:solidFill>
              </a:defRPr>
            </a:pPr>
            <a:r>
              <a:t>Custody labels signed across tape seams; any peel attempt creates visible voids.</a:t>
            </a:r>
          </a:p>
        </p:txBody>
      </p:sp>
      <p:sp>
        <p:nvSpPr>
          <p:cNvPr id="6" name="!!Card_2"/>
          <p:cNvSpPr/>
          <p:nvPr/>
        </p:nvSpPr>
        <p:spPr>
          <a:xfrm>
            <a:off x="6126480" y="3108960"/>
            <a:ext cx="5303520" cy="1280160"/>
          </a:xfrm>
          <a:prstGeom prst="roundRect">
            <a:avLst/>
          </a:prstGeom>
          <a:solidFill>
            <a:srgbClr val="1C202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Comprehensive Transfer Receipts</a:t>
            </a:r>
          </a:p>
          <a:p>
            <a:pPr>
              <a:defRPr sz="1050">
                <a:solidFill>
                  <a:srgbClr val="F0F0F0"/>
                </a:solidFill>
              </a:defRPr>
            </a:pPr>
            <a:r>
              <a:t>Exact log recording date, time, releasing officer, receiving technician, and specific analysis requested.</a:t>
            </a:r>
          </a:p>
        </p:txBody>
      </p:sp>
      <p:sp>
        <p:nvSpPr>
          <p:cNvPr id="7" name="!!Card_3"/>
          <p:cNvSpPr/>
          <p:nvPr/>
        </p:nvSpPr>
        <p:spPr>
          <a:xfrm>
            <a:off x="6126480" y="4572000"/>
            <a:ext cx="5303520" cy="1280160"/>
          </a:xfrm>
          <a:prstGeom prst="roundRect">
            <a:avLst/>
          </a:prstGeom>
          <a:solidFill>
            <a:srgbClr val="1C202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Secure Evidence Locker Vaults</a:t>
            </a:r>
          </a:p>
          <a:p>
            <a:pPr>
              <a:defRPr sz="1050">
                <a:solidFill>
                  <a:srgbClr val="F0F0F0"/>
                </a:solidFill>
              </a:defRPr>
            </a:pPr>
            <a:r>
              <a:t>Climate-controlled, biometric-logged storage preventing unauthorized access or spoliation.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JUDICIAL SCRUTINY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Three Grounds for Evidence Inadmissibility</a:t>
            </a:r>
          </a:p>
        </p:txBody>
      </p:sp>
      <p:sp>
        <p:nvSpPr>
          <p:cNvPr id="4" name="!!Card_1"/>
          <p:cNvSpPr/>
          <p:nvPr/>
        </p:nvSpPr>
        <p:spPr>
          <a:xfrm>
            <a:off x="731520" y="1645920"/>
            <a:ext cx="3291840" cy="4114800"/>
          </a:xfrm>
          <a:prstGeom prst="roundRect">
            <a:avLst/>
          </a:prstGeom>
          <a:solidFill>
            <a:srgbClr val="1C2026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D97706"/>
                </a:solidFill>
              </a:defRPr>
            </a:pPr>
            <a:r>
              <a:t>1. Unlawful Search (Warrantless)</a:t>
            </a:r>
          </a:p>
          <a:p>
            <a:pPr>
              <a:defRPr sz="1100">
                <a:solidFill>
                  <a:srgbClr val="F0F0F0"/>
                </a:solidFill>
              </a:defRPr>
            </a:pPr>
            <a:r>
              <a:t>Evidence obtained in violation of Sec. 2, Art. III of the 1987 Constitution falls under the Exclusionary Rule.</a:t>
            </a:r>
          </a:p>
        </p:txBody>
      </p:sp>
      <p:sp>
        <p:nvSpPr>
          <p:cNvPr id="5" name="!!Card_2"/>
          <p:cNvSpPr/>
          <p:nvPr/>
        </p:nvSpPr>
        <p:spPr>
          <a:xfrm>
            <a:off x="4389120" y="1645920"/>
            <a:ext cx="3291840" cy="4114800"/>
          </a:xfrm>
          <a:prstGeom prst="roundRect">
            <a:avLst/>
          </a:prstGeom>
          <a:solidFill>
            <a:srgbClr val="1C2026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D97706"/>
                </a:solidFill>
              </a:defRPr>
            </a:pPr>
            <a:r>
              <a:t>2. Contamination / Spoliation</a:t>
            </a:r>
          </a:p>
          <a:p>
            <a:pPr>
              <a:defRPr sz="1100">
                <a:solidFill>
                  <a:srgbClr val="F0F0F0"/>
                </a:solidFill>
              </a:defRPr>
            </a:pPr>
            <a:r>
              <a:t>Failure to wear protective PPE resulting in investigator DNA being introduced into biological samples.</a:t>
            </a:r>
          </a:p>
        </p:txBody>
      </p:sp>
      <p:sp>
        <p:nvSpPr>
          <p:cNvPr id="6" name="!!Card_3"/>
          <p:cNvSpPr/>
          <p:nvPr/>
        </p:nvSpPr>
        <p:spPr>
          <a:xfrm>
            <a:off x="8046720" y="1645920"/>
            <a:ext cx="3291840" cy="4114800"/>
          </a:xfrm>
          <a:prstGeom prst="roundRect">
            <a:avLst/>
          </a:prstGeom>
          <a:solidFill>
            <a:srgbClr val="1C2026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D97706"/>
                </a:solidFill>
              </a:defRPr>
            </a:pPr>
            <a:r>
              <a:t>3. Broken Chain of Custody</a:t>
            </a:r>
          </a:p>
          <a:p>
            <a:pPr>
              <a:defRPr sz="1100">
                <a:solidFill>
                  <a:srgbClr val="F0F0F0"/>
                </a:solidFill>
              </a:defRPr>
            </a:pPr>
            <a:r>
              <a:t>Inability to account for custody during transfer intervals creates reasonable doubt regarding tampering.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PROFESSIONAL PRINCIPLES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Essential Takeaways for Forensic Students</a:t>
            </a:r>
          </a:p>
        </p:txBody>
      </p:sp>
      <p:sp>
        <p:nvSpPr>
          <p:cNvPr id="4" name="!!Card_1"/>
          <p:cNvSpPr/>
          <p:nvPr/>
        </p:nvSpPr>
        <p:spPr>
          <a:xfrm>
            <a:off x="731520" y="1645920"/>
            <a:ext cx="3291840" cy="4114800"/>
          </a:xfrm>
          <a:prstGeom prst="roundRect">
            <a:avLst/>
          </a:prstGeom>
          <a:solidFill>
            <a:srgbClr val="1C2026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D97706"/>
                </a:solidFill>
              </a:defRPr>
            </a:pPr>
            <a:r>
              <a:t>Scientific Objectivity</a:t>
            </a:r>
          </a:p>
          <a:p>
            <a:pPr>
              <a:defRPr sz="1100">
                <a:solidFill>
                  <a:srgbClr val="F0F0F0"/>
                </a:solidFill>
              </a:defRPr>
            </a:pPr>
            <a:r>
              <a:t>Investigators gather objective facts without bias, regardless of public pressure or premature suspect theories.</a:t>
            </a:r>
          </a:p>
        </p:txBody>
      </p:sp>
      <p:sp>
        <p:nvSpPr>
          <p:cNvPr id="5" name="!!Card_2"/>
          <p:cNvSpPr/>
          <p:nvPr/>
        </p:nvSpPr>
        <p:spPr>
          <a:xfrm>
            <a:off x="4389120" y="1645920"/>
            <a:ext cx="3291840" cy="4114800"/>
          </a:xfrm>
          <a:prstGeom prst="roundRect">
            <a:avLst/>
          </a:prstGeom>
          <a:solidFill>
            <a:srgbClr val="1C2026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D97706"/>
                </a:solidFill>
              </a:defRPr>
            </a:pPr>
            <a:r>
              <a:t>Meticulous Precision</a:t>
            </a:r>
          </a:p>
          <a:p>
            <a:pPr>
              <a:defRPr sz="1100">
                <a:solidFill>
                  <a:srgbClr val="F0F0F0"/>
                </a:solidFill>
              </a:defRPr>
            </a:pPr>
            <a:r>
              <a:t>Treat every millimeter of a crime scene as vital historical testimony waiting to be interpreted.</a:t>
            </a:r>
          </a:p>
        </p:txBody>
      </p:sp>
      <p:sp>
        <p:nvSpPr>
          <p:cNvPr id="6" name="!!Card_3"/>
          <p:cNvSpPr/>
          <p:nvPr/>
        </p:nvSpPr>
        <p:spPr>
          <a:xfrm>
            <a:off x="8046720" y="1645920"/>
            <a:ext cx="3291840" cy="4114800"/>
          </a:xfrm>
          <a:prstGeom prst="roundRect">
            <a:avLst/>
          </a:prstGeom>
          <a:solidFill>
            <a:srgbClr val="1C2026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D97706"/>
                </a:solidFill>
              </a:defRPr>
            </a:pPr>
            <a:r>
              <a:t>Ethical Integrity</a:t>
            </a:r>
          </a:p>
          <a:p>
            <a:pPr>
              <a:defRPr sz="1100">
                <a:solidFill>
                  <a:srgbClr val="F0F0F0"/>
                </a:solidFill>
              </a:defRPr>
            </a:pPr>
            <a:r>
              <a:t>The pursuit of justice requires uncompromising adherence to statutory law, human rights, and forensic rigor.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!!Hero_Image" descr="csi_clos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731520"/>
            <a:ext cx="5303520" cy="5394960"/>
          </a:xfrm>
          <a:prstGeom prst="rect">
            <a:avLst/>
          </a:prstGeom>
        </p:spPr>
      </p:pic>
      <p:sp>
        <p:nvSpPr>
          <p:cNvPr id="4" name="!!Title_Card"/>
          <p:cNvSpPr txBox="1"/>
          <p:nvPr/>
        </p:nvSpPr>
        <p:spPr>
          <a:xfrm>
            <a:off x="731520" y="146304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Forensic Excellence in the Pursuit of Justice</a:t>
            </a:r>
          </a:p>
          <a:p>
            <a:pPr>
              <a:defRPr sz="1400">
                <a:solidFill>
                  <a:srgbClr val="D97706"/>
                </a:solidFill>
              </a:defRPr>
            </a:pPr>
            <a:r>
              <a:t>Where Science Meets the Law to Protect Human Rights</a:t>
            </a:r>
          </a:p>
          <a:p>
            <a:br/>
            <a:pPr>
              <a:defRPr sz="1000">
                <a:solidFill>
                  <a:srgbClr val="96AABE"/>
                </a:solidFill>
              </a:defRPr>
            </a:pPr>
            <a:r>
              <a:t>Image &amp; Academic Credits:</a:t>
            </a:r>
            <a:br/>
            <a:r>
              <a:t>• Visual Assets: Custom 3D renders &amp; high-res vector graphics.</a:t>
            </a:r>
            <a:br/>
            <a:r>
              <a:t>• Research Citations: APA 7th academic standards.</a:t>
            </a:r>
            <a:br/>
            <a:r>
              <a:t>• STI West Negros University • BSIT Program 2026–2027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