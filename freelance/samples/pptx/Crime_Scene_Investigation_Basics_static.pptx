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98b7e78-677b-c14c-448f-f1971a85598a}">
          <p14:sldIdLst>
            <p14:sldId id="256"/>
          </p14:sldIdLst>
        </p14:section>
        <p14:section name="Main Content" id="{4282c919-7f47-f650-4e0a-8c1e2a7b3689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Closing" id="{d9bad6ae-5ef9-6ceb-a248-cc52663d4166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 class. Today we examine the core scientific and procedural foundations of Crime Scene Investigation. Our focus centers on evidence preservation, meticulous documentation, and courtroom admissibility.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Dr. Locard established: 'Wherever he steps, whatever he touches, whatever he leaves, will serve as a silent witness against him.' Our sacred duty is to preserve those microscopic traces without contamination.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initial response dictates the ultimate success of prosecution. Securing the physical perimeter prevents contamination by curious bystanders, media, and unauthorized personnel.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Documentation must occur prior to disturbing a single artifact. If an item is moved before it is photographed with a scale, its legal probative weight in court is severely jeopardized.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Choosing the correct search pattern depends on the physical geography of the scene. A grid search provides the highest redundancy and minimizes the likelihood of overlooking minute trace fibers.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Biological evidence requires strict handling. Never seal wet bloodstains in plastic bags; moisture fosters mold growth that degrades DNA. All biological items must be air-dried and stored in paper containers.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unbroken chain of custody is the absolute lifeblood of criminal prosecution. Any gap in the custody record can result in vital evidence being declared legally inadmissible.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individual who touches an item of evidence must sign the custody receipt. From the discovering patrolman to the forensic chemist, every transfer must be documented with absolute precision.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Defense attorneys vigorously attack gaps in the chain of custody. If the prosecution cannot prove where a knife was stored for 48 hours, the court may exclude it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conclusion, a forensic investigator is a seeker of truth. By combining scientific precision with ethical integrity, you ensure that the innocent are vindicated and the guilty held accountable.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class. Methodical science protects the integrity of our judicial system. Review your procedural manuals for our upcoming laboratory practical on evidence collection.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lustration for Crime Scene Investig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731520"/>
            <a:ext cx="5303520" cy="5394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822960"/>
            <a:ext cx="53949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spc="300" kern="0" dirty="0">
                <a:solidFill>
                  <a:srgbClr val="F2C200"/>
                </a:solidFill>
              </a:rPr>
              <a:t>CRIMINOLOGY &amp; FORENSIC SCIENCE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Crime Scene Investigation</a:t>
            </a:r>
            <a:endParaRPr lang="en-US" sz="14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DCE3EC"/>
                </a:solidFill>
              </a:rPr>
              <a:t>Forensic Methodology, Evidence Preservation, and Legal Chain of Custody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2C200"/>
                </a:solidFill>
              </a:rPr>
              <a:t>Presenter: Jhon Paulo Gascon • STI West Negros University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300" kern="0" dirty="0">
                <a:solidFill>
                  <a:srgbClr val="C0392B"/>
                </a:solidFill>
              </a:rPr>
              <a:t>FOUNDATIONAL LAW</a:t>
            </a:r>
            <a:endParaRPr lang="en-US" sz="12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A2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Locard's Exchange Principle</a:t>
            </a:r>
            <a:endParaRPr lang="en-US" sz="1200" dirty="0"/>
          </a:p>
        </p:txBody>
      </p:sp>
      <p:pic>
        <p:nvPicPr>
          <p:cNvPr id="3" name="Image 0" descr="Illustration for Locard's Exchange Princi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37360"/>
            <a:ext cx="448056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577840" y="173736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057400"/>
            <a:ext cx="731520" cy="7315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766560" y="18288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C0392B"/>
                </a:solidFill>
              </a:rPr>
              <a:t>Every Contact Leaves a Trace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A2028"/>
                </a:solidFill>
              </a:rPr>
              <a:t>Pioneered by Dr. Edmond Locard: physical contact between two surfaces results in cross-transfer of physical evidence.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5577840" y="329184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3611880"/>
            <a:ext cx="731520" cy="7315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766560" y="3383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C0392B"/>
                </a:solidFill>
              </a:rPr>
              <a:t>Mutual Material Transfer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A2028"/>
                </a:solidFill>
              </a:rPr>
              <a:t>The perpetrator leaves traces (fibers, DNA, toolmarks) while carrying away elements of the scene.</a:t>
            </a:r>
            <a:endParaRPr lang="en-US" sz="1800" dirty="0"/>
          </a:p>
        </p:txBody>
      </p:sp>
      <p:sp>
        <p:nvSpPr>
          <p:cNvPr id="10" name="Shape 5"/>
          <p:cNvSpPr/>
          <p:nvPr/>
        </p:nvSpPr>
        <p:spPr>
          <a:xfrm>
            <a:off x="5577840" y="484632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5166360"/>
            <a:ext cx="731520" cy="7315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6766560" y="493776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C0392B"/>
                </a:solidFill>
              </a:rPr>
              <a:t>Scientific Infallibility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A2028"/>
                </a:solidFill>
              </a:rPr>
              <a:t>Physical evidence cannot commit perjury; it can only be misunderstood, contaminated, or improperly handled.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lustration for Securing the Scene &amp; Perime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6012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0" y="822960"/>
            <a:ext cx="53949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Securing the Scene &amp; Perimeter</a:t>
            </a:r>
            <a:endParaRPr lang="en-US" sz="3800" dirty="0"/>
          </a:p>
          <a:p>
            <a:pPr indent="0" marL="0">
              <a:buNone/>
            </a:pPr>
            <a:r>
              <a:rPr lang="en-US" sz="2000" dirty="0">
                <a:solidFill>
                  <a:srgbClr val="F2C200"/>
                </a:solidFill>
              </a:rPr>
              <a:t>Primary &amp; Secondary Barrier Protocols to Prevent Contamination</a:t>
            </a:r>
            <a:endParaRPr lang="en-US" sz="3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300" kern="0" dirty="0">
                <a:solidFill>
                  <a:srgbClr val="C0392B"/>
                </a:solidFill>
              </a:rPr>
              <a:t>PROCEDURAL STANDARDS</a:t>
            </a:r>
            <a:endParaRPr lang="en-US" sz="12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A2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Forensic Scene Documentation</a:t>
            </a:r>
            <a:endParaRPr lang="en-US" sz="1200" dirty="0"/>
          </a:p>
        </p:txBody>
      </p:sp>
      <p:pic>
        <p:nvPicPr>
          <p:cNvPr id="3" name="Image 0" descr="Illustration for Forensic Scene Document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37360"/>
            <a:ext cx="448056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577840" y="173736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057400"/>
            <a:ext cx="731520" cy="7315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766560" y="18288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C0392B"/>
                </a:solidFill>
              </a:rPr>
              <a:t>Panoramic to Macro Photography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A2028"/>
                </a:solidFill>
              </a:rPr>
              <a:t>Capture overall establishing shots, mid-range contextual photos, and close-up views with metric scale rulers.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5577840" y="329184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3611880"/>
            <a:ext cx="731520" cy="7315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766560" y="3383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C0392B"/>
                </a:solidFill>
              </a:rPr>
              <a:t>Rough &amp; Final Sketches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A2028"/>
                </a:solidFill>
              </a:rPr>
              <a:t>Triangulation and baseline coordinate measurements linking key evidence to permanent architectural fixtures.</a:t>
            </a:r>
            <a:endParaRPr lang="en-US" sz="1800" dirty="0"/>
          </a:p>
        </p:txBody>
      </p:sp>
      <p:sp>
        <p:nvSpPr>
          <p:cNvPr id="10" name="Shape 5"/>
          <p:cNvSpPr/>
          <p:nvPr/>
        </p:nvSpPr>
        <p:spPr>
          <a:xfrm>
            <a:off x="5577840" y="484632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5166360"/>
            <a:ext cx="731520" cy="7315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6766560" y="493776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C0392B"/>
                </a:solidFill>
              </a:rPr>
              <a:t>Audio &amp; Written Logs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A2028"/>
                </a:solidFill>
              </a:rPr>
              <a:t>Detailed contemporaneous notes documenting time of entry, atmospheric conditions, and initial witness observations.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300" kern="0" dirty="0">
                <a:solidFill>
                  <a:srgbClr val="C0392B"/>
                </a:solidFill>
              </a:rPr>
              <a:t>SEARCH METHODOLOGY</a:t>
            </a:r>
            <a:endParaRPr lang="en-US" sz="12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A2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Standard Search Patterns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3520440" cy="4023360"/>
          </a:xfrm>
          <a:prstGeom prst="roundRect">
            <a:avLst>
              <a:gd name="adj" fmla="val 3896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0116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</a:rPr>
              <a:t>1. Strip / Line Search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37947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2028"/>
                </a:solidFill>
              </a:rPr>
              <a:t>Investigators walk parallel paths in a straight line; ideal for large open outdoor fields and expansive terrains.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416552" y="1737360"/>
            <a:ext cx="3520440" cy="4023360"/>
          </a:xfrm>
          <a:prstGeom prst="roundRect">
            <a:avLst>
              <a:gd name="adj" fmla="val 3896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011680"/>
            <a:ext cx="822960" cy="8229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736592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</a:rPr>
              <a:t>2. Grid Search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4736592" y="37947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2028"/>
                </a:solidFill>
              </a:rPr>
              <a:t>Two perpendicular strip searches offering thorough dual-coverage across complex indoor or vegetative areas.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101584" y="1737360"/>
            <a:ext cx="3520440" cy="4023360"/>
          </a:xfrm>
          <a:prstGeom prst="roundRect">
            <a:avLst>
              <a:gd name="adj" fmla="val 3896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01168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21624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</a:rPr>
              <a:t>3. Spiral Search (Inward/Outward)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8421624" y="37947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2028"/>
                </a:solidFill>
              </a:rPr>
              <a:t>Path spirals toward or away from the central focus; effective in localized rooms with clear focal epicenters.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300" kern="0" dirty="0">
                <a:solidFill>
                  <a:srgbClr val="C0392B"/>
                </a:solidFill>
              </a:rPr>
              <a:t>COLLECTION PROTOCOLS</a:t>
            </a:r>
            <a:endParaRPr lang="en-US" sz="12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A2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Physical &amp; Biological Evidence</a:t>
            </a:r>
            <a:endParaRPr lang="en-US" sz="1200" dirty="0"/>
          </a:p>
        </p:txBody>
      </p:sp>
      <p:pic>
        <p:nvPicPr>
          <p:cNvPr id="3" name="Image 0" descr="Illustration for Physical &amp; Biological Evid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37360"/>
            <a:ext cx="448056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577840" y="173736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057400"/>
            <a:ext cx="731520" cy="7315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766560" y="18288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C0392B"/>
                </a:solidFill>
              </a:rPr>
              <a:t>Biological Fluids (Blood/DNA)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A2028"/>
                </a:solidFill>
              </a:rPr>
              <a:t>Air-dried before packaging in breathable paper bags to prevent anaerobic fungal degradation.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5577840" y="329184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3611880"/>
            <a:ext cx="731520" cy="7315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766560" y="3383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C0392B"/>
                </a:solidFill>
              </a:rPr>
              <a:t>Trace Evidence (Fibers/Paint)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A2028"/>
                </a:solidFill>
              </a:rPr>
              <a:t>Sealed in druggist folds and rigid containers to prevent cross-contamination.</a:t>
            </a:r>
            <a:endParaRPr lang="en-US" sz="1800" dirty="0"/>
          </a:p>
        </p:txBody>
      </p:sp>
      <p:sp>
        <p:nvSpPr>
          <p:cNvPr id="10" name="Shape 5"/>
          <p:cNvSpPr/>
          <p:nvPr/>
        </p:nvSpPr>
        <p:spPr>
          <a:xfrm>
            <a:off x="5577840" y="484632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5166360"/>
            <a:ext cx="731520" cy="7315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6766560" y="493776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C0392B"/>
                </a:solidFill>
              </a:rPr>
              <a:t>Ballistics &amp; Firearms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A2028"/>
                </a:solidFill>
              </a:rPr>
              <a:t>Firearms unloaded with chamber cleared; bullets wrapped in cotton to protect rifling striations.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lustration for Strict Chain of Custo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96012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822960"/>
            <a:ext cx="53949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Strict Chain of Custody</a:t>
            </a:r>
            <a:endParaRPr lang="en-US" sz="3800" dirty="0"/>
          </a:p>
          <a:p>
            <a:pPr indent="0" marL="0">
              <a:buNone/>
            </a:pPr>
            <a:r>
              <a:rPr lang="en-US" sz="2000" dirty="0">
                <a:solidFill>
                  <a:srgbClr val="F2C200"/>
                </a:solidFill>
              </a:rPr>
              <a:t>Preserving Unbroken Accountability from Scene to Courtroom</a:t>
            </a:r>
            <a:endParaRPr lang="en-US" sz="3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300" kern="0" dirty="0">
                <a:solidFill>
                  <a:srgbClr val="C0392B"/>
                </a:solidFill>
              </a:rPr>
              <a:t>CHAIN OF CUSTODY</a:t>
            </a:r>
            <a:endParaRPr lang="en-US" sz="12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A2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Tagging &amp; Custody Records</a:t>
            </a:r>
            <a:endParaRPr lang="en-US" sz="1200" dirty="0"/>
          </a:p>
        </p:txBody>
      </p:sp>
      <p:pic>
        <p:nvPicPr>
          <p:cNvPr id="3" name="Image 0" descr="Illustration for Evidence Tagging &amp; Custody Reco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37360"/>
            <a:ext cx="448056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577840" y="173736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057400"/>
            <a:ext cx="731520" cy="7315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766560" y="18288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C0392B"/>
                </a:solidFill>
              </a:rPr>
              <a:t>Tamper-Evident Evidence Seals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A2028"/>
                </a:solidFill>
              </a:rPr>
              <a:t>Custody labels signed across tape seams; any peel attempt creates visible voids.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5577840" y="329184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3611880"/>
            <a:ext cx="731520" cy="7315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766560" y="3383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C0392B"/>
                </a:solidFill>
              </a:rPr>
              <a:t>Comprehensive Transfer Receipts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A2028"/>
                </a:solidFill>
              </a:rPr>
              <a:t>Exact log recording date, time, releasing officer, receiving technician, and specific analysis requested.</a:t>
            </a:r>
            <a:endParaRPr lang="en-US" sz="1800" dirty="0"/>
          </a:p>
        </p:txBody>
      </p:sp>
      <p:sp>
        <p:nvSpPr>
          <p:cNvPr id="10" name="Shape 5"/>
          <p:cNvSpPr/>
          <p:nvPr/>
        </p:nvSpPr>
        <p:spPr>
          <a:xfrm>
            <a:off x="5577840" y="484632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5166360"/>
            <a:ext cx="731520" cy="7315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6766560" y="493776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C0392B"/>
                </a:solidFill>
              </a:rPr>
              <a:t>Secure Evidence Locker Vaults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A2028"/>
                </a:solidFill>
              </a:rPr>
              <a:t>Climate-controlled, biometric-logged storage preventing unauthorized access or spoliation.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300" kern="0" dirty="0">
                <a:solidFill>
                  <a:srgbClr val="C0392B"/>
                </a:solidFill>
              </a:rPr>
              <a:t>JUDICIAL SCRUTINY</a:t>
            </a:r>
            <a:endParaRPr lang="en-US" sz="12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A2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Grounds for Evidence Inadmissibility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3520440" cy="4023360"/>
          </a:xfrm>
          <a:prstGeom prst="roundRect">
            <a:avLst>
              <a:gd name="adj" fmla="val 3896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0116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</a:rPr>
              <a:t>1. Unlawful Search (Warrantless)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37947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2028"/>
                </a:solidFill>
              </a:rPr>
              <a:t>Evidence obtained in violation of Sec. 2, Art. III of the 1987 Constitution falls under the Exclusionary Rule.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416552" y="1737360"/>
            <a:ext cx="3520440" cy="4023360"/>
          </a:xfrm>
          <a:prstGeom prst="roundRect">
            <a:avLst>
              <a:gd name="adj" fmla="val 3896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011680"/>
            <a:ext cx="822960" cy="8229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736592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</a:rPr>
              <a:t>2. Contamination / Spoliation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4736592" y="37947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2028"/>
                </a:solidFill>
              </a:rPr>
              <a:t>Failure to wear protective PPE resulting in investigator DNA being introduced into biological samples.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101584" y="1737360"/>
            <a:ext cx="3520440" cy="4023360"/>
          </a:xfrm>
          <a:prstGeom prst="roundRect">
            <a:avLst>
              <a:gd name="adj" fmla="val 3896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01168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21624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</a:rPr>
              <a:t>3. Broken Chain of Custody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8421624" y="37947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2028"/>
                </a:solidFill>
              </a:rPr>
              <a:t>Inability to account for custody during transfer intervals creates reasonable doubt regarding tampering.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300" kern="0" dirty="0">
                <a:solidFill>
                  <a:srgbClr val="C0392B"/>
                </a:solidFill>
              </a:rPr>
              <a:t>PROFESSIONAL PRINCIPLES</a:t>
            </a:r>
            <a:endParaRPr lang="en-US" sz="12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A20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 Takeaways for Forensic Students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3520440" cy="4023360"/>
          </a:xfrm>
          <a:prstGeom prst="roundRect">
            <a:avLst>
              <a:gd name="adj" fmla="val 3896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0116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</a:rPr>
              <a:t>Scientific Objectivity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37947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2028"/>
                </a:solidFill>
              </a:rPr>
              <a:t>Investigators gather objective facts without bias, regardless of public pressure or premature suspect theories.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416552" y="1737360"/>
            <a:ext cx="3520440" cy="4023360"/>
          </a:xfrm>
          <a:prstGeom prst="roundRect">
            <a:avLst>
              <a:gd name="adj" fmla="val 3896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011680"/>
            <a:ext cx="822960" cy="8229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736592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</a:rPr>
              <a:t>Meticulous Precision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4736592" y="37947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2028"/>
                </a:solidFill>
              </a:rPr>
              <a:t>Treat every millimeter of a crime scene as vital historical testimony waiting to be interpreted.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101584" y="1737360"/>
            <a:ext cx="3520440" cy="4023360"/>
          </a:xfrm>
          <a:prstGeom prst="roundRect">
            <a:avLst>
              <a:gd name="adj" fmla="val 3896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01168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21624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</a:rPr>
              <a:t>Ethical Integrity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8421624" y="37947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2028"/>
                </a:solidFill>
              </a:rPr>
              <a:t>The pursuit of justice requires uncompromising adherence to statutory law, human rights, and forensic rigor.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lustration for Forensic Excellence in the Pursuit of Just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731520"/>
            <a:ext cx="5303520" cy="5394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822960"/>
            <a:ext cx="53949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Forensic Excellence in the Pursuit of Justice</a:t>
            </a:r>
            <a:endParaRPr lang="en-US" sz="38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000" dirty="0">
                <a:solidFill>
                  <a:srgbClr val="F2C200"/>
                </a:solidFill>
              </a:rPr>
              <a:t>Where Science Meets the Law to Protect Human Rights</a:t>
            </a:r>
            <a:endParaRPr lang="en-US" sz="3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CE3EC"/>
                </a:solidFill>
              </a:rPr>
              <a:t>Image &amp; Academic Credits:</a:t>
            </a:r>
            <a:endParaRPr lang="en-US" sz="3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DCE3EC"/>
                </a:solidFill>
              </a:rPr>
              <a:t>Visual Assets: Custom 3D renders &amp; high-res vector graphics.</a:t>
            </a:r>
            <a:endParaRPr lang="en-US" sz="3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DCE3EC"/>
                </a:solidFill>
              </a:rPr>
              <a:t>Research Citations: APA 7th academic standards.</a:t>
            </a:r>
            <a:endParaRPr lang="en-US" sz="3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DCE3EC"/>
                </a:solidFill>
              </a:rPr>
              <a:t>STI West Negros University • BSIT Program 2026–2027</a:t>
            </a:r>
            <a:endParaRPr lang="en-US" sz="3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ime Scene Investigation Basics">
  <a:themeElements>
    <a:clrScheme name="Crime Scene Investigation Basics">
      <a:dk1>
        <a:srgbClr val="1A2028"/>
      </a:dk1>
      <a:lt1>
        <a:srgbClr val="FFFFFF"/>
      </a:lt1>
      <a:dk2>
        <a:srgbClr val="12171D"/>
      </a:dk2>
      <a:lt2>
        <a:srgbClr val="F4F5F7"/>
      </a:lt2>
      <a:accent1>
        <a:srgbClr val="C0392B"/>
      </a:accent1>
      <a:accent2>
        <a:srgbClr val="F2C200"/>
      </a:accent2>
      <a:accent3>
        <a:srgbClr val="2E3A48"/>
      </a:accent3>
      <a:accent4>
        <a:srgbClr val="1A2028"/>
      </a:accent4>
      <a:accent5>
        <a:srgbClr val="C0392B"/>
      </a:accent5>
      <a:accent6>
        <a:srgbClr val="F2C200"/>
      </a:accent6>
      <a:hlink>
        <a:srgbClr val="C0392B"/>
      </a:hlink>
      <a:folHlink>
        <a:srgbClr val="2E3A48"/>
      </a:folHlink>
    </a:clrScheme>
    <a:fontScheme name="Crime Scene Investigation Basic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Jhon Paulo Gascon</dc:creator>
  <cp:lastModifiedBy>Jhon Paulo Gascon</cp:lastModifiedBy>
  <cp:revision>1</cp:revision>
  <dcterms:created xsi:type="dcterms:W3CDTF">2026-10-24T14:40:52Z</dcterms:created>
  <dcterms:modified xsi:type="dcterms:W3CDTF">2026-10-24T14:40:52Z</dcterms:modified>
</cp:coreProperties>
</file>