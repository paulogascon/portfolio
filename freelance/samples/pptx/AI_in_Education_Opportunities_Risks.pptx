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panel and fellow students. Today we explore generative AI in higher education.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presentation agenda covering history, productivity, risks, and campus guidelines.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core thesis is that AI empowers disciplined minds but cannot replace human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explore how rapid technological shifts have restructured university classrooms.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empirical metrics demonstrate how pervasive AI tools have become across college departments.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pillars highlight where AI provides immense value in technical education.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contrast responsible cognitive augmentation against intellectual surrender.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 focuses on verifiable protocols for students and institutions.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four-step research protocol ensures academic transparency and factual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personal mastery must always precede automation in software and academic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I welcome questions from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114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C"/>
                </a:solidFill>
              </a:defRPr>
            </a:pPr>
            <a:r>
              <a:t>ACADEMIC KEYNOTE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8FAFC"/>
                </a:solidFill>
              </a:defRPr>
            </a:pPr>
            <a:r>
              <a:t>Artificial Intelligence in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2D3EE"/>
                </a:solidFill>
              </a:defRPr>
            </a:pPr>
            <a:r>
              <a:t>Navigating Academic Opportunities, Ethical Dilemmas, and the Future of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Presented by: Jhon Paulo V. Gascon  •  BSIT 2G</a:t>
            </a:r>
            <a:br/>
            <a:r>
              <a:t>STI West Negros University  •  Academic Year 2026–2027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STRUCTURE &amp;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Presentation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2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D3EE"/>
                </a:solidFill>
              </a:defRPr>
            </a:pPr>
            <a:r>
              <a:t>01</a:t>
            </a:r>
          </a:p>
          <a:p>
            <a:pPr>
              <a:spcBef>
                <a:spcPts val="1400"/>
              </a:spcBef>
              <a:defRPr sz="1600" b="1">
                <a:solidFill>
                  <a:srgbClr val="F8FAFC"/>
                </a:solidFill>
              </a:defRPr>
            </a:pPr>
            <a:r>
              <a:t>The AI Paradigm Shift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From static search to adaptive tutoring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D3EE"/>
                </a:solidFill>
              </a:defRPr>
            </a:pPr>
            <a:r>
              <a:t>02</a:t>
            </a:r>
          </a:p>
          <a:p>
            <a:pPr>
              <a:spcBef>
                <a:spcPts val="1400"/>
              </a:spcBef>
              <a:defRPr sz="1600" b="1">
                <a:solidFill>
                  <a:srgbClr val="F8FAFC"/>
                </a:solidFill>
              </a:defRPr>
            </a:pPr>
            <a:r>
              <a:t>Productivity Dividends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Accelerating software design and research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D3EE"/>
                </a:solidFill>
              </a:defRPr>
            </a:pPr>
            <a:r>
              <a:t>03</a:t>
            </a:r>
          </a:p>
          <a:p>
            <a:pPr>
              <a:spcBef>
                <a:spcPts val="1400"/>
              </a:spcBef>
              <a:defRPr sz="1600" b="1">
                <a:solidFill>
                  <a:srgbClr val="F8FAFC"/>
                </a:solidFill>
              </a:defRPr>
            </a:pPr>
            <a:r>
              <a:t>Critical Ethical Risks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Hallucinations, bias, and academic honesty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D3EE"/>
                </a:solidFill>
              </a:defRPr>
            </a:pPr>
            <a:r>
              <a:t>04</a:t>
            </a:r>
          </a:p>
          <a:p>
            <a:pPr>
              <a:spcBef>
                <a:spcPts val="1400"/>
              </a:spcBef>
              <a:defRPr sz="1600" b="1">
                <a:solidFill>
                  <a:srgbClr val="F8FAFC"/>
                </a:solidFill>
              </a:defRPr>
            </a:pPr>
            <a:r>
              <a:t>Institutional Framework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Establishing ethical boundaries on campus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Core Conceptual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3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31F37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22D3EE"/>
                </a:solidFill>
              </a:defRPr>
            </a:pPr>
            <a:r>
              <a:t>"AI is not a replacement for human critical thinking. It is an intellectual amplifier."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4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Part I: The Technological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How generative models transformed the educational paradigm.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EMPIRICAL EVIDENCE &amp;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Measuring the Campus AI Adoption Surge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5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22D3EE"/>
                </a:solidFill>
              </a:defRPr>
            </a:pPr>
            <a:r>
              <a:t>74%</a:t>
            </a:r>
          </a:p>
          <a:p>
            <a:pPr>
              <a:spcBef>
                <a:spcPts val="1600"/>
              </a:spcBef>
              <a:defRPr sz="1600">
                <a:solidFill>
                  <a:srgbClr val="F8FAFC"/>
                </a:solidFill>
              </a:defRPr>
            </a:pPr>
            <a:r>
              <a:t>Tertiary students reporting weekly AI tool usage for coursework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22D3EE"/>
                </a:solidFill>
              </a:defRPr>
            </a:pPr>
            <a:r>
              <a:t>3.5x</a:t>
            </a:r>
          </a:p>
          <a:p>
            <a:pPr>
              <a:spcBef>
                <a:spcPts val="1600"/>
              </a:spcBef>
              <a:defRPr sz="1600">
                <a:solidFill>
                  <a:srgbClr val="F8FAFC"/>
                </a:solidFill>
              </a:defRPr>
            </a:pPr>
            <a:r>
              <a:t>Acceleration in initial code scaffolding and debugging velocity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22D3EE"/>
                </a:solidFill>
              </a:defRPr>
            </a:pPr>
            <a:r>
              <a:t>68%</a:t>
            </a:r>
          </a:p>
          <a:p>
            <a:pPr>
              <a:spcBef>
                <a:spcPts val="1600"/>
              </a:spcBef>
              <a:defRPr sz="1600">
                <a:solidFill>
                  <a:srgbClr val="F8FAFC"/>
                </a:solidFill>
              </a:defRPr>
            </a:pPr>
            <a:r>
              <a:t>Higher education instructors actively updating syllabus policies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STRATEGIC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Three Pillars of Academic AI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6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Personalized Tutoring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Adaptive learning systems that explain complex algorithms step-by-step.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Accelerated Ideation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Instant generation of alternative algorithmic approaches and edge cases.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Accessibility Support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Real-time speech-to-text, translation, and automated visual transcription.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Balancing Innovation with Cognitive Hazards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7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114800"/>
          </a:xfrm>
          <a:prstGeom prst="roundRect">
            <a:avLst/>
          </a:prstGeom>
          <a:solidFill>
            <a:srgbClr val="131F37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Productive Augmentation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Uses AI to understand underlying concepts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Leverages tools to debug syntax errors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Verifies all claims with primary sources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Accelerates learning velocity without replacing thought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31F37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Deceptive Dependence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Copies full AI responses without reading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Surrenders problem-solving to automated outputs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Blindly trusts unverified AI hallucinations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Gradually atrophies fundamental critical reasoning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8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Part II: Safeguards &amp; The Road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Building responsible, verifiable academic practices.</a:t>
            </a:r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EXECUTION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4-Step Verifiable AI Research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9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</a:defRPr>
            </a:pPr>
            <a:r>
              <a:t>Prompt with Context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Define technical constraints, target audience, and precise formatting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514600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</a:defRPr>
            </a:pPr>
            <a:r>
              <a:t>Audit Logic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Analyze every generated function and paragraph line-by-line.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011680"/>
            <a:ext cx="2514600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</a:defRPr>
            </a:pPr>
            <a:r>
              <a:t>Cross-Reference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Validate citations in official databases like LawPhil or IEEE Xplore.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011680"/>
            <a:ext cx="2514600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Step 4</a:t>
            </a:r>
          </a:p>
          <a:p>
            <a:pPr>
              <a:spcBef>
                <a:spcPts val="600"/>
              </a:spcBef>
              <a:defRPr sz="1600" b="1">
                <a:solidFill>
                  <a:srgbClr val="F8FAFC"/>
                </a:solidFill>
              </a:defRPr>
            </a:pPr>
            <a:r>
              <a:t>Disclose Tools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Transparently declare tool usage in manuscript methodologies.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FINAL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Summary &amp; Guiding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10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Mastery Precedes Automation</a:t>
            </a:r>
          </a:p>
          <a:p>
            <a:pPr>
              <a:spcBef>
                <a:spcPts val="300"/>
              </a:spcBef>
              <a:defRPr sz="1300">
                <a:solidFill>
                  <a:srgbClr val="F8FAFC"/>
                </a:solidFill>
              </a:defRPr>
            </a:pPr>
            <a:r>
              <a:t>Never rely on AI to solve problems you cannot understand manually.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728655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Human Accountability</a:t>
            </a:r>
          </a:p>
          <a:p>
            <a:pPr>
              <a:spcBef>
                <a:spcPts val="300"/>
              </a:spcBef>
              <a:defRPr sz="1300">
                <a:solidFill>
                  <a:srgbClr val="F8FAFC"/>
                </a:solidFill>
              </a:defRPr>
            </a:pPr>
            <a:r>
              <a:t>Authors bear 100% legal and moral responsibility for all published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548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Cultivate Deep Curiosity</a:t>
            </a:r>
          </a:p>
          <a:p>
            <a:pPr>
              <a:spcBef>
                <a:spcPts val="300"/>
              </a:spcBef>
              <a:defRPr sz="1300">
                <a:solidFill>
                  <a:srgbClr val="F8FAFC"/>
                </a:solidFill>
              </a:defRPr>
            </a:pPr>
            <a:r>
              <a:t>The greatest value of AI is freeing up time for deeper creative problem-solving.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SCHOLARLY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Academic References (APA 7th Edition)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11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31F37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•  Bozkurt, A., &amp; Sharma, R. C. (2023). Generative AI and intellectual ethics in higher education. Asian Journal of Distance Education, 18(2), 1–12.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•  Dwivedi, Y. K., et al. (2023). Multidisciplinary perspectives on conversational AI. International Journal of Information Management, 71, 102642.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•  UNESCO. (2023). Guidance for generative AI in education and research. UNESCO Guidelines.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