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Lst>
  <p:notesMasterIdLst>
    <p:notesMasterId r:id="rId13"/>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Opening" id="{3c059424-5dda-5072-5fdb-79212e2e7579}">
          <p14:sldIdLst>
            <p14:sldId id="256"/>
          </p14:sldIdLst>
        </p14:section>
        <p14:section name="Main Content" id="{f3a9b9e1-9206-5b81-1c0a-20bf000c393a}">
          <p14:sldIdLst>
            <p14:sldId id="257"/>
            <p14:sldId id="258"/>
            <p14:sldId id="259"/>
            <p14:sldId id="260"/>
            <p14:sldId id="261"/>
            <p14:sldId id="262"/>
            <p14:sldId id="263"/>
            <p14:sldId id="264"/>
            <p14:sldId id="265"/>
          </p14:sldIdLst>
        </p14:section>
        <p14:section name="Closing" id="{3e591708-efd2-9043-6d99-40e1f3bc8eb4}">
          <p14:sldIdLst>
            <p14:sldId id="266"/>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notesMaster" Target="notesMasters/notesMaster1.xml"/><Relationship Id="rId14" Type="http://schemas.openxmlformats.org/officeDocument/2006/relationships/presProps" Target="presProps.xml"/><Relationship Id="rId15" Type="http://schemas.openxmlformats.org/officeDocument/2006/relationships/viewProps" Target="viewProps.xml"/><Relationship Id="rId16" Type="http://schemas.openxmlformats.org/officeDocument/2006/relationships/theme" Target="theme/theme1.xml"/><Relationship Id="rId17"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Magandang araw. Today we explore the extraordinary life, literary masterpieces, and enduring patriotic legacy of Dr. Jose Protacio Rizal Mercado y Alonso Realonda.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Rizal's intellect was fostered in Calamba. The unjust execution of Gomburza in 1872, when Rizal was just eleven years old, dedicated his life to avenging the victims of colonial injustice.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Rizal's academic journey took him to Ateneo Municipal where he graduated with highest honors, followed by medical studies at the University of Santo Tomas.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In Europe, Rizal proved Filipino equality through intellectual rigor. His annotations of Morga's history destroyed the colonial myth that the Philippines was uncivilized prior to Spanish arrival.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These three demands formed the bedrock of the peaceful reform movement, demonstrating Rizal's belief in legal enlightenment before armed struggle.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Noli Me Tangere was a literary bombshell. By diagnosing the social cancer of the colony, Rizal forced Spaniards and Filipinos alike to confront the realities of oppression.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Four years later, Rizal published El Filibusterismo in Ghent, Belgium, aided by Valentin Ventura. The tone shifts from romantic idealism to dark revolutionary reckoning.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During his four-year exile in Dapitan, Rizal exemplified practical patriotism. He did not languish in despair; he built schools, water systems, and treated impoverished patients for free.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Rizal's life reminds modern IT students that technical skill without moral courage and civic devotion is empty. We are called to be digital builders for the nation.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chronology traces Rizal's 35 years of purposeful life. His martyrdom sealed the fate of the Spanish empire in Asia and catalyzed the birth of the first democratic republic in the region.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Rizal left us with the immortal charge: 'Where is the youth who will consecrate their golden hours to the welfare of their native land?' As STI students, let us honor that call.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DARK">
    <p:bg>
      <p:bgPr>
        <a:solidFill>
          <a:srgbClr val="0B2A5B"/>
        </a:solidFill>
      </p:bgPr>
    </p:bg>
    <p:spTree>
      <p:nvGrpSpPr>
        <p:cNvPr id="1" name=""/>
        <p:cNvGrpSpPr/>
        <p:nvPr/>
      </p:nvGrpSpPr>
      <p:grpSpPr>
        <a:xfrm>
          <a:off x="0" y="0"/>
          <a:ext cx="0" cy="0"/>
          <a:chOff x="0" y="0"/>
          <a:chExt cx="0" cy="0"/>
        </a:xfrm>
      </p:grpSpPr>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LIGHT">
    <p:bg>
      <p:bgPr>
        <a:solidFill>
          <a:srgbClr val="FFFFFF"/>
        </a:solidFill>
      </p:bgPr>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slideLayout" Target="../slideLayouts/slideLayout2.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png"/><Relationship Id="rId2" Type="http://schemas.openxmlformats.org/officeDocument/2006/relationships/image" Target="../media/image-2-2.png"/><Relationship Id="rId3" Type="http://schemas.openxmlformats.org/officeDocument/2006/relationships/image" Target="../media/image-2-3.png"/><Relationship Id="rId4" Type="http://schemas.openxmlformats.org/officeDocument/2006/relationships/image" Target="../media/image-2-4.png"/><Relationship Id="rId5" Type="http://schemas.openxmlformats.org/officeDocument/2006/relationships/slideLayout" Target="../slideLayouts/slideLayout3.xml"/><Relationship Id="rId6"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image-3-1.png"/><Relationship Id="rId2" Type="http://schemas.openxmlformats.org/officeDocument/2006/relationships/slideLayout" Target="../slideLayouts/slideLayout2.xml"/><Relationship Id="rId3"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image" Target="../media/image-4-2.png"/><Relationship Id="rId3" Type="http://schemas.openxmlformats.org/officeDocument/2006/relationships/image" Target="../media/image-4-3.png"/><Relationship Id="rId4" Type="http://schemas.openxmlformats.org/officeDocument/2006/relationships/image" Target="../media/image-4-4.png"/><Relationship Id="rId5" Type="http://schemas.openxmlformats.org/officeDocument/2006/relationships/slideLayout" Target="../slideLayouts/slideLayout3.xml"/><Relationship Id="rId6"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image" Target="../media/image-5-2.png"/><Relationship Id="rId3" Type="http://schemas.openxmlformats.org/officeDocument/2006/relationships/image" Target="../media/image-5-3.png"/><Relationship Id="rId4" Type="http://schemas.openxmlformats.org/officeDocument/2006/relationships/slideLayout" Target="../slideLayouts/slideLayout3.xml"/><Relationship Id="rId5"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image" Target="../media/image-6-2.png"/><Relationship Id="rId3" Type="http://schemas.openxmlformats.org/officeDocument/2006/relationships/image" Target="../media/image-6-3.png"/><Relationship Id="rId4" Type="http://schemas.openxmlformats.org/officeDocument/2006/relationships/image" Target="../media/image-6-4.png"/><Relationship Id="rId5" Type="http://schemas.openxmlformats.org/officeDocument/2006/relationships/slideLayout" Target="../slideLayouts/slideLayout3.xml"/><Relationship Id="rId6"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slideLayout" Target="../slideLayouts/slideLayout2.xml"/><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image" Target="../media/image-8-2.png"/><Relationship Id="rId3" Type="http://schemas.openxmlformats.org/officeDocument/2006/relationships/image" Target="../media/image-8-3.png"/><Relationship Id="rId4" Type="http://schemas.openxmlformats.org/officeDocument/2006/relationships/image" Target="../media/image-8-4.png"/><Relationship Id="rId5" Type="http://schemas.openxmlformats.org/officeDocument/2006/relationships/slideLayout" Target="../slideLayouts/slideLayout3.xml"/><Relationship Id="rId6"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image" Target="../media/image-9-2.png"/><Relationship Id="rId3" Type="http://schemas.openxmlformats.org/officeDocument/2006/relationships/image" Target="../media/image-9-3.png"/><Relationship Id="rId4" Type="http://schemas.openxmlformats.org/officeDocument/2006/relationships/slideLayout" Target="../slideLayouts/slideLayout3.xml"/><Relationship Id="rId5"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image" Target="../media/image-10-2.png"/><Relationship Id="rId3" Type="http://schemas.openxmlformats.org/officeDocument/2006/relationships/image" Target="../media/image-10-3.png"/><Relationship Id="rId4" Type="http://schemas.openxmlformats.org/officeDocument/2006/relationships/slideLayout" Target="../slideLayouts/slideLayout3.xml"/><Relationship Id="rId5"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png"/><Relationship Id="rId2" Type="http://schemas.openxmlformats.org/officeDocument/2006/relationships/slideLayout" Target="../slideLayouts/slideLayout2.xml"/><Relationship Id="rId3" Type="http://schemas.openxmlformats.org/officeDocument/2006/relationships/notesSlide" Target="../notesSlides/notesSlide11.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pic>
        <p:nvPicPr>
          <p:cNvPr id="2" name="Image 0" descr="Illustration for The Life and Works of Jose Rizal">    </p:cNvPr>
          <p:cNvPicPr>
            <a:picLocks noChangeAspect="1"/>
          </p:cNvPicPr>
          <p:nvPr/>
        </p:nvPicPr>
        <p:blipFill>
          <a:blip r:embed="rId1"/>
          <a:stretch>
            <a:fillRect/>
          </a:stretch>
        </p:blipFill>
        <p:spPr>
          <a:xfrm>
            <a:off x="6217920" y="731520"/>
            <a:ext cx="5303520" cy="5394960"/>
          </a:xfrm>
          <a:prstGeom prst="rect">
            <a:avLst/>
          </a:prstGeom>
        </p:spPr>
      </p:pic>
      <p:sp>
        <p:nvSpPr>
          <p:cNvPr id="3" name="Text 0"/>
          <p:cNvSpPr txBox="1"/>
          <p:nvPr/>
        </p:nvSpPr>
        <p:spPr>
          <a:xfrm>
            <a:off x="731520" y="822960"/>
            <a:ext cx="5394960" cy="5212080"/>
          </a:xfrm>
          <a:prstGeom prst="rect">
            <a:avLst/>
          </a:prstGeom>
          <a:noFill/>
          <a:ln/>
        </p:spPr>
        <p:txBody>
          <a:bodyPr wrap="square" lIns="0" tIns="0" rIns="0" bIns="0" rtlCol="0" anchor="ctr"/>
          <a:lstStyle/>
          <a:p>
            <a:pPr indent="0" marL="0">
              <a:spcAft>
                <a:spcPts val="1000"/>
              </a:spcAft>
              <a:buNone/>
            </a:pPr>
            <a:r>
              <a:rPr lang="en-US" sz="1400" b="1" spc="300" kern="0" dirty="0">
                <a:solidFill>
                  <a:srgbClr val="F2C230"/>
                </a:solidFill>
              </a:rPr>
              <a:t>PHILIPPINE HISTORY &amp; GOVERNANCE</a:t>
            </a:r>
            <a:endParaRPr lang="en-US" sz="1400" dirty="0"/>
          </a:p>
          <a:p>
            <a:pPr indent="0" marL="0">
              <a:spcAft>
                <a:spcPts val="1200"/>
              </a:spcAft>
              <a:buNone/>
            </a:pPr>
            <a:r>
              <a:rPr lang="en-US" sz="4000" b="1" dirty="0">
                <a:solidFill>
                  <a:srgbClr val="FFFFFF"/>
                </a:solidFill>
                <a:latin typeface="Cambria" pitchFamily="34" charset="0"/>
                <a:ea typeface="Cambria" pitchFamily="34" charset="-122"/>
                <a:cs typeface="Cambria" pitchFamily="34" charset="-120"/>
              </a:rPr>
              <a:t>The Life and Works of Jose Rizal</a:t>
            </a:r>
            <a:endParaRPr lang="en-US" sz="1400" dirty="0"/>
          </a:p>
          <a:p>
            <a:pPr indent="0" marL="0">
              <a:spcAft>
                <a:spcPts val="1600"/>
              </a:spcAft>
              <a:buNone/>
            </a:pPr>
            <a:r>
              <a:rPr lang="en-US" sz="1800" dirty="0">
                <a:solidFill>
                  <a:srgbClr val="DCE3EC"/>
                </a:solidFill>
              </a:rPr>
              <a:t>Nationalism, Literary Genius, and the Awakening of the Filipino Consciousness</a:t>
            </a:r>
            <a:endParaRPr lang="en-US" sz="1400" dirty="0"/>
          </a:p>
          <a:p>
            <a:pPr indent="0" marL="0">
              <a:buNone/>
            </a:pPr>
            <a:r>
              <a:rPr lang="en-US" sz="1400" dirty="0">
                <a:solidFill>
                  <a:srgbClr val="F2C230"/>
                </a:solidFill>
              </a:rPr>
              <a:t>Presenter: Jhon Paulo Gascon • STI West Negros University</a:t>
            </a:r>
            <a:endParaRPr lang="en-US" sz="14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txBox="1"/>
          <p:nvPr/>
        </p:nvSpPr>
        <p:spPr>
          <a:xfrm>
            <a:off x="731520" y="365760"/>
            <a:ext cx="10698480" cy="1143000"/>
          </a:xfrm>
          <a:prstGeom prst="rect">
            <a:avLst/>
          </a:prstGeom>
          <a:noFill/>
          <a:ln/>
        </p:spPr>
        <p:txBody>
          <a:bodyPr wrap="square" lIns="0" tIns="0" rIns="0" bIns="0" rtlCol="0" anchor="t"/>
          <a:lstStyle/>
          <a:p>
            <a:pPr indent="0" marL="0">
              <a:spcAft>
                <a:spcPts val="400"/>
              </a:spcAft>
              <a:buNone/>
            </a:pPr>
            <a:r>
              <a:rPr lang="en-US" sz="1200" b="1" spc="300" kern="0" dirty="0">
                <a:solidFill>
                  <a:srgbClr val="C8102E"/>
                </a:solidFill>
              </a:rPr>
              <a:t>FORMATIVE YEARS</a:t>
            </a:r>
            <a:endParaRPr lang="en-US" sz="1200" dirty="0"/>
          </a:p>
          <a:p>
            <a:pPr indent="0" marL="0">
              <a:buNone/>
            </a:pPr>
            <a:r>
              <a:rPr lang="en-US" sz="3400" b="1" dirty="0">
                <a:solidFill>
                  <a:srgbClr val="0F2347"/>
                </a:solidFill>
                <a:latin typeface="Cambria" pitchFamily="34" charset="0"/>
                <a:ea typeface="Cambria" pitchFamily="34" charset="-122"/>
                <a:cs typeface="Cambria" pitchFamily="34" charset="-120"/>
              </a:rPr>
              <a:t>Calamba Roots &amp; Early Foundations</a:t>
            </a:r>
            <a:endParaRPr lang="en-US" sz="1200" dirty="0"/>
          </a:p>
        </p:txBody>
      </p:sp>
      <p:pic>
        <p:nvPicPr>
          <p:cNvPr id="3" name="Image 0" descr="Illustration for Calamba Roots &amp; Early Foundations">    </p:cNvPr>
          <p:cNvPicPr>
            <a:picLocks noChangeAspect="1"/>
          </p:cNvPicPr>
          <p:nvPr/>
        </p:nvPicPr>
        <p:blipFill>
          <a:blip r:embed="rId1"/>
          <a:stretch>
            <a:fillRect/>
          </a:stretch>
        </p:blipFill>
        <p:spPr>
          <a:xfrm>
            <a:off x="731520" y="1737360"/>
            <a:ext cx="4480560" cy="4480560"/>
          </a:xfrm>
          <a:prstGeom prst="rect">
            <a:avLst/>
          </a:prstGeom>
        </p:spPr>
      </p:pic>
      <p:sp>
        <p:nvSpPr>
          <p:cNvPr id="4" name="Shape 1"/>
          <p:cNvSpPr/>
          <p:nvPr/>
        </p:nvSpPr>
        <p:spPr>
          <a:xfrm>
            <a:off x="5577840" y="1737360"/>
            <a:ext cx="5879592" cy="1371600"/>
          </a:xfrm>
          <a:prstGeom prst="roundRect">
            <a:avLst>
              <a:gd name="adj" fmla="val 10000"/>
            </a:avLst>
          </a:prstGeom>
          <a:solidFill>
            <a:srgbClr val="F2F5FB"/>
          </a:solidFill>
          <a:ln w="12700">
            <a:solidFill>
              <a:srgbClr val="F2F5FB"/>
            </a:solidFill>
            <a:prstDash val="solid"/>
          </a:ln>
        </p:spPr>
      </p:sp>
      <p:pic>
        <p:nvPicPr>
          <p:cNvPr id="5" name="Image 1" descr="preencoded.png">    </p:cNvPr>
          <p:cNvPicPr>
            <a:picLocks noChangeAspect="1"/>
          </p:cNvPicPr>
          <p:nvPr/>
        </p:nvPicPr>
        <p:blipFill>
          <a:blip r:embed="rId2"/>
          <a:stretch>
            <a:fillRect/>
          </a:stretch>
        </p:blipFill>
        <p:spPr>
          <a:xfrm>
            <a:off x="5806440" y="2057400"/>
            <a:ext cx="731520" cy="731520"/>
          </a:xfrm>
          <a:prstGeom prst="rect">
            <a:avLst/>
          </a:prstGeom>
        </p:spPr>
      </p:pic>
      <p:sp>
        <p:nvSpPr>
          <p:cNvPr id="6" name="Text 2"/>
          <p:cNvSpPr txBox="1"/>
          <p:nvPr/>
        </p:nvSpPr>
        <p:spPr>
          <a:xfrm>
            <a:off x="6766560" y="1828800"/>
            <a:ext cx="4572000" cy="1188720"/>
          </a:xfrm>
          <a:prstGeom prst="rect">
            <a:avLst/>
          </a:prstGeom>
          <a:noFill/>
          <a:ln/>
        </p:spPr>
        <p:txBody>
          <a:bodyPr wrap="square" lIns="0" tIns="0" rIns="0" bIns="0" rtlCol="0" anchor="ctr"/>
          <a:lstStyle/>
          <a:p>
            <a:pPr indent="0" marL="0">
              <a:spcAft>
                <a:spcPts val="300"/>
              </a:spcAft>
              <a:buNone/>
            </a:pPr>
            <a:r>
              <a:rPr lang="en-US" sz="1800" b="1" dirty="0">
                <a:solidFill>
                  <a:srgbClr val="C8102E"/>
                </a:solidFill>
              </a:rPr>
              <a:t>Nurtured by Doña Teodora</a:t>
            </a:r>
            <a:endParaRPr lang="en-US" sz="1800" dirty="0"/>
          </a:p>
          <a:p>
            <a:pPr indent="0" marL="0">
              <a:buNone/>
            </a:pPr>
            <a:r>
              <a:rPr lang="en-US" sz="1400" dirty="0">
                <a:solidFill>
                  <a:srgbClr val="0F2347"/>
                </a:solidFill>
              </a:rPr>
              <a:t>Rizal's mother served as his first teacher, instilling love for literature and moral courage through the Parable of the Moth.</a:t>
            </a:r>
            <a:endParaRPr lang="en-US" sz="1800" dirty="0"/>
          </a:p>
        </p:txBody>
      </p:sp>
      <p:sp>
        <p:nvSpPr>
          <p:cNvPr id="7" name="Shape 3"/>
          <p:cNvSpPr/>
          <p:nvPr/>
        </p:nvSpPr>
        <p:spPr>
          <a:xfrm>
            <a:off x="5577840" y="3291840"/>
            <a:ext cx="5879592" cy="1371600"/>
          </a:xfrm>
          <a:prstGeom prst="roundRect">
            <a:avLst>
              <a:gd name="adj" fmla="val 10000"/>
            </a:avLst>
          </a:prstGeom>
          <a:solidFill>
            <a:srgbClr val="F2F5FB"/>
          </a:solidFill>
          <a:ln w="12700">
            <a:solidFill>
              <a:srgbClr val="F2F5FB"/>
            </a:solidFill>
            <a:prstDash val="solid"/>
          </a:ln>
        </p:spPr>
      </p:sp>
      <p:pic>
        <p:nvPicPr>
          <p:cNvPr id="8" name="Image 2" descr="preencoded.png">    </p:cNvPr>
          <p:cNvPicPr>
            <a:picLocks noChangeAspect="1"/>
          </p:cNvPicPr>
          <p:nvPr/>
        </p:nvPicPr>
        <p:blipFill>
          <a:blip r:embed="rId3"/>
          <a:stretch>
            <a:fillRect/>
          </a:stretch>
        </p:blipFill>
        <p:spPr>
          <a:xfrm>
            <a:off x="5806440" y="3611880"/>
            <a:ext cx="731520" cy="731520"/>
          </a:xfrm>
          <a:prstGeom prst="rect">
            <a:avLst/>
          </a:prstGeom>
        </p:spPr>
      </p:pic>
      <p:sp>
        <p:nvSpPr>
          <p:cNvPr id="9" name="Text 4"/>
          <p:cNvSpPr txBox="1"/>
          <p:nvPr/>
        </p:nvSpPr>
        <p:spPr>
          <a:xfrm>
            <a:off x="6766560" y="3383280"/>
            <a:ext cx="4572000" cy="1188720"/>
          </a:xfrm>
          <a:prstGeom prst="rect">
            <a:avLst/>
          </a:prstGeom>
          <a:noFill/>
          <a:ln/>
        </p:spPr>
        <p:txBody>
          <a:bodyPr wrap="square" lIns="0" tIns="0" rIns="0" bIns="0" rtlCol="0" anchor="ctr"/>
          <a:lstStyle/>
          <a:p>
            <a:pPr indent="0" marL="0">
              <a:spcAft>
                <a:spcPts val="300"/>
              </a:spcAft>
              <a:buNone/>
            </a:pPr>
            <a:r>
              <a:rPr lang="en-US" sz="1800" b="1" dirty="0">
                <a:solidFill>
                  <a:srgbClr val="C8102E"/>
                </a:solidFill>
              </a:rPr>
              <a:t>Ancestral Agrarian Heritage</a:t>
            </a:r>
            <a:endParaRPr lang="en-US" sz="1800" dirty="0"/>
          </a:p>
          <a:p>
            <a:pPr indent="0" marL="0">
              <a:buNone/>
            </a:pPr>
            <a:r>
              <a:rPr lang="en-US" sz="1400" dirty="0">
                <a:solidFill>
                  <a:srgbClr val="0F2347"/>
                </a:solidFill>
              </a:rPr>
              <a:t>Growing up in prosperous Calamba exposed Rizal to agrarian disputes between tenant farmers and the Dominican hacienda.</a:t>
            </a:r>
            <a:endParaRPr lang="en-US" sz="1800" dirty="0"/>
          </a:p>
        </p:txBody>
      </p:sp>
      <p:sp>
        <p:nvSpPr>
          <p:cNvPr id="10" name="Shape 5"/>
          <p:cNvSpPr/>
          <p:nvPr/>
        </p:nvSpPr>
        <p:spPr>
          <a:xfrm>
            <a:off x="5577840" y="4846320"/>
            <a:ext cx="5879592" cy="1371600"/>
          </a:xfrm>
          <a:prstGeom prst="roundRect">
            <a:avLst>
              <a:gd name="adj" fmla="val 10000"/>
            </a:avLst>
          </a:prstGeom>
          <a:solidFill>
            <a:srgbClr val="F2F5FB"/>
          </a:solidFill>
          <a:ln w="12700">
            <a:solidFill>
              <a:srgbClr val="F2F5FB"/>
            </a:solidFill>
            <a:prstDash val="solid"/>
          </a:ln>
        </p:spPr>
      </p:sp>
      <p:pic>
        <p:nvPicPr>
          <p:cNvPr id="11" name="Image 3" descr="preencoded.png">    </p:cNvPr>
          <p:cNvPicPr>
            <a:picLocks noChangeAspect="1"/>
          </p:cNvPicPr>
          <p:nvPr/>
        </p:nvPicPr>
        <p:blipFill>
          <a:blip r:embed="rId4"/>
          <a:stretch>
            <a:fillRect/>
          </a:stretch>
        </p:blipFill>
        <p:spPr>
          <a:xfrm>
            <a:off x="5806440" y="5166360"/>
            <a:ext cx="731520" cy="731520"/>
          </a:xfrm>
          <a:prstGeom prst="rect">
            <a:avLst/>
          </a:prstGeom>
        </p:spPr>
      </p:pic>
      <p:sp>
        <p:nvSpPr>
          <p:cNvPr id="12" name="Text 6"/>
          <p:cNvSpPr txBox="1"/>
          <p:nvPr/>
        </p:nvSpPr>
        <p:spPr>
          <a:xfrm>
            <a:off x="6766560" y="4937760"/>
            <a:ext cx="4572000" cy="1188720"/>
          </a:xfrm>
          <a:prstGeom prst="rect">
            <a:avLst/>
          </a:prstGeom>
          <a:noFill/>
          <a:ln/>
        </p:spPr>
        <p:txBody>
          <a:bodyPr wrap="square" lIns="0" tIns="0" rIns="0" bIns="0" rtlCol="0" anchor="ctr"/>
          <a:lstStyle/>
          <a:p>
            <a:pPr indent="0" marL="0">
              <a:spcAft>
                <a:spcPts val="300"/>
              </a:spcAft>
              <a:buNone/>
            </a:pPr>
            <a:r>
              <a:rPr lang="en-US" sz="1800" b="1" dirty="0">
                <a:solidFill>
                  <a:srgbClr val="C8102E"/>
                </a:solidFill>
              </a:rPr>
              <a:t>The Martyrdom of GOMBURZA</a:t>
            </a:r>
            <a:endParaRPr lang="en-US" sz="1800" dirty="0"/>
          </a:p>
          <a:p>
            <a:pPr indent="0" marL="0">
              <a:buNone/>
            </a:pPr>
            <a:r>
              <a:rPr lang="en-US" sz="1400" dirty="0">
                <a:solidFill>
                  <a:srgbClr val="0F2347"/>
                </a:solidFill>
              </a:rPr>
              <a:t>The tragic 1872 execution of Fathers Gomez, Burgos, and Zamora profoundly awakened young Rizal's national consciousness.</a:t>
            </a:r>
            <a:endParaRPr lang="en-US" sz="18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pic>
        <p:nvPicPr>
          <p:cNvPr id="2" name="Image 0" descr="Illustration for Scholastic Brilliance in Manila">    </p:cNvPr>
          <p:cNvPicPr>
            <a:picLocks noChangeAspect="1"/>
          </p:cNvPicPr>
          <p:nvPr/>
        </p:nvPicPr>
        <p:blipFill>
          <a:blip r:embed="rId1"/>
          <a:stretch>
            <a:fillRect/>
          </a:stretch>
        </p:blipFill>
        <p:spPr>
          <a:xfrm>
            <a:off x="731520" y="960120"/>
            <a:ext cx="4937760" cy="4937760"/>
          </a:xfrm>
          <a:prstGeom prst="rect">
            <a:avLst/>
          </a:prstGeom>
        </p:spPr>
      </p:pic>
      <p:sp>
        <p:nvSpPr>
          <p:cNvPr id="3" name="Text 0"/>
          <p:cNvSpPr txBox="1"/>
          <p:nvPr/>
        </p:nvSpPr>
        <p:spPr>
          <a:xfrm>
            <a:off x="6126480" y="822960"/>
            <a:ext cx="5394960" cy="5212080"/>
          </a:xfrm>
          <a:prstGeom prst="rect">
            <a:avLst/>
          </a:prstGeom>
          <a:noFill/>
          <a:ln/>
        </p:spPr>
        <p:txBody>
          <a:bodyPr wrap="square" lIns="0" tIns="0" rIns="0" bIns="0" rtlCol="0" anchor="ctr"/>
          <a:lstStyle/>
          <a:p>
            <a:pPr indent="0" marL="0">
              <a:spcAft>
                <a:spcPts val="1200"/>
              </a:spcAft>
              <a:buNone/>
            </a:pPr>
            <a:r>
              <a:rPr lang="en-US" sz="3800" b="1" dirty="0">
                <a:solidFill>
                  <a:srgbClr val="FFFFFF"/>
                </a:solidFill>
                <a:latin typeface="Cambria" pitchFamily="34" charset="0"/>
                <a:ea typeface="Cambria" pitchFamily="34" charset="-122"/>
                <a:cs typeface="Cambria" pitchFamily="34" charset="-120"/>
              </a:rPr>
              <a:t>Scholastic Brilliance in Manila</a:t>
            </a:r>
            <a:endParaRPr lang="en-US" sz="3800" dirty="0"/>
          </a:p>
          <a:p>
            <a:pPr indent="0" marL="0">
              <a:buNone/>
            </a:pPr>
            <a:r>
              <a:rPr lang="en-US" sz="2000" dirty="0">
                <a:solidFill>
                  <a:srgbClr val="F2C230"/>
                </a:solidFill>
              </a:rPr>
              <a:t>Distinction at Ateneo Municipal &amp; Medical Studies at UST</a:t>
            </a:r>
            <a:endParaRPr lang="en-US" sz="38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txBox="1"/>
          <p:nvPr/>
        </p:nvSpPr>
        <p:spPr>
          <a:xfrm>
            <a:off x="731520" y="365760"/>
            <a:ext cx="10698480" cy="1143000"/>
          </a:xfrm>
          <a:prstGeom prst="rect">
            <a:avLst/>
          </a:prstGeom>
          <a:noFill/>
          <a:ln/>
        </p:spPr>
        <p:txBody>
          <a:bodyPr wrap="square" lIns="0" tIns="0" rIns="0" bIns="0" rtlCol="0" anchor="t"/>
          <a:lstStyle/>
          <a:p>
            <a:pPr indent="0" marL="0">
              <a:spcAft>
                <a:spcPts val="400"/>
              </a:spcAft>
              <a:buNone/>
            </a:pPr>
            <a:r>
              <a:rPr lang="en-US" sz="1200" b="1" spc="300" kern="0" dirty="0">
                <a:solidFill>
                  <a:srgbClr val="C8102E"/>
                </a:solidFill>
              </a:rPr>
              <a:t>EXILE &amp; ADVOCACY</a:t>
            </a:r>
            <a:endParaRPr lang="en-US" sz="1200" dirty="0"/>
          </a:p>
          <a:p>
            <a:pPr indent="0" marL="0">
              <a:buNone/>
            </a:pPr>
            <a:r>
              <a:rPr lang="en-US" sz="3400" b="1" dirty="0">
                <a:solidFill>
                  <a:srgbClr val="0F2347"/>
                </a:solidFill>
                <a:latin typeface="Cambria" pitchFamily="34" charset="0"/>
                <a:ea typeface="Cambria" pitchFamily="34" charset="-122"/>
                <a:cs typeface="Cambria" pitchFamily="34" charset="-120"/>
              </a:rPr>
              <a:t>The Propaganda Movement in Europe</a:t>
            </a:r>
            <a:endParaRPr lang="en-US" sz="1200" dirty="0"/>
          </a:p>
        </p:txBody>
      </p:sp>
      <p:pic>
        <p:nvPicPr>
          <p:cNvPr id="3" name="Image 0" descr="Illustration for The Propaganda Movement in Europe">    </p:cNvPr>
          <p:cNvPicPr>
            <a:picLocks noChangeAspect="1"/>
          </p:cNvPicPr>
          <p:nvPr/>
        </p:nvPicPr>
        <p:blipFill>
          <a:blip r:embed="rId1"/>
          <a:stretch>
            <a:fillRect/>
          </a:stretch>
        </p:blipFill>
        <p:spPr>
          <a:xfrm>
            <a:off x="731520" y="1737360"/>
            <a:ext cx="4480560" cy="4480560"/>
          </a:xfrm>
          <a:prstGeom prst="rect">
            <a:avLst/>
          </a:prstGeom>
        </p:spPr>
      </p:pic>
      <p:sp>
        <p:nvSpPr>
          <p:cNvPr id="4" name="Shape 1"/>
          <p:cNvSpPr/>
          <p:nvPr/>
        </p:nvSpPr>
        <p:spPr>
          <a:xfrm>
            <a:off x="5577840" y="1737360"/>
            <a:ext cx="5879592" cy="1371600"/>
          </a:xfrm>
          <a:prstGeom prst="roundRect">
            <a:avLst>
              <a:gd name="adj" fmla="val 10000"/>
            </a:avLst>
          </a:prstGeom>
          <a:solidFill>
            <a:srgbClr val="F2F5FB"/>
          </a:solidFill>
          <a:ln w="12700">
            <a:solidFill>
              <a:srgbClr val="F2F5FB"/>
            </a:solidFill>
            <a:prstDash val="solid"/>
          </a:ln>
        </p:spPr>
      </p:sp>
      <p:pic>
        <p:nvPicPr>
          <p:cNvPr id="5" name="Image 1" descr="preencoded.png">    </p:cNvPr>
          <p:cNvPicPr>
            <a:picLocks noChangeAspect="1"/>
          </p:cNvPicPr>
          <p:nvPr/>
        </p:nvPicPr>
        <p:blipFill>
          <a:blip r:embed="rId2"/>
          <a:stretch>
            <a:fillRect/>
          </a:stretch>
        </p:blipFill>
        <p:spPr>
          <a:xfrm>
            <a:off x="5806440" y="2057400"/>
            <a:ext cx="731520" cy="731520"/>
          </a:xfrm>
          <a:prstGeom prst="rect">
            <a:avLst/>
          </a:prstGeom>
        </p:spPr>
      </p:pic>
      <p:sp>
        <p:nvSpPr>
          <p:cNvPr id="6" name="Text 2"/>
          <p:cNvSpPr txBox="1"/>
          <p:nvPr/>
        </p:nvSpPr>
        <p:spPr>
          <a:xfrm>
            <a:off x="6766560" y="1828800"/>
            <a:ext cx="4572000" cy="1188720"/>
          </a:xfrm>
          <a:prstGeom prst="rect">
            <a:avLst/>
          </a:prstGeom>
          <a:noFill/>
          <a:ln/>
        </p:spPr>
        <p:txBody>
          <a:bodyPr wrap="square" lIns="0" tIns="0" rIns="0" bIns="0" rtlCol="0" anchor="ctr"/>
          <a:lstStyle/>
          <a:p>
            <a:pPr indent="0" marL="0">
              <a:spcAft>
                <a:spcPts val="300"/>
              </a:spcAft>
              <a:buNone/>
            </a:pPr>
            <a:r>
              <a:rPr lang="en-US" sz="1800" b="1" dirty="0">
                <a:solidFill>
                  <a:srgbClr val="C8102E"/>
                </a:solidFill>
              </a:rPr>
              <a:t>Writing for La Solidaridad</a:t>
            </a:r>
            <a:endParaRPr lang="en-US" sz="1800" dirty="0"/>
          </a:p>
          <a:p>
            <a:pPr indent="0" marL="0">
              <a:buNone/>
            </a:pPr>
            <a:r>
              <a:rPr lang="en-US" sz="1400" dirty="0">
                <a:solidFill>
                  <a:srgbClr val="0F2347"/>
                </a:solidFill>
              </a:rPr>
              <a:t>Together with Marcelo H. del Pilar and Graciano Lopez Jaena, Rizal campaigned for peaceful reforms and representation in the Spanish Cortes.</a:t>
            </a:r>
            <a:endParaRPr lang="en-US" sz="1800" dirty="0"/>
          </a:p>
        </p:txBody>
      </p:sp>
      <p:sp>
        <p:nvSpPr>
          <p:cNvPr id="7" name="Shape 3"/>
          <p:cNvSpPr/>
          <p:nvPr/>
        </p:nvSpPr>
        <p:spPr>
          <a:xfrm>
            <a:off x="5577840" y="3291840"/>
            <a:ext cx="5879592" cy="1371600"/>
          </a:xfrm>
          <a:prstGeom prst="roundRect">
            <a:avLst>
              <a:gd name="adj" fmla="val 10000"/>
            </a:avLst>
          </a:prstGeom>
          <a:solidFill>
            <a:srgbClr val="F2F5FB"/>
          </a:solidFill>
          <a:ln w="12700">
            <a:solidFill>
              <a:srgbClr val="F2F5FB"/>
            </a:solidFill>
            <a:prstDash val="solid"/>
          </a:ln>
        </p:spPr>
      </p:sp>
      <p:pic>
        <p:nvPicPr>
          <p:cNvPr id="8" name="Image 2" descr="preencoded.png">    </p:cNvPr>
          <p:cNvPicPr>
            <a:picLocks noChangeAspect="1"/>
          </p:cNvPicPr>
          <p:nvPr/>
        </p:nvPicPr>
        <p:blipFill>
          <a:blip r:embed="rId3"/>
          <a:stretch>
            <a:fillRect/>
          </a:stretch>
        </p:blipFill>
        <p:spPr>
          <a:xfrm>
            <a:off x="5806440" y="3611880"/>
            <a:ext cx="731520" cy="731520"/>
          </a:xfrm>
          <a:prstGeom prst="rect">
            <a:avLst/>
          </a:prstGeom>
        </p:spPr>
      </p:pic>
      <p:sp>
        <p:nvSpPr>
          <p:cNvPr id="9" name="Text 4"/>
          <p:cNvSpPr txBox="1"/>
          <p:nvPr/>
        </p:nvSpPr>
        <p:spPr>
          <a:xfrm>
            <a:off x="6766560" y="3383280"/>
            <a:ext cx="4572000" cy="1188720"/>
          </a:xfrm>
          <a:prstGeom prst="rect">
            <a:avLst/>
          </a:prstGeom>
          <a:noFill/>
          <a:ln/>
        </p:spPr>
        <p:txBody>
          <a:bodyPr wrap="square" lIns="0" tIns="0" rIns="0" bIns="0" rtlCol="0" anchor="ctr"/>
          <a:lstStyle/>
          <a:p>
            <a:pPr indent="0" marL="0">
              <a:spcAft>
                <a:spcPts val="300"/>
              </a:spcAft>
              <a:buNone/>
            </a:pPr>
            <a:r>
              <a:rPr lang="en-US" sz="1800" b="1" dirty="0">
                <a:solidFill>
                  <a:srgbClr val="C8102E"/>
                </a:solidFill>
              </a:rPr>
              <a:t>Annotations of Morga's Sucesos</a:t>
            </a:r>
            <a:endParaRPr lang="en-US" sz="1800" dirty="0"/>
          </a:p>
          <a:p>
            <a:pPr indent="0" marL="0">
              <a:buNone/>
            </a:pPr>
            <a:r>
              <a:rPr lang="en-US" sz="1400" dirty="0">
                <a:solidFill>
                  <a:srgbClr val="0F2347"/>
                </a:solidFill>
              </a:rPr>
              <a:t>Rizal painstakingly transcribed Antonio de Morga's 1609 work in London to prove that pre-colonial Filipinos possessed rich civilization.</a:t>
            </a:r>
            <a:endParaRPr lang="en-US" sz="1800" dirty="0"/>
          </a:p>
        </p:txBody>
      </p:sp>
      <p:sp>
        <p:nvSpPr>
          <p:cNvPr id="10" name="Shape 5"/>
          <p:cNvSpPr/>
          <p:nvPr/>
        </p:nvSpPr>
        <p:spPr>
          <a:xfrm>
            <a:off x="5577840" y="4846320"/>
            <a:ext cx="5879592" cy="1371600"/>
          </a:xfrm>
          <a:prstGeom prst="roundRect">
            <a:avLst>
              <a:gd name="adj" fmla="val 10000"/>
            </a:avLst>
          </a:prstGeom>
          <a:solidFill>
            <a:srgbClr val="F2F5FB"/>
          </a:solidFill>
          <a:ln w="12700">
            <a:solidFill>
              <a:srgbClr val="F2F5FB"/>
            </a:solidFill>
            <a:prstDash val="solid"/>
          </a:ln>
        </p:spPr>
      </p:sp>
      <p:pic>
        <p:nvPicPr>
          <p:cNvPr id="11" name="Image 3" descr="preencoded.png">    </p:cNvPr>
          <p:cNvPicPr>
            <a:picLocks noChangeAspect="1"/>
          </p:cNvPicPr>
          <p:nvPr/>
        </p:nvPicPr>
        <p:blipFill>
          <a:blip r:embed="rId4"/>
          <a:stretch>
            <a:fillRect/>
          </a:stretch>
        </p:blipFill>
        <p:spPr>
          <a:xfrm>
            <a:off x="5806440" y="5166360"/>
            <a:ext cx="731520" cy="731520"/>
          </a:xfrm>
          <a:prstGeom prst="rect">
            <a:avLst/>
          </a:prstGeom>
        </p:spPr>
      </p:pic>
      <p:sp>
        <p:nvSpPr>
          <p:cNvPr id="12" name="Text 6"/>
          <p:cNvSpPr txBox="1"/>
          <p:nvPr/>
        </p:nvSpPr>
        <p:spPr>
          <a:xfrm>
            <a:off x="6766560" y="4937760"/>
            <a:ext cx="4572000" cy="1188720"/>
          </a:xfrm>
          <a:prstGeom prst="rect">
            <a:avLst/>
          </a:prstGeom>
          <a:noFill/>
          <a:ln/>
        </p:spPr>
        <p:txBody>
          <a:bodyPr wrap="square" lIns="0" tIns="0" rIns="0" bIns="0" rtlCol="0" anchor="ctr"/>
          <a:lstStyle/>
          <a:p>
            <a:pPr indent="0" marL="0">
              <a:spcAft>
                <a:spcPts val="300"/>
              </a:spcAft>
              <a:buNone/>
            </a:pPr>
            <a:r>
              <a:rPr lang="en-US" sz="1800" b="1" dirty="0">
                <a:solidFill>
                  <a:srgbClr val="C8102E"/>
                </a:solidFill>
              </a:rPr>
              <a:t>Polymathic Pursuits</a:t>
            </a:r>
            <a:endParaRPr lang="en-US" sz="1800" dirty="0"/>
          </a:p>
          <a:p>
            <a:pPr indent="0" marL="0">
              <a:buNone/>
            </a:pPr>
            <a:r>
              <a:rPr lang="en-US" sz="1400" dirty="0">
                <a:solidFill>
                  <a:srgbClr val="0F2347"/>
                </a:solidFill>
              </a:rPr>
              <a:t>Mastered over 22 languages while specializing in ophthalmology under Dr. Louis de Wecker in Paris.</a:t>
            </a:r>
            <a:endParaRPr lang="en-US" sz="18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txBox="1"/>
          <p:nvPr/>
        </p:nvSpPr>
        <p:spPr>
          <a:xfrm>
            <a:off x="731520" y="365760"/>
            <a:ext cx="10698480" cy="1143000"/>
          </a:xfrm>
          <a:prstGeom prst="rect">
            <a:avLst/>
          </a:prstGeom>
          <a:noFill/>
          <a:ln/>
        </p:spPr>
        <p:txBody>
          <a:bodyPr wrap="square" lIns="0" tIns="0" rIns="0" bIns="0" rtlCol="0" anchor="t"/>
          <a:lstStyle/>
          <a:p>
            <a:pPr indent="0" marL="0">
              <a:spcAft>
                <a:spcPts val="400"/>
              </a:spcAft>
              <a:buNone/>
            </a:pPr>
            <a:r>
              <a:rPr lang="en-US" sz="1200" b="1" spc="300" kern="0" dirty="0">
                <a:solidFill>
                  <a:srgbClr val="C8102E"/>
                </a:solidFill>
              </a:rPr>
              <a:t>REFORM OBJECTIVES</a:t>
            </a:r>
            <a:endParaRPr lang="en-US" sz="1200" dirty="0"/>
          </a:p>
          <a:p>
            <a:pPr indent="0" marL="0">
              <a:buNone/>
            </a:pPr>
            <a:r>
              <a:rPr lang="en-US" sz="3400" b="1" dirty="0">
                <a:solidFill>
                  <a:srgbClr val="0F2347"/>
                </a:solidFill>
                <a:latin typeface="Cambria" pitchFamily="34" charset="0"/>
                <a:ea typeface="Cambria" pitchFamily="34" charset="-122"/>
                <a:cs typeface="Cambria" pitchFamily="34" charset="-120"/>
              </a:rPr>
              <a:t>Three Foundations of the Propaganda Movement</a:t>
            </a:r>
            <a:endParaRPr lang="en-US" sz="1200" dirty="0"/>
          </a:p>
        </p:txBody>
      </p:sp>
      <p:sp>
        <p:nvSpPr>
          <p:cNvPr id="3" name="Shape 1"/>
          <p:cNvSpPr/>
          <p:nvPr/>
        </p:nvSpPr>
        <p:spPr>
          <a:xfrm>
            <a:off x="731520" y="1737360"/>
            <a:ext cx="3520440" cy="4023360"/>
          </a:xfrm>
          <a:prstGeom prst="roundRect">
            <a:avLst>
              <a:gd name="adj" fmla="val 3896"/>
            </a:avLst>
          </a:prstGeom>
          <a:solidFill>
            <a:srgbClr val="F2F5FB"/>
          </a:solidFill>
          <a:ln w="12700">
            <a:solidFill>
              <a:srgbClr val="F2F5FB"/>
            </a:solidFill>
            <a:prstDash val="solid"/>
          </a:ln>
        </p:spPr>
      </p:sp>
      <p:pic>
        <p:nvPicPr>
          <p:cNvPr id="4" name="Image 0" descr="preencoded.png">    </p:cNvPr>
          <p:cNvPicPr>
            <a:picLocks noChangeAspect="1"/>
          </p:cNvPicPr>
          <p:nvPr/>
        </p:nvPicPr>
        <p:blipFill>
          <a:blip r:embed="rId1"/>
          <a:stretch>
            <a:fillRect/>
          </a:stretch>
        </p:blipFill>
        <p:spPr>
          <a:xfrm>
            <a:off x="1051560" y="2011680"/>
            <a:ext cx="822960" cy="822960"/>
          </a:xfrm>
          <a:prstGeom prst="rect">
            <a:avLst/>
          </a:prstGeom>
        </p:spPr>
      </p:pic>
      <p:sp>
        <p:nvSpPr>
          <p:cNvPr id="5" name="Text 2"/>
          <p:cNvSpPr txBox="1"/>
          <p:nvPr/>
        </p:nvSpPr>
        <p:spPr>
          <a:xfrm>
            <a:off x="1051560" y="3017520"/>
            <a:ext cx="2880360" cy="868680"/>
          </a:xfrm>
          <a:prstGeom prst="rect">
            <a:avLst/>
          </a:prstGeom>
          <a:noFill/>
          <a:ln/>
        </p:spPr>
        <p:txBody>
          <a:bodyPr wrap="square" lIns="0" tIns="0" rIns="0" bIns="0" rtlCol="0" anchor="t"/>
          <a:lstStyle/>
          <a:p>
            <a:pPr indent="0" marL="0">
              <a:buNone/>
            </a:pPr>
            <a:r>
              <a:rPr lang="en-US" sz="2000" b="1" dirty="0">
                <a:solidFill>
                  <a:srgbClr val="C8102E"/>
                </a:solidFill>
              </a:rPr>
              <a:t>1. Equality Before the Law</a:t>
            </a:r>
            <a:endParaRPr lang="en-US" sz="2000" dirty="0"/>
          </a:p>
        </p:txBody>
      </p:sp>
      <p:sp>
        <p:nvSpPr>
          <p:cNvPr id="6" name="Text 3"/>
          <p:cNvSpPr txBox="1"/>
          <p:nvPr/>
        </p:nvSpPr>
        <p:spPr>
          <a:xfrm>
            <a:off x="1051560" y="3794760"/>
            <a:ext cx="2880360" cy="1828800"/>
          </a:xfrm>
          <a:prstGeom prst="rect">
            <a:avLst/>
          </a:prstGeom>
          <a:noFill/>
          <a:ln/>
        </p:spPr>
        <p:txBody>
          <a:bodyPr wrap="square" lIns="0" tIns="0" rIns="0" bIns="0" rtlCol="0" anchor="t"/>
          <a:lstStyle/>
          <a:p>
            <a:pPr indent="0" marL="0">
              <a:buNone/>
            </a:pPr>
            <a:r>
              <a:rPr lang="en-US" sz="1500" dirty="0">
                <a:solidFill>
                  <a:srgbClr val="0F2347"/>
                </a:solidFill>
              </a:rPr>
              <a:t>Demanding that native Filipinos enjoy identical civil liberties, legal protections, and due process as peninsulares.</a:t>
            </a:r>
            <a:endParaRPr lang="en-US" sz="1500" dirty="0"/>
          </a:p>
        </p:txBody>
      </p:sp>
      <p:sp>
        <p:nvSpPr>
          <p:cNvPr id="7" name="Shape 4"/>
          <p:cNvSpPr/>
          <p:nvPr/>
        </p:nvSpPr>
        <p:spPr>
          <a:xfrm>
            <a:off x="4416552" y="1737360"/>
            <a:ext cx="3520440" cy="4023360"/>
          </a:xfrm>
          <a:prstGeom prst="roundRect">
            <a:avLst>
              <a:gd name="adj" fmla="val 3896"/>
            </a:avLst>
          </a:prstGeom>
          <a:solidFill>
            <a:srgbClr val="F2F5FB"/>
          </a:solidFill>
          <a:ln w="12700">
            <a:solidFill>
              <a:srgbClr val="F2F5FB"/>
            </a:solidFill>
            <a:prstDash val="solid"/>
          </a:ln>
        </p:spPr>
      </p:sp>
      <p:pic>
        <p:nvPicPr>
          <p:cNvPr id="8" name="Image 1" descr="preencoded.png">    </p:cNvPr>
          <p:cNvPicPr>
            <a:picLocks noChangeAspect="1"/>
          </p:cNvPicPr>
          <p:nvPr/>
        </p:nvPicPr>
        <p:blipFill>
          <a:blip r:embed="rId2"/>
          <a:stretch>
            <a:fillRect/>
          </a:stretch>
        </p:blipFill>
        <p:spPr>
          <a:xfrm>
            <a:off x="4736592" y="2011680"/>
            <a:ext cx="822960" cy="822960"/>
          </a:xfrm>
          <a:prstGeom prst="rect">
            <a:avLst/>
          </a:prstGeom>
        </p:spPr>
      </p:pic>
      <p:sp>
        <p:nvSpPr>
          <p:cNvPr id="9" name="Text 5"/>
          <p:cNvSpPr txBox="1"/>
          <p:nvPr/>
        </p:nvSpPr>
        <p:spPr>
          <a:xfrm>
            <a:off x="4736592" y="3017520"/>
            <a:ext cx="2880360" cy="868680"/>
          </a:xfrm>
          <a:prstGeom prst="rect">
            <a:avLst/>
          </a:prstGeom>
          <a:noFill/>
          <a:ln/>
        </p:spPr>
        <p:txBody>
          <a:bodyPr wrap="square" lIns="0" tIns="0" rIns="0" bIns="0" rtlCol="0" anchor="t"/>
          <a:lstStyle/>
          <a:p>
            <a:pPr indent="0" marL="0">
              <a:buNone/>
            </a:pPr>
            <a:r>
              <a:rPr lang="en-US" sz="2000" b="1" dirty="0">
                <a:solidFill>
                  <a:srgbClr val="C8102E"/>
                </a:solidFill>
              </a:rPr>
              <a:t>2. Representation in Cortes</a:t>
            </a:r>
            <a:endParaRPr lang="en-US" sz="2000" dirty="0"/>
          </a:p>
        </p:txBody>
      </p:sp>
      <p:sp>
        <p:nvSpPr>
          <p:cNvPr id="10" name="Text 6"/>
          <p:cNvSpPr txBox="1"/>
          <p:nvPr/>
        </p:nvSpPr>
        <p:spPr>
          <a:xfrm>
            <a:off x="4736592" y="3794760"/>
            <a:ext cx="2880360" cy="1828800"/>
          </a:xfrm>
          <a:prstGeom prst="rect">
            <a:avLst/>
          </a:prstGeom>
          <a:noFill/>
          <a:ln/>
        </p:spPr>
        <p:txBody>
          <a:bodyPr wrap="square" lIns="0" tIns="0" rIns="0" bIns="0" rtlCol="0" anchor="t"/>
          <a:lstStyle/>
          <a:p>
            <a:pPr indent="0" marL="0">
              <a:buNone/>
            </a:pPr>
            <a:r>
              <a:rPr lang="en-US" sz="1500" dirty="0">
                <a:solidFill>
                  <a:srgbClr val="0F2347"/>
                </a:solidFill>
              </a:rPr>
              <a:t>Securing parliamentary representation in Madrid to articulate Philippine economic and social grievances.</a:t>
            </a:r>
            <a:endParaRPr lang="en-US" sz="1500" dirty="0"/>
          </a:p>
        </p:txBody>
      </p:sp>
      <p:sp>
        <p:nvSpPr>
          <p:cNvPr id="11" name="Shape 7"/>
          <p:cNvSpPr/>
          <p:nvPr/>
        </p:nvSpPr>
        <p:spPr>
          <a:xfrm>
            <a:off x="8101584" y="1737360"/>
            <a:ext cx="3520440" cy="4023360"/>
          </a:xfrm>
          <a:prstGeom prst="roundRect">
            <a:avLst>
              <a:gd name="adj" fmla="val 3896"/>
            </a:avLst>
          </a:prstGeom>
          <a:solidFill>
            <a:srgbClr val="F2F5FB"/>
          </a:solidFill>
          <a:ln w="12700">
            <a:solidFill>
              <a:srgbClr val="F2F5FB"/>
            </a:solidFill>
            <a:prstDash val="solid"/>
          </a:ln>
        </p:spPr>
      </p:sp>
      <p:pic>
        <p:nvPicPr>
          <p:cNvPr id="12" name="Image 2" descr="preencoded.png">    </p:cNvPr>
          <p:cNvPicPr>
            <a:picLocks noChangeAspect="1"/>
          </p:cNvPicPr>
          <p:nvPr/>
        </p:nvPicPr>
        <p:blipFill>
          <a:blip r:embed="rId3"/>
          <a:stretch>
            <a:fillRect/>
          </a:stretch>
        </p:blipFill>
        <p:spPr>
          <a:xfrm>
            <a:off x="8421624" y="2011680"/>
            <a:ext cx="822960" cy="822960"/>
          </a:xfrm>
          <a:prstGeom prst="rect">
            <a:avLst/>
          </a:prstGeom>
        </p:spPr>
      </p:pic>
      <p:sp>
        <p:nvSpPr>
          <p:cNvPr id="13" name="Text 8"/>
          <p:cNvSpPr txBox="1"/>
          <p:nvPr/>
        </p:nvSpPr>
        <p:spPr>
          <a:xfrm>
            <a:off x="8421624" y="3017520"/>
            <a:ext cx="2880360" cy="868680"/>
          </a:xfrm>
          <a:prstGeom prst="rect">
            <a:avLst/>
          </a:prstGeom>
          <a:noFill/>
          <a:ln/>
        </p:spPr>
        <p:txBody>
          <a:bodyPr wrap="square" lIns="0" tIns="0" rIns="0" bIns="0" rtlCol="0" anchor="t"/>
          <a:lstStyle/>
          <a:p>
            <a:pPr indent="0" marL="0">
              <a:buNone/>
            </a:pPr>
            <a:r>
              <a:rPr lang="en-US" sz="2000" b="1" dirty="0">
                <a:solidFill>
                  <a:srgbClr val="C8102E"/>
                </a:solidFill>
              </a:rPr>
              <a:t>3. Secularization of Parishes</a:t>
            </a:r>
            <a:endParaRPr lang="en-US" sz="2000" dirty="0"/>
          </a:p>
        </p:txBody>
      </p:sp>
      <p:sp>
        <p:nvSpPr>
          <p:cNvPr id="14" name="Text 9"/>
          <p:cNvSpPr txBox="1"/>
          <p:nvPr/>
        </p:nvSpPr>
        <p:spPr>
          <a:xfrm>
            <a:off x="8421624" y="3794760"/>
            <a:ext cx="2880360" cy="1828800"/>
          </a:xfrm>
          <a:prstGeom prst="rect">
            <a:avLst/>
          </a:prstGeom>
          <a:noFill/>
          <a:ln/>
        </p:spPr>
        <p:txBody>
          <a:bodyPr wrap="square" lIns="0" tIns="0" rIns="0" bIns="0" rtlCol="0" anchor="t"/>
          <a:lstStyle/>
          <a:p>
            <a:pPr indent="0" marL="0">
              <a:buNone/>
            </a:pPr>
            <a:r>
              <a:rPr lang="en-US" sz="1500" dirty="0">
                <a:solidFill>
                  <a:srgbClr val="0F2347"/>
                </a:solidFill>
              </a:rPr>
              <a:t>Ending monastic abuse and transferring parish administration to qualified Filipino secular priests.</a:t>
            </a:r>
            <a:endParaRPr lang="en-US" sz="15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txBox="1"/>
          <p:nvPr/>
        </p:nvSpPr>
        <p:spPr>
          <a:xfrm>
            <a:off x="731520" y="365760"/>
            <a:ext cx="10698480" cy="1143000"/>
          </a:xfrm>
          <a:prstGeom prst="rect">
            <a:avLst/>
          </a:prstGeom>
          <a:noFill/>
          <a:ln/>
        </p:spPr>
        <p:txBody>
          <a:bodyPr wrap="square" lIns="0" tIns="0" rIns="0" bIns="0" rtlCol="0" anchor="t"/>
          <a:lstStyle/>
          <a:p>
            <a:pPr indent="0" marL="0">
              <a:spcAft>
                <a:spcPts val="400"/>
              </a:spcAft>
              <a:buNone/>
            </a:pPr>
            <a:r>
              <a:rPr lang="en-US" sz="1200" b="1" spc="300" kern="0" dirty="0">
                <a:solidFill>
                  <a:srgbClr val="C8102E"/>
                </a:solidFill>
              </a:rPr>
              <a:t>LITERARY MASTERPIECE</a:t>
            </a:r>
            <a:endParaRPr lang="en-US" sz="1200" dirty="0"/>
          </a:p>
          <a:p>
            <a:pPr indent="0" marL="0">
              <a:buNone/>
            </a:pPr>
            <a:r>
              <a:rPr lang="en-US" sz="3400" b="1" dirty="0">
                <a:solidFill>
                  <a:srgbClr val="0F2347"/>
                </a:solidFill>
                <a:latin typeface="Cambria" pitchFamily="34" charset="0"/>
                <a:ea typeface="Cambria" pitchFamily="34" charset="-122"/>
                <a:cs typeface="Cambria" pitchFamily="34" charset="-120"/>
              </a:rPr>
              <a:t>Noli Me Tangere: The Social Cancer</a:t>
            </a:r>
            <a:endParaRPr lang="en-US" sz="1200" dirty="0"/>
          </a:p>
        </p:txBody>
      </p:sp>
      <p:pic>
        <p:nvPicPr>
          <p:cNvPr id="3" name="Image 0" descr="Illustration for Noli Me Tangere: The Social Cancer">    </p:cNvPr>
          <p:cNvPicPr>
            <a:picLocks noChangeAspect="1"/>
          </p:cNvPicPr>
          <p:nvPr/>
        </p:nvPicPr>
        <p:blipFill>
          <a:blip r:embed="rId1"/>
          <a:stretch>
            <a:fillRect/>
          </a:stretch>
        </p:blipFill>
        <p:spPr>
          <a:xfrm>
            <a:off x="731520" y="1737360"/>
            <a:ext cx="4480560" cy="4480560"/>
          </a:xfrm>
          <a:prstGeom prst="rect">
            <a:avLst/>
          </a:prstGeom>
        </p:spPr>
      </p:pic>
      <p:sp>
        <p:nvSpPr>
          <p:cNvPr id="4" name="Shape 1"/>
          <p:cNvSpPr/>
          <p:nvPr/>
        </p:nvSpPr>
        <p:spPr>
          <a:xfrm>
            <a:off x="5577840" y="1737360"/>
            <a:ext cx="5879592" cy="1371600"/>
          </a:xfrm>
          <a:prstGeom prst="roundRect">
            <a:avLst>
              <a:gd name="adj" fmla="val 10000"/>
            </a:avLst>
          </a:prstGeom>
          <a:solidFill>
            <a:srgbClr val="F2F5FB"/>
          </a:solidFill>
          <a:ln w="12700">
            <a:solidFill>
              <a:srgbClr val="F2F5FB"/>
            </a:solidFill>
            <a:prstDash val="solid"/>
          </a:ln>
        </p:spPr>
      </p:sp>
      <p:pic>
        <p:nvPicPr>
          <p:cNvPr id="5" name="Image 1" descr="preencoded.png">    </p:cNvPr>
          <p:cNvPicPr>
            <a:picLocks noChangeAspect="1"/>
          </p:cNvPicPr>
          <p:nvPr/>
        </p:nvPicPr>
        <p:blipFill>
          <a:blip r:embed="rId2"/>
          <a:stretch>
            <a:fillRect/>
          </a:stretch>
        </p:blipFill>
        <p:spPr>
          <a:xfrm>
            <a:off x="5806440" y="2057400"/>
            <a:ext cx="731520" cy="731520"/>
          </a:xfrm>
          <a:prstGeom prst="rect">
            <a:avLst/>
          </a:prstGeom>
        </p:spPr>
      </p:pic>
      <p:sp>
        <p:nvSpPr>
          <p:cNvPr id="6" name="Text 2"/>
          <p:cNvSpPr txBox="1"/>
          <p:nvPr/>
        </p:nvSpPr>
        <p:spPr>
          <a:xfrm>
            <a:off x="6766560" y="1828800"/>
            <a:ext cx="4572000" cy="1188720"/>
          </a:xfrm>
          <a:prstGeom prst="rect">
            <a:avLst/>
          </a:prstGeom>
          <a:noFill/>
          <a:ln/>
        </p:spPr>
        <p:txBody>
          <a:bodyPr wrap="square" lIns="0" tIns="0" rIns="0" bIns="0" rtlCol="0" anchor="ctr"/>
          <a:lstStyle/>
          <a:p>
            <a:pPr indent="0" marL="0">
              <a:spcAft>
                <a:spcPts val="300"/>
              </a:spcAft>
              <a:buNone/>
            </a:pPr>
            <a:r>
              <a:rPr lang="en-US" sz="1800" b="1" dirty="0">
                <a:solidFill>
                  <a:srgbClr val="C8102E"/>
                </a:solidFill>
              </a:rPr>
              <a:t>Published in Berlin (1887)</a:t>
            </a:r>
            <a:endParaRPr lang="en-US" sz="1800" dirty="0"/>
          </a:p>
          <a:p>
            <a:pPr indent="0" marL="0">
              <a:buNone/>
            </a:pPr>
            <a:r>
              <a:rPr lang="en-US" sz="1400" dirty="0">
                <a:solidFill>
                  <a:srgbClr val="0F2347"/>
                </a:solidFill>
              </a:rPr>
              <a:t>Funded through the crucial financial assistance of his dear friend Dr. Maximo Viola.</a:t>
            </a:r>
            <a:endParaRPr lang="en-US" sz="1800" dirty="0"/>
          </a:p>
        </p:txBody>
      </p:sp>
      <p:sp>
        <p:nvSpPr>
          <p:cNvPr id="7" name="Shape 3"/>
          <p:cNvSpPr/>
          <p:nvPr/>
        </p:nvSpPr>
        <p:spPr>
          <a:xfrm>
            <a:off x="5577840" y="3291840"/>
            <a:ext cx="5879592" cy="1371600"/>
          </a:xfrm>
          <a:prstGeom prst="roundRect">
            <a:avLst>
              <a:gd name="adj" fmla="val 10000"/>
            </a:avLst>
          </a:prstGeom>
          <a:solidFill>
            <a:srgbClr val="F2F5FB"/>
          </a:solidFill>
          <a:ln w="12700">
            <a:solidFill>
              <a:srgbClr val="F2F5FB"/>
            </a:solidFill>
            <a:prstDash val="solid"/>
          </a:ln>
        </p:spPr>
      </p:sp>
      <p:pic>
        <p:nvPicPr>
          <p:cNvPr id="8" name="Image 2" descr="preencoded.png">    </p:cNvPr>
          <p:cNvPicPr>
            <a:picLocks noChangeAspect="1"/>
          </p:cNvPicPr>
          <p:nvPr/>
        </p:nvPicPr>
        <p:blipFill>
          <a:blip r:embed="rId3"/>
          <a:stretch>
            <a:fillRect/>
          </a:stretch>
        </p:blipFill>
        <p:spPr>
          <a:xfrm>
            <a:off x="5806440" y="3611880"/>
            <a:ext cx="731520" cy="731520"/>
          </a:xfrm>
          <a:prstGeom prst="rect">
            <a:avLst/>
          </a:prstGeom>
        </p:spPr>
      </p:pic>
      <p:sp>
        <p:nvSpPr>
          <p:cNvPr id="9" name="Text 4"/>
          <p:cNvSpPr txBox="1"/>
          <p:nvPr/>
        </p:nvSpPr>
        <p:spPr>
          <a:xfrm>
            <a:off x="6766560" y="3383280"/>
            <a:ext cx="4572000" cy="1188720"/>
          </a:xfrm>
          <a:prstGeom prst="rect">
            <a:avLst/>
          </a:prstGeom>
          <a:noFill/>
          <a:ln/>
        </p:spPr>
        <p:txBody>
          <a:bodyPr wrap="square" lIns="0" tIns="0" rIns="0" bIns="0" rtlCol="0" anchor="ctr"/>
          <a:lstStyle/>
          <a:p>
            <a:pPr indent="0" marL="0">
              <a:spcAft>
                <a:spcPts val="300"/>
              </a:spcAft>
              <a:buNone/>
            </a:pPr>
            <a:r>
              <a:rPr lang="en-US" sz="1800" b="1" dirty="0">
                <a:solidFill>
                  <a:srgbClr val="C8102E"/>
                </a:solidFill>
              </a:rPr>
              <a:t>Diagnosing Colonial Affliction</a:t>
            </a:r>
            <a:endParaRPr lang="en-US" sz="1800" dirty="0"/>
          </a:p>
          <a:p>
            <a:pPr indent="0" marL="0">
              <a:buNone/>
            </a:pPr>
            <a:r>
              <a:rPr lang="en-US" sz="1400" dirty="0">
                <a:solidFill>
                  <a:srgbClr val="0F2347"/>
                </a:solidFill>
              </a:rPr>
              <a:t>Through characters like Crisostomo Ibarra, Maria Clara, and Padre Damaso, Rizal unmasked clerical abuse and colonial hypocrisy.</a:t>
            </a:r>
            <a:endParaRPr lang="en-US" sz="1800" dirty="0"/>
          </a:p>
        </p:txBody>
      </p:sp>
      <p:sp>
        <p:nvSpPr>
          <p:cNvPr id="10" name="Shape 5"/>
          <p:cNvSpPr/>
          <p:nvPr/>
        </p:nvSpPr>
        <p:spPr>
          <a:xfrm>
            <a:off x="5577840" y="4846320"/>
            <a:ext cx="5879592" cy="1371600"/>
          </a:xfrm>
          <a:prstGeom prst="roundRect">
            <a:avLst>
              <a:gd name="adj" fmla="val 10000"/>
            </a:avLst>
          </a:prstGeom>
          <a:solidFill>
            <a:srgbClr val="F2F5FB"/>
          </a:solidFill>
          <a:ln w="12700">
            <a:solidFill>
              <a:srgbClr val="F2F5FB"/>
            </a:solidFill>
            <a:prstDash val="solid"/>
          </a:ln>
        </p:spPr>
      </p:sp>
      <p:pic>
        <p:nvPicPr>
          <p:cNvPr id="11" name="Image 3" descr="preencoded.png">    </p:cNvPr>
          <p:cNvPicPr>
            <a:picLocks noChangeAspect="1"/>
          </p:cNvPicPr>
          <p:nvPr/>
        </p:nvPicPr>
        <p:blipFill>
          <a:blip r:embed="rId4"/>
          <a:stretch>
            <a:fillRect/>
          </a:stretch>
        </p:blipFill>
        <p:spPr>
          <a:xfrm>
            <a:off x="5806440" y="5166360"/>
            <a:ext cx="731520" cy="731520"/>
          </a:xfrm>
          <a:prstGeom prst="rect">
            <a:avLst/>
          </a:prstGeom>
        </p:spPr>
      </p:pic>
      <p:sp>
        <p:nvSpPr>
          <p:cNvPr id="12" name="Text 6"/>
          <p:cNvSpPr txBox="1"/>
          <p:nvPr/>
        </p:nvSpPr>
        <p:spPr>
          <a:xfrm>
            <a:off x="6766560" y="4937760"/>
            <a:ext cx="4572000" cy="1188720"/>
          </a:xfrm>
          <a:prstGeom prst="rect">
            <a:avLst/>
          </a:prstGeom>
          <a:noFill/>
          <a:ln/>
        </p:spPr>
        <p:txBody>
          <a:bodyPr wrap="square" lIns="0" tIns="0" rIns="0" bIns="0" rtlCol="0" anchor="ctr"/>
          <a:lstStyle/>
          <a:p>
            <a:pPr indent="0" marL="0">
              <a:spcAft>
                <a:spcPts val="300"/>
              </a:spcAft>
              <a:buNone/>
            </a:pPr>
            <a:r>
              <a:rPr lang="en-US" sz="1800" b="1" dirty="0">
                <a:solidFill>
                  <a:srgbClr val="C8102E"/>
                </a:solidFill>
              </a:rPr>
              <a:t>The Awakening of Elias</a:t>
            </a:r>
            <a:endParaRPr lang="en-US" sz="1800" dirty="0"/>
          </a:p>
          <a:p>
            <a:pPr indent="0" marL="0">
              <a:buNone/>
            </a:pPr>
            <a:r>
              <a:rPr lang="en-US" sz="1400" dirty="0">
                <a:solidFill>
                  <a:srgbClr val="0F2347"/>
                </a:solidFill>
              </a:rPr>
              <a:t>Introduced the voice of the oppressed masses who demanded radical liberation from systemic tyranny.</a:t>
            </a:r>
            <a:endParaRPr lang="en-US" sz="18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pic>
        <p:nvPicPr>
          <p:cNvPr id="2" name="Image 0" descr="Illustration for El Filibusterismo: The Subversive">    </p:cNvPr>
          <p:cNvPicPr>
            <a:picLocks noChangeAspect="1"/>
          </p:cNvPicPr>
          <p:nvPr/>
        </p:nvPicPr>
        <p:blipFill>
          <a:blip r:embed="rId1"/>
          <a:stretch>
            <a:fillRect/>
          </a:stretch>
        </p:blipFill>
        <p:spPr>
          <a:xfrm>
            <a:off x="6217920" y="960120"/>
            <a:ext cx="4937760" cy="4937760"/>
          </a:xfrm>
          <a:prstGeom prst="rect">
            <a:avLst/>
          </a:prstGeom>
        </p:spPr>
      </p:pic>
      <p:sp>
        <p:nvSpPr>
          <p:cNvPr id="3" name="Text 0"/>
          <p:cNvSpPr txBox="1"/>
          <p:nvPr/>
        </p:nvSpPr>
        <p:spPr>
          <a:xfrm>
            <a:off x="731520" y="822960"/>
            <a:ext cx="5394960" cy="5212080"/>
          </a:xfrm>
          <a:prstGeom prst="rect">
            <a:avLst/>
          </a:prstGeom>
          <a:noFill/>
          <a:ln/>
        </p:spPr>
        <p:txBody>
          <a:bodyPr wrap="square" lIns="0" tIns="0" rIns="0" bIns="0" rtlCol="0" anchor="ctr"/>
          <a:lstStyle/>
          <a:p>
            <a:pPr indent="0" marL="0">
              <a:spcAft>
                <a:spcPts val="1200"/>
              </a:spcAft>
              <a:buNone/>
            </a:pPr>
            <a:r>
              <a:rPr lang="en-US" sz="3800" b="1" dirty="0">
                <a:solidFill>
                  <a:srgbClr val="FFFFFF"/>
                </a:solidFill>
                <a:latin typeface="Cambria" pitchFamily="34" charset="0"/>
                <a:ea typeface="Cambria" pitchFamily="34" charset="-122"/>
                <a:cs typeface="Cambria" pitchFamily="34" charset="-120"/>
              </a:rPr>
              <a:t>El Filibusterismo: The Subversive</a:t>
            </a:r>
            <a:endParaRPr lang="en-US" sz="3800" dirty="0"/>
          </a:p>
          <a:p>
            <a:pPr indent="0" marL="0">
              <a:buNone/>
            </a:pPr>
            <a:r>
              <a:rPr lang="en-US" sz="2000" dirty="0">
                <a:solidFill>
                  <a:srgbClr val="F2C230"/>
                </a:solidFill>
              </a:rPr>
              <a:t>Ghent (1891): Simoun and the Approaching Revolutionary Tempest</a:t>
            </a:r>
            <a:endParaRPr lang="en-US" sz="38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0"/>
          <p:cNvSpPr txBox="1"/>
          <p:nvPr/>
        </p:nvSpPr>
        <p:spPr>
          <a:xfrm>
            <a:off x="731520" y="365760"/>
            <a:ext cx="10698480" cy="1143000"/>
          </a:xfrm>
          <a:prstGeom prst="rect">
            <a:avLst/>
          </a:prstGeom>
          <a:noFill/>
          <a:ln/>
        </p:spPr>
        <p:txBody>
          <a:bodyPr wrap="square" lIns="0" tIns="0" rIns="0" bIns="0" rtlCol="0" anchor="t"/>
          <a:lstStyle/>
          <a:p>
            <a:pPr indent="0" marL="0">
              <a:spcAft>
                <a:spcPts val="400"/>
              </a:spcAft>
              <a:buNone/>
            </a:pPr>
            <a:r>
              <a:rPr lang="en-US" sz="1200" b="1" spc="300" kern="0" dirty="0">
                <a:solidFill>
                  <a:srgbClr val="C8102E"/>
                </a:solidFill>
              </a:rPr>
              <a:t>CIVIC LEADERSHIP</a:t>
            </a:r>
            <a:endParaRPr lang="en-US" sz="1200" dirty="0"/>
          </a:p>
          <a:p>
            <a:pPr indent="0" marL="0">
              <a:buNone/>
            </a:pPr>
            <a:r>
              <a:rPr lang="en-US" sz="3400" b="1" dirty="0">
                <a:solidFill>
                  <a:srgbClr val="0F2347"/>
                </a:solidFill>
                <a:latin typeface="Cambria" pitchFamily="34" charset="0"/>
                <a:ea typeface="Cambria" pitchFamily="34" charset="-122"/>
                <a:cs typeface="Cambria" pitchFamily="34" charset="-120"/>
              </a:rPr>
              <a:t>Exile, Science, &amp; Community in Dapitan</a:t>
            </a:r>
            <a:endParaRPr lang="en-US" sz="1200" dirty="0"/>
          </a:p>
        </p:txBody>
      </p:sp>
      <p:pic>
        <p:nvPicPr>
          <p:cNvPr id="3" name="Image 0" descr="Illustration for Exile, Science, &amp; Community in Dapitan">    </p:cNvPr>
          <p:cNvPicPr>
            <a:picLocks noChangeAspect="1"/>
          </p:cNvPicPr>
          <p:nvPr/>
        </p:nvPicPr>
        <p:blipFill>
          <a:blip r:embed="rId1"/>
          <a:stretch>
            <a:fillRect/>
          </a:stretch>
        </p:blipFill>
        <p:spPr>
          <a:xfrm>
            <a:off x="731520" y="1737360"/>
            <a:ext cx="4480560" cy="4480560"/>
          </a:xfrm>
          <a:prstGeom prst="rect">
            <a:avLst/>
          </a:prstGeom>
        </p:spPr>
      </p:pic>
      <p:sp>
        <p:nvSpPr>
          <p:cNvPr id="4" name="Shape 1"/>
          <p:cNvSpPr/>
          <p:nvPr/>
        </p:nvSpPr>
        <p:spPr>
          <a:xfrm>
            <a:off x="5577840" y="1737360"/>
            <a:ext cx="5879592" cy="1371600"/>
          </a:xfrm>
          <a:prstGeom prst="roundRect">
            <a:avLst>
              <a:gd name="adj" fmla="val 10000"/>
            </a:avLst>
          </a:prstGeom>
          <a:solidFill>
            <a:srgbClr val="F2F5FB"/>
          </a:solidFill>
          <a:ln w="12700">
            <a:solidFill>
              <a:srgbClr val="F2F5FB"/>
            </a:solidFill>
            <a:prstDash val="solid"/>
          </a:ln>
        </p:spPr>
      </p:sp>
      <p:pic>
        <p:nvPicPr>
          <p:cNvPr id="5" name="Image 1" descr="preencoded.png">    </p:cNvPr>
          <p:cNvPicPr>
            <a:picLocks noChangeAspect="1"/>
          </p:cNvPicPr>
          <p:nvPr/>
        </p:nvPicPr>
        <p:blipFill>
          <a:blip r:embed="rId2"/>
          <a:stretch>
            <a:fillRect/>
          </a:stretch>
        </p:blipFill>
        <p:spPr>
          <a:xfrm>
            <a:off x="5806440" y="2057400"/>
            <a:ext cx="731520" cy="731520"/>
          </a:xfrm>
          <a:prstGeom prst="rect">
            <a:avLst/>
          </a:prstGeom>
        </p:spPr>
      </p:pic>
      <p:sp>
        <p:nvSpPr>
          <p:cNvPr id="6" name="Text 2"/>
          <p:cNvSpPr txBox="1"/>
          <p:nvPr/>
        </p:nvSpPr>
        <p:spPr>
          <a:xfrm>
            <a:off x="6766560" y="1828800"/>
            <a:ext cx="4572000" cy="1188720"/>
          </a:xfrm>
          <a:prstGeom prst="rect">
            <a:avLst/>
          </a:prstGeom>
          <a:noFill/>
          <a:ln/>
        </p:spPr>
        <p:txBody>
          <a:bodyPr wrap="square" lIns="0" tIns="0" rIns="0" bIns="0" rtlCol="0" anchor="ctr"/>
          <a:lstStyle/>
          <a:p>
            <a:pPr indent="0" marL="0">
              <a:spcAft>
                <a:spcPts val="300"/>
              </a:spcAft>
              <a:buNone/>
            </a:pPr>
            <a:r>
              <a:rPr lang="en-US" sz="1800" b="1" dirty="0">
                <a:solidFill>
                  <a:srgbClr val="C8102E"/>
                </a:solidFill>
              </a:rPr>
              <a:t>Civic Engineer &amp; Educator</a:t>
            </a:r>
            <a:endParaRPr lang="en-US" sz="1800" dirty="0"/>
          </a:p>
          <a:p>
            <a:pPr indent="0" marL="0">
              <a:buNone/>
            </a:pPr>
            <a:r>
              <a:rPr lang="en-US" sz="1400" dirty="0">
                <a:solidFill>
                  <a:srgbClr val="0F2347"/>
                </a:solidFill>
              </a:rPr>
              <a:t>Constructed a town waterworks system, established a school for local youth, and introduced modern agriculture.</a:t>
            </a:r>
            <a:endParaRPr lang="en-US" sz="1800" dirty="0"/>
          </a:p>
        </p:txBody>
      </p:sp>
      <p:sp>
        <p:nvSpPr>
          <p:cNvPr id="7" name="Shape 3"/>
          <p:cNvSpPr/>
          <p:nvPr/>
        </p:nvSpPr>
        <p:spPr>
          <a:xfrm>
            <a:off x="5577840" y="3291840"/>
            <a:ext cx="5879592" cy="1371600"/>
          </a:xfrm>
          <a:prstGeom prst="roundRect">
            <a:avLst>
              <a:gd name="adj" fmla="val 10000"/>
            </a:avLst>
          </a:prstGeom>
          <a:solidFill>
            <a:srgbClr val="F2F5FB"/>
          </a:solidFill>
          <a:ln w="12700">
            <a:solidFill>
              <a:srgbClr val="F2F5FB"/>
            </a:solidFill>
            <a:prstDash val="solid"/>
          </a:ln>
        </p:spPr>
      </p:sp>
      <p:pic>
        <p:nvPicPr>
          <p:cNvPr id="8" name="Image 2" descr="preencoded.png">    </p:cNvPr>
          <p:cNvPicPr>
            <a:picLocks noChangeAspect="1"/>
          </p:cNvPicPr>
          <p:nvPr/>
        </p:nvPicPr>
        <p:blipFill>
          <a:blip r:embed="rId3"/>
          <a:stretch>
            <a:fillRect/>
          </a:stretch>
        </p:blipFill>
        <p:spPr>
          <a:xfrm>
            <a:off x="5806440" y="3611880"/>
            <a:ext cx="731520" cy="731520"/>
          </a:xfrm>
          <a:prstGeom prst="rect">
            <a:avLst/>
          </a:prstGeom>
        </p:spPr>
      </p:pic>
      <p:sp>
        <p:nvSpPr>
          <p:cNvPr id="9" name="Text 4"/>
          <p:cNvSpPr txBox="1"/>
          <p:nvPr/>
        </p:nvSpPr>
        <p:spPr>
          <a:xfrm>
            <a:off x="6766560" y="3383280"/>
            <a:ext cx="4572000" cy="1188720"/>
          </a:xfrm>
          <a:prstGeom prst="rect">
            <a:avLst/>
          </a:prstGeom>
          <a:noFill/>
          <a:ln/>
        </p:spPr>
        <p:txBody>
          <a:bodyPr wrap="square" lIns="0" tIns="0" rIns="0" bIns="0" rtlCol="0" anchor="ctr"/>
          <a:lstStyle/>
          <a:p>
            <a:pPr indent="0" marL="0">
              <a:spcAft>
                <a:spcPts val="300"/>
              </a:spcAft>
              <a:buNone/>
            </a:pPr>
            <a:r>
              <a:rPr lang="en-US" sz="1800" b="1" dirty="0">
                <a:solidFill>
                  <a:srgbClr val="C8102E"/>
                </a:solidFill>
              </a:rPr>
              <a:t>Biological Discoveries</a:t>
            </a:r>
            <a:endParaRPr lang="en-US" sz="1800" dirty="0"/>
          </a:p>
          <a:p>
            <a:pPr indent="0" marL="0">
              <a:buNone/>
            </a:pPr>
            <a:r>
              <a:rPr lang="en-US" sz="1400" dirty="0">
                <a:solidFill>
                  <a:srgbClr val="0F2347"/>
                </a:solidFill>
              </a:rPr>
              <a:t>Collected rare specimens, discovering Draco rizali (flying lizard) and Apogonia rizali (beetle).</a:t>
            </a:r>
            <a:endParaRPr lang="en-US" sz="1800" dirty="0"/>
          </a:p>
        </p:txBody>
      </p:sp>
      <p:sp>
        <p:nvSpPr>
          <p:cNvPr id="10" name="Shape 5"/>
          <p:cNvSpPr/>
          <p:nvPr/>
        </p:nvSpPr>
        <p:spPr>
          <a:xfrm>
            <a:off x="5577840" y="4846320"/>
            <a:ext cx="5879592" cy="1371600"/>
          </a:xfrm>
          <a:prstGeom prst="roundRect">
            <a:avLst>
              <a:gd name="adj" fmla="val 10000"/>
            </a:avLst>
          </a:prstGeom>
          <a:solidFill>
            <a:srgbClr val="F2F5FB"/>
          </a:solidFill>
          <a:ln w="12700">
            <a:solidFill>
              <a:srgbClr val="F2F5FB"/>
            </a:solidFill>
            <a:prstDash val="solid"/>
          </a:ln>
        </p:spPr>
      </p:sp>
      <p:pic>
        <p:nvPicPr>
          <p:cNvPr id="11" name="Image 3" descr="preencoded.png">    </p:cNvPr>
          <p:cNvPicPr>
            <a:picLocks noChangeAspect="1"/>
          </p:cNvPicPr>
          <p:nvPr/>
        </p:nvPicPr>
        <p:blipFill>
          <a:blip r:embed="rId4"/>
          <a:stretch>
            <a:fillRect/>
          </a:stretch>
        </p:blipFill>
        <p:spPr>
          <a:xfrm>
            <a:off x="5806440" y="5166360"/>
            <a:ext cx="731520" cy="731520"/>
          </a:xfrm>
          <a:prstGeom prst="rect">
            <a:avLst/>
          </a:prstGeom>
        </p:spPr>
      </p:pic>
      <p:sp>
        <p:nvSpPr>
          <p:cNvPr id="12" name="Text 6"/>
          <p:cNvSpPr txBox="1"/>
          <p:nvPr/>
        </p:nvSpPr>
        <p:spPr>
          <a:xfrm>
            <a:off x="6766560" y="4937760"/>
            <a:ext cx="4572000" cy="1188720"/>
          </a:xfrm>
          <a:prstGeom prst="rect">
            <a:avLst/>
          </a:prstGeom>
          <a:noFill/>
          <a:ln/>
        </p:spPr>
        <p:txBody>
          <a:bodyPr wrap="square" lIns="0" tIns="0" rIns="0" bIns="0" rtlCol="0" anchor="ctr"/>
          <a:lstStyle/>
          <a:p>
            <a:pPr indent="0" marL="0">
              <a:spcAft>
                <a:spcPts val="300"/>
              </a:spcAft>
              <a:buNone/>
            </a:pPr>
            <a:r>
              <a:rPr lang="en-US" sz="1800" b="1" dirty="0">
                <a:solidFill>
                  <a:srgbClr val="C8102E"/>
                </a:solidFill>
              </a:rPr>
              <a:t>Model Community Development</a:t>
            </a:r>
            <a:endParaRPr lang="en-US" sz="1800" dirty="0"/>
          </a:p>
          <a:p>
            <a:pPr indent="0" marL="0">
              <a:buNone/>
            </a:pPr>
            <a:r>
              <a:rPr lang="en-US" sz="1400" dirty="0">
                <a:solidFill>
                  <a:srgbClr val="0F2347"/>
                </a:solidFill>
              </a:rPr>
              <a:t>Demonstrated that true nation-building starts with grassroots public health, education, and economic cooperatives.</a:t>
            </a:r>
            <a:endParaRPr lang="en-US" sz="18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0"/>
          <p:cNvSpPr txBox="1"/>
          <p:nvPr/>
        </p:nvSpPr>
        <p:spPr>
          <a:xfrm>
            <a:off x="731520" y="365760"/>
            <a:ext cx="10698480" cy="1143000"/>
          </a:xfrm>
          <a:prstGeom prst="rect">
            <a:avLst/>
          </a:prstGeom>
          <a:noFill/>
          <a:ln/>
        </p:spPr>
        <p:txBody>
          <a:bodyPr wrap="square" lIns="0" tIns="0" rIns="0" bIns="0" rtlCol="0" anchor="t"/>
          <a:lstStyle/>
          <a:p>
            <a:pPr indent="0" marL="0">
              <a:spcAft>
                <a:spcPts val="400"/>
              </a:spcAft>
              <a:buNone/>
            </a:pPr>
            <a:r>
              <a:rPr lang="en-US" sz="1200" b="1" spc="300" kern="0" dirty="0">
                <a:solidFill>
                  <a:srgbClr val="C8102E"/>
                </a:solidFill>
              </a:rPr>
              <a:t>MODERN RELEVANCE</a:t>
            </a:r>
            <a:endParaRPr lang="en-US" sz="1200" dirty="0"/>
          </a:p>
          <a:p>
            <a:pPr indent="0" marL="0">
              <a:buNone/>
            </a:pPr>
            <a:r>
              <a:rPr lang="en-US" sz="3400" b="1" dirty="0">
                <a:solidFill>
                  <a:srgbClr val="0F2347"/>
                </a:solidFill>
                <a:latin typeface="Cambria" pitchFamily="34" charset="0"/>
                <a:ea typeface="Cambria" pitchFamily="34" charset="-122"/>
                <a:cs typeface="Cambria" pitchFamily="34" charset="-120"/>
              </a:rPr>
              <a:t>Core Lessons from Rizal for BSIT Students</a:t>
            </a:r>
            <a:endParaRPr lang="en-US" sz="1200" dirty="0"/>
          </a:p>
        </p:txBody>
      </p:sp>
      <p:sp>
        <p:nvSpPr>
          <p:cNvPr id="3" name="Shape 1"/>
          <p:cNvSpPr/>
          <p:nvPr/>
        </p:nvSpPr>
        <p:spPr>
          <a:xfrm>
            <a:off x="731520" y="1737360"/>
            <a:ext cx="3520440" cy="4023360"/>
          </a:xfrm>
          <a:prstGeom prst="roundRect">
            <a:avLst>
              <a:gd name="adj" fmla="val 3896"/>
            </a:avLst>
          </a:prstGeom>
          <a:solidFill>
            <a:srgbClr val="F2F5FB"/>
          </a:solidFill>
          <a:ln w="12700">
            <a:solidFill>
              <a:srgbClr val="F2F5FB"/>
            </a:solidFill>
            <a:prstDash val="solid"/>
          </a:ln>
        </p:spPr>
      </p:sp>
      <p:pic>
        <p:nvPicPr>
          <p:cNvPr id="4" name="Image 0" descr="preencoded.png">    </p:cNvPr>
          <p:cNvPicPr>
            <a:picLocks noChangeAspect="1"/>
          </p:cNvPicPr>
          <p:nvPr/>
        </p:nvPicPr>
        <p:blipFill>
          <a:blip r:embed="rId1"/>
          <a:stretch>
            <a:fillRect/>
          </a:stretch>
        </p:blipFill>
        <p:spPr>
          <a:xfrm>
            <a:off x="1051560" y="2011680"/>
            <a:ext cx="822960" cy="822960"/>
          </a:xfrm>
          <a:prstGeom prst="rect">
            <a:avLst/>
          </a:prstGeom>
        </p:spPr>
      </p:pic>
      <p:sp>
        <p:nvSpPr>
          <p:cNvPr id="5" name="Text 2"/>
          <p:cNvSpPr txBox="1"/>
          <p:nvPr/>
        </p:nvSpPr>
        <p:spPr>
          <a:xfrm>
            <a:off x="1051560" y="3017520"/>
            <a:ext cx="2880360" cy="868680"/>
          </a:xfrm>
          <a:prstGeom prst="rect">
            <a:avLst/>
          </a:prstGeom>
          <a:noFill/>
          <a:ln/>
        </p:spPr>
        <p:txBody>
          <a:bodyPr wrap="square" lIns="0" tIns="0" rIns="0" bIns="0" rtlCol="0" anchor="t"/>
          <a:lstStyle/>
          <a:p>
            <a:pPr indent="0" marL="0">
              <a:buNone/>
            </a:pPr>
            <a:r>
              <a:rPr lang="en-US" sz="2000" b="1" dirty="0">
                <a:solidFill>
                  <a:srgbClr val="C8102E"/>
                </a:solidFill>
              </a:rPr>
              <a:t>1. Excellence in Craft</a:t>
            </a:r>
            <a:endParaRPr lang="en-US" sz="2000" dirty="0"/>
          </a:p>
        </p:txBody>
      </p:sp>
      <p:sp>
        <p:nvSpPr>
          <p:cNvPr id="6" name="Text 3"/>
          <p:cNvSpPr txBox="1"/>
          <p:nvPr/>
        </p:nvSpPr>
        <p:spPr>
          <a:xfrm>
            <a:off x="1051560" y="3794760"/>
            <a:ext cx="2880360" cy="1828800"/>
          </a:xfrm>
          <a:prstGeom prst="rect">
            <a:avLst/>
          </a:prstGeom>
          <a:noFill/>
          <a:ln/>
        </p:spPr>
        <p:txBody>
          <a:bodyPr wrap="square" lIns="0" tIns="0" rIns="0" bIns="0" rtlCol="0" anchor="t"/>
          <a:lstStyle/>
          <a:p>
            <a:pPr indent="0" marL="0">
              <a:buNone/>
            </a:pPr>
            <a:r>
              <a:rPr lang="en-US" sz="1500" dirty="0">
                <a:solidFill>
                  <a:srgbClr val="0F2347"/>
                </a:solidFill>
              </a:rPr>
              <a:t>Rizal dedicated himself to world-class mastery in medicine, writing, and linguistics. We must bring equal dedication to technology.</a:t>
            </a:r>
            <a:endParaRPr lang="en-US" sz="1500" dirty="0"/>
          </a:p>
        </p:txBody>
      </p:sp>
      <p:sp>
        <p:nvSpPr>
          <p:cNvPr id="7" name="Shape 4"/>
          <p:cNvSpPr/>
          <p:nvPr/>
        </p:nvSpPr>
        <p:spPr>
          <a:xfrm>
            <a:off x="4416552" y="1737360"/>
            <a:ext cx="3520440" cy="4023360"/>
          </a:xfrm>
          <a:prstGeom prst="roundRect">
            <a:avLst>
              <a:gd name="adj" fmla="val 3896"/>
            </a:avLst>
          </a:prstGeom>
          <a:solidFill>
            <a:srgbClr val="F2F5FB"/>
          </a:solidFill>
          <a:ln w="12700">
            <a:solidFill>
              <a:srgbClr val="F2F5FB"/>
            </a:solidFill>
            <a:prstDash val="solid"/>
          </a:ln>
        </p:spPr>
      </p:sp>
      <p:pic>
        <p:nvPicPr>
          <p:cNvPr id="8" name="Image 1" descr="preencoded.png">    </p:cNvPr>
          <p:cNvPicPr>
            <a:picLocks noChangeAspect="1"/>
          </p:cNvPicPr>
          <p:nvPr/>
        </p:nvPicPr>
        <p:blipFill>
          <a:blip r:embed="rId2"/>
          <a:stretch>
            <a:fillRect/>
          </a:stretch>
        </p:blipFill>
        <p:spPr>
          <a:xfrm>
            <a:off x="4736592" y="2011680"/>
            <a:ext cx="822960" cy="822960"/>
          </a:xfrm>
          <a:prstGeom prst="rect">
            <a:avLst/>
          </a:prstGeom>
        </p:spPr>
      </p:pic>
      <p:sp>
        <p:nvSpPr>
          <p:cNvPr id="9" name="Text 5"/>
          <p:cNvSpPr txBox="1"/>
          <p:nvPr/>
        </p:nvSpPr>
        <p:spPr>
          <a:xfrm>
            <a:off x="4736592" y="3017520"/>
            <a:ext cx="2880360" cy="868680"/>
          </a:xfrm>
          <a:prstGeom prst="rect">
            <a:avLst/>
          </a:prstGeom>
          <a:noFill/>
          <a:ln/>
        </p:spPr>
        <p:txBody>
          <a:bodyPr wrap="square" lIns="0" tIns="0" rIns="0" bIns="0" rtlCol="0" anchor="t"/>
          <a:lstStyle/>
          <a:p>
            <a:pPr indent="0" marL="0">
              <a:buNone/>
            </a:pPr>
            <a:r>
              <a:rPr lang="en-US" sz="2000" b="1" dirty="0">
                <a:solidFill>
                  <a:srgbClr val="C8102E"/>
                </a:solidFill>
              </a:rPr>
              <a:t>2. Civic Tech Innovation</a:t>
            </a:r>
            <a:endParaRPr lang="en-US" sz="2000" dirty="0"/>
          </a:p>
        </p:txBody>
      </p:sp>
      <p:sp>
        <p:nvSpPr>
          <p:cNvPr id="10" name="Text 6"/>
          <p:cNvSpPr txBox="1"/>
          <p:nvPr/>
        </p:nvSpPr>
        <p:spPr>
          <a:xfrm>
            <a:off x="4736592" y="3794760"/>
            <a:ext cx="2880360" cy="1828800"/>
          </a:xfrm>
          <a:prstGeom prst="rect">
            <a:avLst/>
          </a:prstGeom>
          <a:noFill/>
          <a:ln/>
        </p:spPr>
        <p:txBody>
          <a:bodyPr wrap="square" lIns="0" tIns="0" rIns="0" bIns="0" rtlCol="0" anchor="t"/>
          <a:lstStyle/>
          <a:p>
            <a:pPr indent="0" marL="0">
              <a:buNone/>
            </a:pPr>
            <a:r>
              <a:rPr lang="en-US" sz="1500" dirty="0">
                <a:solidFill>
                  <a:srgbClr val="0F2347"/>
                </a:solidFill>
              </a:rPr>
              <a:t>Using digital tools to solve tangible community problems, echoing Rizal's hydraulic engineering in Dapitan.</a:t>
            </a:r>
            <a:endParaRPr lang="en-US" sz="1500" dirty="0"/>
          </a:p>
        </p:txBody>
      </p:sp>
      <p:sp>
        <p:nvSpPr>
          <p:cNvPr id="11" name="Shape 7"/>
          <p:cNvSpPr/>
          <p:nvPr/>
        </p:nvSpPr>
        <p:spPr>
          <a:xfrm>
            <a:off x="8101584" y="1737360"/>
            <a:ext cx="3520440" cy="4023360"/>
          </a:xfrm>
          <a:prstGeom prst="roundRect">
            <a:avLst>
              <a:gd name="adj" fmla="val 3896"/>
            </a:avLst>
          </a:prstGeom>
          <a:solidFill>
            <a:srgbClr val="F2F5FB"/>
          </a:solidFill>
          <a:ln w="12700">
            <a:solidFill>
              <a:srgbClr val="F2F5FB"/>
            </a:solidFill>
            <a:prstDash val="solid"/>
          </a:ln>
        </p:spPr>
      </p:sp>
      <p:pic>
        <p:nvPicPr>
          <p:cNvPr id="12" name="Image 2" descr="preencoded.png">    </p:cNvPr>
          <p:cNvPicPr>
            <a:picLocks noChangeAspect="1"/>
          </p:cNvPicPr>
          <p:nvPr/>
        </p:nvPicPr>
        <p:blipFill>
          <a:blip r:embed="rId3"/>
          <a:stretch>
            <a:fillRect/>
          </a:stretch>
        </p:blipFill>
        <p:spPr>
          <a:xfrm>
            <a:off x="8421624" y="2011680"/>
            <a:ext cx="822960" cy="822960"/>
          </a:xfrm>
          <a:prstGeom prst="rect">
            <a:avLst/>
          </a:prstGeom>
        </p:spPr>
      </p:pic>
      <p:sp>
        <p:nvSpPr>
          <p:cNvPr id="13" name="Text 8"/>
          <p:cNvSpPr txBox="1"/>
          <p:nvPr/>
        </p:nvSpPr>
        <p:spPr>
          <a:xfrm>
            <a:off x="8421624" y="3017520"/>
            <a:ext cx="2880360" cy="868680"/>
          </a:xfrm>
          <a:prstGeom prst="rect">
            <a:avLst/>
          </a:prstGeom>
          <a:noFill/>
          <a:ln/>
        </p:spPr>
        <p:txBody>
          <a:bodyPr wrap="square" lIns="0" tIns="0" rIns="0" bIns="0" rtlCol="0" anchor="t"/>
          <a:lstStyle/>
          <a:p>
            <a:pPr indent="0" marL="0">
              <a:buNone/>
            </a:pPr>
            <a:r>
              <a:rPr lang="en-US" sz="2000" b="1" dirty="0">
                <a:solidFill>
                  <a:srgbClr val="C8102E"/>
                </a:solidFill>
              </a:rPr>
              <a:t>3. Ethical Responsibility</a:t>
            </a:r>
            <a:endParaRPr lang="en-US" sz="2000" dirty="0"/>
          </a:p>
        </p:txBody>
      </p:sp>
      <p:sp>
        <p:nvSpPr>
          <p:cNvPr id="14" name="Text 9"/>
          <p:cNvSpPr txBox="1"/>
          <p:nvPr/>
        </p:nvSpPr>
        <p:spPr>
          <a:xfrm>
            <a:off x="8421624" y="3794760"/>
            <a:ext cx="2880360" cy="1828800"/>
          </a:xfrm>
          <a:prstGeom prst="rect">
            <a:avLst/>
          </a:prstGeom>
          <a:noFill/>
          <a:ln/>
        </p:spPr>
        <p:txBody>
          <a:bodyPr wrap="square" lIns="0" tIns="0" rIns="0" bIns="0" rtlCol="0" anchor="t"/>
          <a:lstStyle/>
          <a:p>
            <a:pPr indent="0" marL="0">
              <a:buNone/>
            </a:pPr>
            <a:r>
              <a:rPr lang="en-US" sz="1500" dirty="0">
                <a:solidFill>
                  <a:srgbClr val="0F2347"/>
                </a:solidFill>
              </a:rPr>
              <a:t>Recognizing that technological expertise carries a patriotic duty to defend truth, privacy, and social equity.</a:t>
            </a:r>
            <a:endParaRPr lang="en-US" sz="15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0"/>
          <p:cNvSpPr txBox="1"/>
          <p:nvPr/>
        </p:nvSpPr>
        <p:spPr>
          <a:xfrm>
            <a:off x="731520" y="365760"/>
            <a:ext cx="10698480" cy="1143000"/>
          </a:xfrm>
          <a:prstGeom prst="rect">
            <a:avLst/>
          </a:prstGeom>
          <a:noFill/>
          <a:ln/>
        </p:spPr>
        <p:txBody>
          <a:bodyPr wrap="square" lIns="0" tIns="0" rIns="0" bIns="0" rtlCol="0" anchor="t"/>
          <a:lstStyle/>
          <a:p>
            <a:pPr indent="0" marL="0">
              <a:spcAft>
                <a:spcPts val="400"/>
              </a:spcAft>
              <a:buNone/>
            </a:pPr>
            <a:r>
              <a:rPr lang="en-US" sz="1200" b="1" spc="300" kern="0" dirty="0">
                <a:solidFill>
                  <a:srgbClr val="C8102E"/>
                </a:solidFill>
              </a:rPr>
              <a:t>TIMELINE</a:t>
            </a:r>
            <a:endParaRPr lang="en-US" sz="1200" dirty="0"/>
          </a:p>
          <a:p>
            <a:pPr indent="0" marL="0">
              <a:buNone/>
            </a:pPr>
            <a:r>
              <a:rPr lang="en-US" sz="3400" b="1" dirty="0">
                <a:solidFill>
                  <a:srgbClr val="0F2347"/>
                </a:solidFill>
                <a:latin typeface="Cambria" pitchFamily="34" charset="0"/>
                <a:ea typeface="Cambria" pitchFamily="34" charset="-122"/>
                <a:cs typeface="Cambria" pitchFamily="34" charset="-120"/>
              </a:rPr>
              <a:t>Historical Chronology &amp; Milestones</a:t>
            </a:r>
            <a:endParaRPr lang="en-US" sz="1200" dirty="0"/>
          </a:p>
        </p:txBody>
      </p:sp>
      <p:sp>
        <p:nvSpPr>
          <p:cNvPr id="3" name="Shape 1"/>
          <p:cNvSpPr/>
          <p:nvPr/>
        </p:nvSpPr>
        <p:spPr>
          <a:xfrm>
            <a:off x="731520" y="1737360"/>
            <a:ext cx="3520440" cy="4023360"/>
          </a:xfrm>
          <a:prstGeom prst="roundRect">
            <a:avLst>
              <a:gd name="adj" fmla="val 3896"/>
            </a:avLst>
          </a:prstGeom>
          <a:solidFill>
            <a:srgbClr val="F2F5FB"/>
          </a:solidFill>
          <a:ln w="12700">
            <a:solidFill>
              <a:srgbClr val="F2F5FB"/>
            </a:solidFill>
            <a:prstDash val="solid"/>
          </a:ln>
        </p:spPr>
      </p:sp>
      <p:pic>
        <p:nvPicPr>
          <p:cNvPr id="4" name="Image 0" descr="preencoded.png">    </p:cNvPr>
          <p:cNvPicPr>
            <a:picLocks noChangeAspect="1"/>
          </p:cNvPicPr>
          <p:nvPr/>
        </p:nvPicPr>
        <p:blipFill>
          <a:blip r:embed="rId1"/>
          <a:stretch>
            <a:fillRect/>
          </a:stretch>
        </p:blipFill>
        <p:spPr>
          <a:xfrm>
            <a:off x="1051560" y="2011680"/>
            <a:ext cx="822960" cy="822960"/>
          </a:xfrm>
          <a:prstGeom prst="rect">
            <a:avLst/>
          </a:prstGeom>
        </p:spPr>
      </p:pic>
      <p:sp>
        <p:nvSpPr>
          <p:cNvPr id="5" name="Text 2"/>
          <p:cNvSpPr txBox="1"/>
          <p:nvPr/>
        </p:nvSpPr>
        <p:spPr>
          <a:xfrm>
            <a:off x="1051560" y="3017520"/>
            <a:ext cx="2880360" cy="868680"/>
          </a:xfrm>
          <a:prstGeom prst="rect">
            <a:avLst/>
          </a:prstGeom>
          <a:noFill/>
          <a:ln/>
        </p:spPr>
        <p:txBody>
          <a:bodyPr wrap="square" lIns="0" tIns="0" rIns="0" bIns="0" rtlCol="0" anchor="t"/>
          <a:lstStyle/>
          <a:p>
            <a:pPr indent="0" marL="0">
              <a:buNone/>
            </a:pPr>
            <a:r>
              <a:rPr lang="en-US" sz="2000" b="1" dirty="0">
                <a:solidFill>
                  <a:srgbClr val="C8102E"/>
                </a:solidFill>
              </a:rPr>
              <a:t>1861 – Birth in Calamba</a:t>
            </a:r>
            <a:endParaRPr lang="en-US" sz="2000" dirty="0"/>
          </a:p>
        </p:txBody>
      </p:sp>
      <p:sp>
        <p:nvSpPr>
          <p:cNvPr id="6" name="Text 3"/>
          <p:cNvSpPr txBox="1"/>
          <p:nvPr/>
        </p:nvSpPr>
        <p:spPr>
          <a:xfrm>
            <a:off x="1051560" y="3794760"/>
            <a:ext cx="2880360" cy="1828800"/>
          </a:xfrm>
          <a:prstGeom prst="rect">
            <a:avLst/>
          </a:prstGeom>
          <a:noFill/>
          <a:ln/>
        </p:spPr>
        <p:txBody>
          <a:bodyPr wrap="square" lIns="0" tIns="0" rIns="0" bIns="0" rtlCol="0" anchor="t"/>
          <a:lstStyle/>
          <a:p>
            <a:pPr indent="0" marL="0">
              <a:buNone/>
            </a:pPr>
            <a:r>
              <a:rPr lang="en-US" sz="1500" dirty="0">
                <a:solidFill>
                  <a:srgbClr val="0F2347"/>
                </a:solidFill>
              </a:rPr>
              <a:t>Born on June 19, 1861, the seventh child of Francisco Mercado and Teodora Alonso.</a:t>
            </a:r>
            <a:endParaRPr lang="en-US" sz="1500" dirty="0"/>
          </a:p>
        </p:txBody>
      </p:sp>
      <p:sp>
        <p:nvSpPr>
          <p:cNvPr id="7" name="Shape 4"/>
          <p:cNvSpPr/>
          <p:nvPr/>
        </p:nvSpPr>
        <p:spPr>
          <a:xfrm>
            <a:off x="4416552" y="1737360"/>
            <a:ext cx="3520440" cy="4023360"/>
          </a:xfrm>
          <a:prstGeom prst="roundRect">
            <a:avLst>
              <a:gd name="adj" fmla="val 3896"/>
            </a:avLst>
          </a:prstGeom>
          <a:solidFill>
            <a:srgbClr val="F2F5FB"/>
          </a:solidFill>
          <a:ln w="12700">
            <a:solidFill>
              <a:srgbClr val="F2F5FB"/>
            </a:solidFill>
            <a:prstDash val="solid"/>
          </a:ln>
        </p:spPr>
      </p:sp>
      <p:pic>
        <p:nvPicPr>
          <p:cNvPr id="8" name="Image 1" descr="preencoded.png">    </p:cNvPr>
          <p:cNvPicPr>
            <a:picLocks noChangeAspect="1"/>
          </p:cNvPicPr>
          <p:nvPr/>
        </p:nvPicPr>
        <p:blipFill>
          <a:blip r:embed="rId2"/>
          <a:stretch>
            <a:fillRect/>
          </a:stretch>
        </p:blipFill>
        <p:spPr>
          <a:xfrm>
            <a:off x="4736592" y="2011680"/>
            <a:ext cx="822960" cy="822960"/>
          </a:xfrm>
          <a:prstGeom prst="rect">
            <a:avLst/>
          </a:prstGeom>
        </p:spPr>
      </p:pic>
      <p:sp>
        <p:nvSpPr>
          <p:cNvPr id="9" name="Text 5"/>
          <p:cNvSpPr txBox="1"/>
          <p:nvPr/>
        </p:nvSpPr>
        <p:spPr>
          <a:xfrm>
            <a:off x="4736592" y="3017520"/>
            <a:ext cx="2880360" cy="868680"/>
          </a:xfrm>
          <a:prstGeom prst="rect">
            <a:avLst/>
          </a:prstGeom>
          <a:noFill/>
          <a:ln/>
        </p:spPr>
        <p:txBody>
          <a:bodyPr wrap="square" lIns="0" tIns="0" rIns="0" bIns="0" rtlCol="0" anchor="t"/>
          <a:lstStyle/>
          <a:p>
            <a:pPr indent="0" marL="0">
              <a:buNone/>
            </a:pPr>
            <a:r>
              <a:rPr lang="en-US" sz="2000" b="1" dirty="0">
                <a:solidFill>
                  <a:srgbClr val="C8102E"/>
                </a:solidFill>
              </a:rPr>
              <a:t>1887 – Publication of Noli</a:t>
            </a:r>
            <a:endParaRPr lang="en-US" sz="2000" dirty="0"/>
          </a:p>
        </p:txBody>
      </p:sp>
      <p:sp>
        <p:nvSpPr>
          <p:cNvPr id="10" name="Text 6"/>
          <p:cNvSpPr txBox="1"/>
          <p:nvPr/>
        </p:nvSpPr>
        <p:spPr>
          <a:xfrm>
            <a:off x="4736592" y="3794760"/>
            <a:ext cx="2880360" cy="1828800"/>
          </a:xfrm>
          <a:prstGeom prst="rect">
            <a:avLst/>
          </a:prstGeom>
          <a:noFill/>
          <a:ln/>
        </p:spPr>
        <p:txBody>
          <a:bodyPr wrap="square" lIns="0" tIns="0" rIns="0" bIns="0" rtlCol="0" anchor="t"/>
          <a:lstStyle/>
          <a:p>
            <a:pPr indent="0" marL="0">
              <a:buNone/>
            </a:pPr>
            <a:r>
              <a:rPr lang="en-US" sz="1500" dirty="0">
                <a:solidFill>
                  <a:srgbClr val="0F2347"/>
                </a:solidFill>
              </a:rPr>
              <a:t>Berlin printing initiates the irreversible intellectual awakening of the Philippine archipelago.</a:t>
            </a:r>
            <a:endParaRPr lang="en-US" sz="1500" dirty="0"/>
          </a:p>
        </p:txBody>
      </p:sp>
      <p:sp>
        <p:nvSpPr>
          <p:cNvPr id="11" name="Shape 7"/>
          <p:cNvSpPr/>
          <p:nvPr/>
        </p:nvSpPr>
        <p:spPr>
          <a:xfrm>
            <a:off x="8101584" y="1737360"/>
            <a:ext cx="3520440" cy="4023360"/>
          </a:xfrm>
          <a:prstGeom prst="roundRect">
            <a:avLst>
              <a:gd name="adj" fmla="val 3896"/>
            </a:avLst>
          </a:prstGeom>
          <a:solidFill>
            <a:srgbClr val="F2F5FB"/>
          </a:solidFill>
          <a:ln w="12700">
            <a:solidFill>
              <a:srgbClr val="F2F5FB"/>
            </a:solidFill>
            <a:prstDash val="solid"/>
          </a:ln>
        </p:spPr>
      </p:sp>
      <p:pic>
        <p:nvPicPr>
          <p:cNvPr id="12" name="Image 2" descr="preencoded.png">    </p:cNvPr>
          <p:cNvPicPr>
            <a:picLocks noChangeAspect="1"/>
          </p:cNvPicPr>
          <p:nvPr/>
        </p:nvPicPr>
        <p:blipFill>
          <a:blip r:embed="rId3"/>
          <a:stretch>
            <a:fillRect/>
          </a:stretch>
        </p:blipFill>
        <p:spPr>
          <a:xfrm>
            <a:off x="8421624" y="2011680"/>
            <a:ext cx="822960" cy="822960"/>
          </a:xfrm>
          <a:prstGeom prst="rect">
            <a:avLst/>
          </a:prstGeom>
        </p:spPr>
      </p:pic>
      <p:sp>
        <p:nvSpPr>
          <p:cNvPr id="13" name="Text 8"/>
          <p:cNvSpPr txBox="1"/>
          <p:nvPr/>
        </p:nvSpPr>
        <p:spPr>
          <a:xfrm>
            <a:off x="8421624" y="3017520"/>
            <a:ext cx="2880360" cy="868680"/>
          </a:xfrm>
          <a:prstGeom prst="rect">
            <a:avLst/>
          </a:prstGeom>
          <a:noFill/>
          <a:ln/>
        </p:spPr>
        <p:txBody>
          <a:bodyPr wrap="square" lIns="0" tIns="0" rIns="0" bIns="0" rtlCol="0" anchor="t"/>
          <a:lstStyle/>
          <a:p>
            <a:pPr indent="0" marL="0">
              <a:buNone/>
            </a:pPr>
            <a:r>
              <a:rPr lang="en-US" sz="2000" b="1" dirty="0">
                <a:solidFill>
                  <a:srgbClr val="C8102E"/>
                </a:solidFill>
              </a:rPr>
              <a:t>1896 – Martyrdom at Bagumbayan</a:t>
            </a:r>
            <a:endParaRPr lang="en-US" sz="2000" dirty="0"/>
          </a:p>
        </p:txBody>
      </p:sp>
      <p:sp>
        <p:nvSpPr>
          <p:cNvPr id="14" name="Text 9"/>
          <p:cNvSpPr txBox="1"/>
          <p:nvPr/>
        </p:nvSpPr>
        <p:spPr>
          <a:xfrm>
            <a:off x="8421624" y="3794760"/>
            <a:ext cx="2880360" cy="1828800"/>
          </a:xfrm>
          <a:prstGeom prst="rect">
            <a:avLst/>
          </a:prstGeom>
          <a:noFill/>
          <a:ln/>
        </p:spPr>
        <p:txBody>
          <a:bodyPr wrap="square" lIns="0" tIns="0" rIns="0" bIns="0" rtlCol="0" anchor="t"/>
          <a:lstStyle/>
          <a:p>
            <a:pPr indent="0" marL="0">
              <a:buNone/>
            </a:pPr>
            <a:r>
              <a:rPr lang="en-US" sz="1500" dirty="0">
                <a:solidFill>
                  <a:srgbClr val="0F2347"/>
                </a:solidFill>
              </a:rPr>
              <a:t>Executed on December 30, 1896; his death ignited the ultimate triumph of the Philippine Revolution.</a:t>
            </a:r>
            <a:endParaRPr lang="en-US" sz="150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pic>
        <p:nvPicPr>
          <p:cNvPr id="2" name="Image 0" descr="Illustration for The Immortal Legacy of Jose Rizal">    </p:cNvPr>
          <p:cNvPicPr>
            <a:picLocks noChangeAspect="1"/>
          </p:cNvPicPr>
          <p:nvPr/>
        </p:nvPicPr>
        <p:blipFill>
          <a:blip r:embed="rId1"/>
          <a:stretch>
            <a:fillRect/>
          </a:stretch>
        </p:blipFill>
        <p:spPr>
          <a:xfrm>
            <a:off x="6217920" y="731520"/>
            <a:ext cx="5303520" cy="5394960"/>
          </a:xfrm>
          <a:prstGeom prst="rect">
            <a:avLst/>
          </a:prstGeom>
        </p:spPr>
      </p:pic>
      <p:sp>
        <p:nvSpPr>
          <p:cNvPr id="3" name="Text 0"/>
          <p:cNvSpPr txBox="1"/>
          <p:nvPr/>
        </p:nvSpPr>
        <p:spPr>
          <a:xfrm>
            <a:off x="731520" y="822960"/>
            <a:ext cx="5394960" cy="5212080"/>
          </a:xfrm>
          <a:prstGeom prst="rect">
            <a:avLst/>
          </a:prstGeom>
          <a:noFill/>
          <a:ln/>
        </p:spPr>
        <p:txBody>
          <a:bodyPr wrap="square" lIns="0" tIns="0" rIns="0" bIns="0" rtlCol="0" anchor="ctr"/>
          <a:lstStyle/>
          <a:p>
            <a:pPr indent="0" marL="0">
              <a:spcAft>
                <a:spcPts val="1000"/>
              </a:spcAft>
              <a:buNone/>
            </a:pPr>
            <a:r>
              <a:rPr lang="en-US" sz="3800" b="1" dirty="0">
                <a:solidFill>
                  <a:srgbClr val="FFFFFF"/>
                </a:solidFill>
                <a:latin typeface="Cambria" pitchFamily="34" charset="0"/>
                <a:ea typeface="Cambria" pitchFamily="34" charset="-122"/>
                <a:cs typeface="Cambria" pitchFamily="34" charset="-120"/>
              </a:rPr>
              <a:t>The Immortal Legacy of Jose Rizal</a:t>
            </a:r>
            <a:endParaRPr lang="en-US" sz="3800" dirty="0"/>
          </a:p>
          <a:p>
            <a:pPr indent="0" marL="0">
              <a:spcAft>
                <a:spcPts val="1800"/>
              </a:spcAft>
              <a:buNone/>
            </a:pPr>
            <a:r>
              <a:rPr lang="en-US" sz="2000" dirty="0">
                <a:solidFill>
                  <a:srgbClr val="F2C230"/>
                </a:solidFill>
              </a:rPr>
              <a:t>The Youth is the Hope of the Fatherland</a:t>
            </a:r>
            <a:endParaRPr lang="en-US" sz="3800" dirty="0"/>
          </a:p>
          <a:p>
            <a:pPr indent="0" marL="0">
              <a:spcAft>
                <a:spcPts val="400"/>
              </a:spcAft>
              <a:buNone/>
            </a:pPr>
            <a:r>
              <a:rPr lang="en-US" sz="1200" b="1" dirty="0">
                <a:solidFill>
                  <a:srgbClr val="DCE3EC"/>
                </a:solidFill>
              </a:rPr>
              <a:t>Image &amp; Academic Credits:</a:t>
            </a:r>
            <a:endParaRPr lang="en-US" sz="3800" dirty="0"/>
          </a:p>
          <a:p>
            <a:pPr marL="342900" indent="-342900">
              <a:spcAft>
                <a:spcPts val="300"/>
              </a:spcAft>
              <a:buSzPct val="100000"/>
              <a:buChar char="•"/>
            </a:pPr>
            <a:r>
              <a:rPr lang="en-US" sz="1200" dirty="0">
                <a:solidFill>
                  <a:srgbClr val="DCE3EC"/>
                </a:solidFill>
              </a:rPr>
              <a:t>Visual Assets: Custom 3D renders &amp; high-res vector graphics.</a:t>
            </a:r>
            <a:endParaRPr lang="en-US" sz="3800" dirty="0"/>
          </a:p>
          <a:p>
            <a:pPr marL="342900" indent="-342900">
              <a:spcAft>
                <a:spcPts val="300"/>
              </a:spcAft>
              <a:buSzPct val="100000"/>
              <a:buChar char="•"/>
            </a:pPr>
            <a:r>
              <a:rPr lang="en-US" sz="1200" dirty="0">
                <a:solidFill>
                  <a:srgbClr val="DCE3EC"/>
                </a:solidFill>
              </a:rPr>
              <a:t>Research Citations: APA 7th academic standards.</a:t>
            </a:r>
            <a:endParaRPr lang="en-US" sz="3800" dirty="0"/>
          </a:p>
          <a:p>
            <a:pPr marL="342900" indent="-342900">
              <a:spcAft>
                <a:spcPts val="300"/>
              </a:spcAft>
              <a:buSzPct val="100000"/>
              <a:buChar char="•"/>
            </a:pPr>
            <a:r>
              <a:rPr lang="en-US" sz="1200" dirty="0">
                <a:solidFill>
                  <a:srgbClr val="DCE3EC"/>
                </a:solidFill>
              </a:rPr>
              <a:t>STI West Negros University • BSIT Program 2026–2027</a:t>
            </a:r>
            <a:endParaRPr lang="en-US" sz="3800" dirty="0"/>
          </a:p>
        </p:txBody>
      </p:sp>
    </p:spTree>
  </p:cSld>
  <p:clrMapOvr>
    <a:masterClrMapping/>
  </p:clrMapOvr>
</p:sld>
</file>

<file path=ppt/theme/theme1.xml><?xml version="1.0" encoding="utf-8"?>
<a:theme xmlns:a="http://schemas.openxmlformats.org/drawingml/2006/main" name="Life and Works of Jose Rizal">
  <a:themeElements>
    <a:clrScheme name="Life and Works of Jose Rizal">
      <a:dk1>
        <a:srgbClr val="0F2347"/>
      </a:dk1>
      <a:lt1>
        <a:srgbClr val="FFFFFF"/>
      </a:lt1>
      <a:dk2>
        <a:srgbClr val="0B2A5B"/>
      </a:dk2>
      <a:lt2>
        <a:srgbClr val="F2F5FB"/>
      </a:lt2>
      <a:accent1>
        <a:srgbClr val="C8102E"/>
      </a:accent1>
      <a:accent2>
        <a:srgbClr val="F2C230"/>
      </a:accent2>
      <a:accent3>
        <a:srgbClr val="1D4A8F"/>
      </a:accent3>
      <a:accent4>
        <a:srgbClr val="0F2347"/>
      </a:accent4>
      <a:accent5>
        <a:srgbClr val="C8102E"/>
      </a:accent5>
      <a:accent6>
        <a:srgbClr val="F2C230"/>
      </a:accent6>
      <a:hlink>
        <a:srgbClr val="C8102E"/>
      </a:hlink>
      <a:folHlink>
        <a:srgbClr val="1D4A8F"/>
      </a:folHlink>
    </a:clrScheme>
    <a:fontScheme name="Life and Works of Jose Rizal">
      <a:majorFont>
        <a:latin typeface="Cambria"/>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11</Slides>
  <Notes>11</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11</vt:i4>
      </vt:variant>
    </vt:vector>
  </HeadingPairs>
  <TitlesOfParts>
    <vt:vector size="14"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PptxGenJS Presentation</dc:title>
  <dc:subject>PptxGenJS Presentation</dc:subject>
  <dc:creator>Jhon Paulo Gascon</dc:creator>
  <cp:lastModifiedBy>Jhon Paulo Gascon</cp:lastModifiedBy>
  <cp:revision>1</cp:revision>
  <dcterms:created xsi:type="dcterms:W3CDTF">2026-10-24T14:40:53Z</dcterms:created>
  <dcterms:modified xsi:type="dcterms:W3CDTF">2026-10-24T14:40:53Z</dcterms:modified>
</cp:coreProperties>
</file>