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panel. Today we analyze Dr. Jose Rizal not merely as a historical monument, but as an intellectual revolutionary whose literary works ignited Filipino nationhood.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roadmap explores Rizal's early education, his seminal propaganda novels, his civic reformism in Dapitan, and his timeless legacy for Filipino youth.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Rizal proved that ideas, articulate prose, and moral conviction can shatter centuries of colonial oppression more enduringly than violent conquest.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 examines how Rizal deployed satirical realism to awaken a fractured archipelago into a unified 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remarkable metrics demonstrate Rizal's extraordinary polymathic dedication to Philippine sovereignty and intellectual freedom.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Rizal's philosophy rested upon universal education, cooperative community industry, and fearless critical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contrast the hopeful reformism of the Noli against the grim, radical warning embodied in El Filibusterismo.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 investigates Rizal's exile in Dapitan, where he demonstrated how an educated patriot serves community health and agricultural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Dapitan, Rizal built clean waterworks, treated the sick without charge, and taught practical science to rural youth.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Rizal calls modern students at STI West Negros University to reject apathy, excel in our chosen technical disciplines, and serve our communities with unyielding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Here are our verified academic sources from Guerrero, Schumacher, and the National Historical Commission.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3E7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ACADEMIC KEYNOTE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Life and Works of Jose Rizal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2B705"/>
                </a:solidFill>
              </a:defRPr>
            </a:pPr>
            <a:r>
              <a:t>Nationalism, Intellectual Resistance, and the Awakening of Filipino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3C5FD"/>
                </a:solidFill>
              </a:defRPr>
            </a:pPr>
            <a:r>
              <a:t>Presented by: Jhon Paulo V. Gascon  •  BSIT 2G</a:t>
            </a:r>
            <a:br/>
            <a:r>
              <a:t>STI West Negros University  •  Academic Year 2026–2027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STRUCTURE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Presentation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2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2B705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Early Life &amp; Formative Years</a:t>
            </a:r>
          </a:p>
          <a:p>
            <a:pPr>
              <a:spcBef>
                <a:spcPts val="1000"/>
              </a:spcBef>
              <a:defRPr sz="1300">
                <a:solidFill>
                  <a:srgbClr val="93C5FD"/>
                </a:solidFill>
              </a:defRPr>
            </a:pPr>
            <a:r>
              <a:t>Calamba roots and European academic exposure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2B705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The Masterpiece Novels</a:t>
            </a:r>
          </a:p>
          <a:p>
            <a:pPr>
              <a:spcBef>
                <a:spcPts val="1000"/>
              </a:spcBef>
              <a:defRPr sz="1300">
                <a:solidFill>
                  <a:srgbClr val="93C5FD"/>
                </a:solidFill>
              </a:defRPr>
            </a:pPr>
            <a:r>
              <a:t>Noli Me Tangere and El Filibusterismo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2B705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Civic Reform in Exile</a:t>
            </a:r>
          </a:p>
          <a:p>
            <a:pPr>
              <a:spcBef>
                <a:spcPts val="1000"/>
              </a:spcBef>
              <a:defRPr sz="1300">
                <a:solidFill>
                  <a:srgbClr val="93C5FD"/>
                </a:solidFill>
              </a:defRPr>
            </a:pPr>
            <a:r>
              <a:t>La Liga Filipina and community building in Dapitan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2B705"/>
                </a:solidFill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Martyrdom &amp; Living Legacy</a:t>
            </a:r>
          </a:p>
          <a:p>
            <a:pPr>
              <a:spcBef>
                <a:spcPts val="1000"/>
              </a:spcBef>
              <a:defRPr sz="1300">
                <a:solidFill>
                  <a:srgbClr val="93C5FD"/>
                </a:solidFill>
              </a:defRPr>
            </a:pPr>
            <a:r>
              <a:t>Bagumbayan execution and modern relevance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Core Conceptual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3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83B64"/>
          </a:solidFill>
          <a:ln w="25400">
            <a:solidFill>
              <a:srgbClr val="3E7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2B705"/>
                </a:solidFill>
              </a:defRPr>
            </a:pPr>
            <a:r>
              <a:t>"The pen is mightier than the sword when dipped in the ink of truth and human dignity."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4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I: Awakening the National Conscience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3C5FD"/>
                </a:solidFill>
              </a:defRPr>
            </a:pPr>
            <a:r>
              <a:t>How literary realism exposed colonial abuses and ignited reform.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EMPIRICAL EVIDENCE &amp;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Rizal's Prolific Intellectual Footprint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5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2B705"/>
                </a:solidFill>
              </a:defRPr>
            </a:pPr>
            <a:r>
              <a:t>22+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Languages mastered across Asia, Europe, and America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2B705"/>
                </a:solidFill>
              </a:defRPr>
            </a:pPr>
            <a:r>
              <a:t>2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Epochal novels that dismantled Spanish colonial hegemony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2B705"/>
                </a:solidFill>
              </a:defRPr>
            </a:pPr>
            <a:r>
              <a:t>35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Years of life dedicated entirely to patriotic enlightenment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STRATEGIC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Three Pillars of Rizal's Reformist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6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3E7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2B705"/>
                </a:solidFill>
              </a:defRPr>
            </a:pPr>
            <a:r>
              <a:t>Universal Education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The non-negotiable prerequisite for national emancipation and self-governance.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3E7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2B705"/>
                </a:solidFill>
              </a:defRPr>
            </a:pPr>
            <a:r>
              <a:t>Civic Responsibility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Active moral rectitude, economic cooperative industry, and self-reliance.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3E7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2B705"/>
                </a:solidFill>
              </a:defRPr>
            </a:pPr>
            <a:r>
              <a:t>Critical Consciousness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Refusal to accept superstition, tyranny, or subservience as natural conditions.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Literary Synthesis: Noli vs. Fili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7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114800"/>
          </a:xfrm>
          <a:prstGeom prst="roundRect">
            <a:avLst/>
          </a:prstGeom>
          <a:solidFill>
            <a:srgbClr val="183B64"/>
          </a:solidFill>
          <a:ln w="2540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B705"/>
                </a:solidFill>
              </a:defRPr>
            </a:pPr>
            <a:r>
              <a:t>Noli Me Tangere (1887)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Romantic, idealistic, satirical tone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Diagnoses the social cancer of colonial rule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Advocates institutional reform through education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Crisostomo Ibarra represents youthful hope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83B64"/>
          </a:solidFill>
          <a:ln w="25400">
            <a:solidFill>
              <a:srgbClr val="3E7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E7CB1"/>
                </a:solidFill>
              </a:defRPr>
            </a:pPr>
            <a:r>
              <a:t>El Filibusterismo (1891)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Dark, tragic, revolutionary urgency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Exposes the futility of corrupt political compromises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Simoun plots violent retribution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Warns that freedom without virtue leads to tyranny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8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II: Civic Action in Dapitan &amp; Final Sacrifice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3C5FD"/>
                </a:solidFill>
              </a:defRPr>
            </a:pPr>
            <a:r>
              <a:t>Translating philosophical ideals into practical community progress.</a:t>
            </a:r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EXECUTION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Rizal's Practical Community Development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9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E7CB1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Healthcare Access</a:t>
            </a:r>
          </a:p>
          <a:p>
            <a:pPr>
              <a:spcBef>
                <a:spcPts val="800"/>
              </a:spcBef>
              <a:defRPr sz="1200">
                <a:solidFill>
                  <a:srgbClr val="93C5FD"/>
                </a:solidFill>
              </a:defRPr>
            </a:pPr>
            <a:r>
              <a:t>Providing free clinical consultations and cataract surgeries to rural peasants.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514600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E7CB1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Public Infrastructure</a:t>
            </a:r>
          </a:p>
          <a:p>
            <a:pPr>
              <a:spcBef>
                <a:spcPts val="800"/>
              </a:spcBef>
              <a:defRPr sz="1200">
                <a:solidFill>
                  <a:srgbClr val="93C5FD"/>
                </a:solidFill>
              </a:defRPr>
            </a:pPr>
            <a:r>
              <a:t>Constructing municipal waterworks, dams, and street lighting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514600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E7CB1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Agricultural Trade</a:t>
            </a:r>
          </a:p>
          <a:p>
            <a:pPr>
              <a:spcBef>
                <a:spcPts val="800"/>
              </a:spcBef>
              <a:defRPr sz="1200">
                <a:solidFill>
                  <a:srgbClr val="93C5FD"/>
                </a:solidFill>
              </a:defRPr>
            </a:pPr>
            <a:r>
              <a:t>Establishing farmer cooperatives to break foreign middleman monopolies.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11680"/>
            <a:ext cx="2514600" cy="384048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E7CB1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Youth Schooling</a:t>
            </a:r>
          </a:p>
          <a:p>
            <a:pPr>
              <a:spcBef>
                <a:spcPts val="800"/>
              </a:spcBef>
              <a:defRPr sz="1200">
                <a:solidFill>
                  <a:srgbClr val="93C5FD"/>
                </a:solidFill>
              </a:defRPr>
            </a:pPr>
            <a:r>
              <a:t>Mentoring young boys in English, sciences, swimming, and martial arts.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FINAL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Rizal's Challenge to 21st-Century Youth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10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18872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B705"/>
                </a:solidFill>
              </a:defRPr>
            </a:pPr>
            <a:r>
              <a:t>Reject Apathy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The youth must remain the vibrant conscience of civil society.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118872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B705"/>
                </a:solidFill>
              </a:defRPr>
            </a:pPr>
            <a:r>
              <a:t>Cultivate Excellence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National defense in the modern era is fought through technical mastery.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188720"/>
          </a:xfrm>
          <a:prstGeom prst="roundRect">
            <a:avLst/>
          </a:prstGeom>
          <a:solidFill>
            <a:srgbClr val="183B64"/>
          </a:solidFill>
          <a:ln w="19050">
            <a:solidFill>
              <a:srgbClr val="F2B7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B705"/>
                </a:solidFill>
              </a:defRPr>
            </a:pPr>
            <a:r>
              <a:t>Love of Country in Deed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Patriotism is measured by daily community contribution, not empty slogans.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2B705"/>
                </a:solidFill>
              </a:defRPr>
            </a:pPr>
            <a:r>
              <a:t>SCHOLARLY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Historical References &amp; Primary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3C5FD"/>
                </a:solidFill>
              </a:defRPr>
            </a:pPr>
            <a:r>
              <a:t>STI West Negros University  •  Jhon Paulo V. Gascon  •  Slide 11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83B64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Guerrero, L. M. (1963). The first Filipino: A biography of Jose Rizal. National Historical Commission of the Philippines.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Rizal, J. (1887). Noli me tangere. Berlin: Berliner Buchdruckerei-Actien-Gesellschaft.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Schumacher, J. N. (1997). The propaganda movement: 1880–1895. Ateneo de Manila University Press.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