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Magandang araw. Today we explore the extraordinary life, literary masterpieces, and enduring patriotic legacy of Dr. Jose Protacio Rizal Mercado y Alonso Realonda.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Rizal's intellect was fostered in Calamba. The unjust execution of Gomburza in 1872, when Rizal was just eleven years old, dedicated his life to avenging the victims of colonial injustice.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Rizal's academic journey took him to Ateneo Municipal where he graduated with highest honors, followed by medical studies at the University of Santo Tomas.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Europe, Rizal proved Filipino equality through intellectual rigor. His annotations of Morga's history destroyed the colonial myth that the Philippines was uncivilized prior to Spanish arrival.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three demands formed the bedrock of the peaceful reform movement, demonstrating Rizal's belief in legal enlightenment before armed struggle.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Noli Me Tangere was a literary bombshell. By diagnosing the social cancer of the colony, Rizal forced Spaniards and Filipinos alike to confront the realities of oppression.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years later, Rizal published El Filibusterismo in Ghent, Belgium, aided by Valentin Ventura. The tone shifts from romantic idealism to dark revolutionary reckoning.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During his four-year exile in Dapitan, Rizal exemplified practical patriotism. He did not languish in despair; he built schools, water systems, and treated impoverished patients for free.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Rizal's life reminds modern IT students that technical skill without moral courage and civic devotion is empty. We are called to be digital builders for the nation.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chronology traces Rizal's 35 years of purposeful life. His martyrdom sealed the fate of the Spanish empire in Asia and catalyzed the birth of the first democratic republic in the region.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Rizal left us with the immortal charge: 'Where is the youth who will consecrate their golden hours to the welfare of their native land?' As STI students, let us honor that call.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slide1.xml><?xml version="1.0" encoding="utf-8"?>
<p:sld xmlns:p14="http://schemas.microsoft.com/office/powerpoint/2010/main"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Hero_Image" descr="rizal_hero.png"/>
          <p:cNvPicPr>
            <a:picLocks noChangeAspect="1"/>
          </p:cNvPicPr>
          <p:nvPr/>
        </p:nvPicPr>
        <p:blipFill>
          <a:blip r:embed="rId2"/>
          <a:stretch>
            <a:fillRect/>
          </a:stretch>
        </p:blipFill>
        <p:spPr>
          <a:xfrm>
            <a:off x="6217920" y="731520"/>
            <a:ext cx="5303520" cy="5394960"/>
          </a:xfrm>
          <a:prstGeom prst="rect">
            <a:avLst/>
          </a:prstGeom>
        </p:spPr>
      </p:pic>
      <p:sp>
        <p:nvSpPr>
          <p:cNvPr id="4" name="!!Title_Card"/>
          <p:cNvSpPr txBox="1"/>
          <p:nvPr/>
        </p:nvSpPr>
        <p:spPr>
          <a:xfrm>
            <a:off x="731520" y="1463040"/>
            <a:ext cx="5303520" cy="4114800"/>
          </a:xfrm>
          <a:prstGeom prst="rect">
            <a:avLst/>
          </a:prstGeom>
          <a:noFill/>
        </p:spPr>
        <p:txBody>
          <a:bodyPr wrap="square">
            <a:spAutoFit/>
          </a:bodyPr>
          <a:lstStyle/>
          <a:p>
            <a:pPr>
              <a:defRPr sz="1200" b="1">
                <a:solidFill>
                  <a:srgbClr val="F2B705"/>
                </a:solidFill>
              </a:defRPr>
            </a:pPr>
            <a:r>
              <a:t>PHILIPPINE HISTORY &amp; GOVERNANCE</a:t>
            </a:r>
          </a:p>
          <a:p>
            <a:pPr>
              <a:defRPr sz="3600" b="1">
                <a:solidFill>
                  <a:srgbClr val="FFFFFF"/>
                </a:solidFill>
              </a:defRPr>
            </a:pPr>
            <a:r>
              <a:t>The Life and Works of Jose Rizal</a:t>
            </a:r>
          </a:p>
          <a:p>
            <a:pPr>
              <a:defRPr sz="1500">
                <a:solidFill>
                  <a:srgbClr val="B4C8DC"/>
                </a:solidFill>
              </a:defRPr>
            </a:pPr>
            <a:r>
              <a:t>Nationalism, Literary Genius, and the Awakening of the Filipino Consciousness</a:t>
            </a:r>
          </a:p>
          <a:p>
            <a:br/>
            <a:pPr>
              <a:defRPr sz="1100">
                <a:solidFill>
                  <a:srgbClr val="8CA0B4"/>
                </a:solidFill>
              </a:defRPr>
            </a:pPr>
            <a:r>
              <a:t>Presenter: Jhon Paulo Gascon • STI West Negros University</a:t>
            </a:r>
          </a:p>
        </p:txBody>
      </p:sp>
    </p:spTree>
  </p:cSld>
  <p:clrMapOvr>
    <a:masterClrMapping/>
  </p:clrMapOvr>
  <p:transition spd="med">
    <p:fade/>
  </p:transition>
</p:sld>
</file>

<file path=ppt/slides/slide2.xml><?xml version="1.0" encoding="utf-8"?>
<p:sld xmlns:p14="http://schemas.microsoft.com/office/powerpoint/2010/main"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a:spAutoFit/>
          </a:bodyPr>
          <a:lstStyle/>
          <a:p>
            <a:pPr>
              <a:defRPr sz="1100" b="1">
                <a:solidFill>
                  <a:srgbClr val="F2B705"/>
                </a:solidFill>
              </a:defRPr>
            </a:pPr>
            <a:r>
              <a:t>FORMATIVE YEARS</a:t>
            </a:r>
          </a:p>
          <a:p>
            <a:pPr>
              <a:defRPr sz="2400" b="1">
                <a:solidFill>
                  <a:srgbClr val="FFFFFF"/>
                </a:solidFill>
              </a:defRPr>
            </a:pPr>
            <a:r>
              <a:t>Calamba Roots &amp; Early Foundations</a:t>
            </a:r>
          </a:p>
        </p:txBody>
      </p:sp>
      <p:pic>
        <p:nvPicPr>
          <p:cNvPr id="4" name="!!Content_Image" descr="rizal_youth.png"/>
          <p:cNvPicPr>
            <a:picLocks noChangeAspect="1"/>
          </p:cNvPicPr>
          <p:nvPr/>
        </p:nvPicPr>
        <p:blipFill>
          <a:blip r:embed="rId2"/>
          <a:stretch>
            <a:fillRect/>
          </a:stretch>
        </p:blipFill>
        <p:spPr>
          <a:xfrm>
            <a:off x="731520" y="1645920"/>
            <a:ext cx="5029200" cy="4389120"/>
          </a:xfrm>
          <a:prstGeom prst="rect">
            <a:avLst/>
          </a:prstGeom>
        </p:spPr>
      </p:pic>
      <p:sp>
        <p:nvSpPr>
          <p:cNvPr id="5" name="!!Card_1"/>
          <p:cNvSpPr/>
          <p:nvPr/>
        </p:nvSpPr>
        <p:spPr>
          <a:xfrm>
            <a:off x="6126480" y="1645920"/>
            <a:ext cx="5303520" cy="1280160"/>
          </a:xfrm>
          <a:prstGeom prst="roundRect">
            <a:avLst/>
          </a:prstGeom>
          <a:solidFill>
            <a:srgbClr val="193A62"/>
          </a:solidFill>
          <a:ln w="12700">
            <a:solidFill>
              <a:srgbClr val="F2B70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Nurtured by Doña Teodora</a:t>
            </a:r>
          </a:p>
          <a:p>
            <a:pPr>
              <a:defRPr sz="1050">
                <a:solidFill>
                  <a:srgbClr val="F0F5FF"/>
                </a:solidFill>
              </a:defRPr>
            </a:pPr>
            <a:r>
              <a:t>Rizal's mother served as his first teacher, instilling love for literature and moral courage through the Parable of the Moth.</a:t>
            </a:r>
          </a:p>
        </p:txBody>
      </p:sp>
      <p:sp>
        <p:nvSpPr>
          <p:cNvPr id="6" name="!!Card_2"/>
          <p:cNvSpPr/>
          <p:nvPr/>
        </p:nvSpPr>
        <p:spPr>
          <a:xfrm>
            <a:off x="6126480" y="3108960"/>
            <a:ext cx="5303520" cy="1280160"/>
          </a:xfrm>
          <a:prstGeom prst="roundRect">
            <a:avLst/>
          </a:prstGeom>
          <a:solidFill>
            <a:srgbClr val="193A62"/>
          </a:solidFill>
          <a:ln w="12700">
            <a:solidFill>
              <a:srgbClr val="F2B70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Ancestral Agrarian Heritage</a:t>
            </a:r>
          </a:p>
          <a:p>
            <a:pPr>
              <a:defRPr sz="1050">
                <a:solidFill>
                  <a:srgbClr val="F0F5FF"/>
                </a:solidFill>
              </a:defRPr>
            </a:pPr>
            <a:r>
              <a:t>Growing up in prosperous Calamba exposed Rizal to agrarian disputes between tenant farmers and the Dominican hacienda.</a:t>
            </a:r>
          </a:p>
        </p:txBody>
      </p:sp>
      <p:sp>
        <p:nvSpPr>
          <p:cNvPr id="7" name="!!Card_3"/>
          <p:cNvSpPr/>
          <p:nvPr/>
        </p:nvSpPr>
        <p:spPr>
          <a:xfrm>
            <a:off x="6126480" y="4572000"/>
            <a:ext cx="5303520" cy="1280160"/>
          </a:xfrm>
          <a:prstGeom prst="roundRect">
            <a:avLst/>
          </a:prstGeom>
          <a:solidFill>
            <a:srgbClr val="193A62"/>
          </a:solidFill>
          <a:ln w="12700">
            <a:solidFill>
              <a:srgbClr val="F2B70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The Martyrdom of GOMBURZA</a:t>
            </a:r>
          </a:p>
          <a:p>
            <a:pPr>
              <a:defRPr sz="1050">
                <a:solidFill>
                  <a:srgbClr val="F0F5FF"/>
                </a:solidFill>
              </a:defRPr>
            </a:pPr>
            <a:r>
              <a:t>The tragic 1872 execution of Fathers Gomez, Burgos, and Zamora profoundly awakened young Rizal's national consciousness.</a:t>
            </a:r>
          </a:p>
        </p:txBody>
      </p:sp>
    </p:spTree>
  </p:cSld>
  <p:clrMapOvr>
    <a:masterClrMapping/>
  </p:clrMapOvr>
  <mc:AlternateContent xmlns:mc="http://schemas.openxmlformats.org/markup-compatibility/2006">
    <mc:Choice xmlns:p159="http://schemas.microsoft.com/office/powerpoint/2015/09/main" Requires="p159">
      <p:transition spd="slow" p14:dur="1500">
        <p159:morph option="byObject"/>
      </p:transition>
    </mc:Choice>
    <mc:Fallback>
      <p:transition spd="slow">
        <p:fade/>
      </p:transition>
    </mc:Fallback>
  </mc:AlternateContent>
</p:sld>
</file>

<file path=ppt/slides/slide3.xml><?xml version="1.0" encoding="utf-8"?>
<p:sld xmlns:p14="http://schemas.microsoft.com/office/powerpoint/2010/main"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Hero_Image" descr="rizal_education.png"/>
          <p:cNvPicPr>
            <a:picLocks noChangeAspect="1"/>
          </p:cNvPicPr>
          <p:nvPr/>
        </p:nvPicPr>
        <p:blipFill>
          <a:blip r:embed="rId2"/>
          <a:stretch>
            <a:fillRect/>
          </a:stretch>
        </p:blipFill>
        <p:spPr>
          <a:xfrm>
            <a:off x="731520" y="914400"/>
            <a:ext cx="5029200" cy="5029200"/>
          </a:xfrm>
          <a:prstGeom prst="rect">
            <a:avLst/>
          </a:prstGeom>
        </p:spPr>
      </p:pic>
      <p:sp>
        <p:nvSpPr>
          <p:cNvPr id="4" name="!!Title_Card"/>
          <p:cNvSpPr txBox="1"/>
          <p:nvPr/>
        </p:nvSpPr>
        <p:spPr>
          <a:xfrm>
            <a:off x="6217920" y="2011680"/>
            <a:ext cx="5303520" cy="3200400"/>
          </a:xfrm>
          <a:prstGeom prst="rect">
            <a:avLst/>
          </a:prstGeom>
          <a:noFill/>
        </p:spPr>
        <p:txBody>
          <a:bodyPr wrap="square">
            <a:spAutoFit/>
          </a:bodyPr>
          <a:lstStyle/>
          <a:p>
            <a:pPr>
              <a:defRPr sz="3200" b="1">
                <a:solidFill>
                  <a:srgbClr val="FFFFFF"/>
                </a:solidFill>
              </a:defRPr>
            </a:pPr>
            <a:r>
              <a:t>Scholastic Brilliance in Manila</a:t>
            </a:r>
          </a:p>
          <a:p>
            <a:pPr>
              <a:defRPr sz="1600">
                <a:solidFill>
                  <a:srgbClr val="F2B705"/>
                </a:solidFill>
              </a:defRPr>
            </a:pPr>
            <a:r>
              <a:t>Distinction at Ateneo Municipal &amp; Medical Studies at UST</a:t>
            </a:r>
          </a:p>
        </p:txBody>
      </p:sp>
    </p:spTree>
  </p:cSld>
  <p:clrMapOvr>
    <a:masterClrMapping/>
  </p:clrMapOvr>
  <p:transition spd="med">
    <p:fade/>
  </p:transition>
</p:sld>
</file>

<file path=ppt/slides/slide4.xml><?xml version="1.0" encoding="utf-8"?>
<p:sld xmlns:p14="http://schemas.microsoft.com/office/powerpoint/2010/main"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a:spAutoFit/>
          </a:bodyPr>
          <a:lstStyle/>
          <a:p>
            <a:pPr>
              <a:defRPr sz="1100" b="1">
                <a:solidFill>
                  <a:srgbClr val="F2B705"/>
                </a:solidFill>
              </a:defRPr>
            </a:pPr>
            <a:r>
              <a:t>EXILE &amp; ADVOCACY</a:t>
            </a:r>
          </a:p>
          <a:p>
            <a:pPr>
              <a:defRPr sz="2400" b="1">
                <a:solidFill>
                  <a:srgbClr val="FFFFFF"/>
                </a:solidFill>
              </a:defRPr>
            </a:pPr>
            <a:r>
              <a:t>The Propaganda Movement in Europe</a:t>
            </a:r>
          </a:p>
        </p:txBody>
      </p:sp>
      <p:pic>
        <p:nvPicPr>
          <p:cNvPr id="4" name="!!Content_Image" descr="rizal_europe.png"/>
          <p:cNvPicPr>
            <a:picLocks noChangeAspect="1"/>
          </p:cNvPicPr>
          <p:nvPr/>
        </p:nvPicPr>
        <p:blipFill>
          <a:blip r:embed="rId2"/>
          <a:stretch>
            <a:fillRect/>
          </a:stretch>
        </p:blipFill>
        <p:spPr>
          <a:xfrm>
            <a:off x="731520" y="1645920"/>
            <a:ext cx="5029200" cy="4389120"/>
          </a:xfrm>
          <a:prstGeom prst="rect">
            <a:avLst/>
          </a:prstGeom>
        </p:spPr>
      </p:pic>
      <p:sp>
        <p:nvSpPr>
          <p:cNvPr id="5" name="!!Card_1"/>
          <p:cNvSpPr/>
          <p:nvPr/>
        </p:nvSpPr>
        <p:spPr>
          <a:xfrm>
            <a:off x="6126480" y="1645920"/>
            <a:ext cx="5303520" cy="1280160"/>
          </a:xfrm>
          <a:prstGeom prst="roundRect">
            <a:avLst/>
          </a:prstGeom>
          <a:solidFill>
            <a:srgbClr val="193A62"/>
          </a:solidFill>
          <a:ln w="12700">
            <a:solidFill>
              <a:srgbClr val="F2B70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Writing for La Solidaridad</a:t>
            </a:r>
          </a:p>
          <a:p>
            <a:pPr>
              <a:defRPr sz="1050">
                <a:solidFill>
                  <a:srgbClr val="F0F5FF"/>
                </a:solidFill>
              </a:defRPr>
            </a:pPr>
            <a:r>
              <a:t>Together with Marcelo H. del Pilar and Graciano Lopez Jaena, Rizal campaigned for peaceful reforms and representation in the Spanish Cortes.</a:t>
            </a:r>
          </a:p>
        </p:txBody>
      </p:sp>
      <p:sp>
        <p:nvSpPr>
          <p:cNvPr id="6" name="!!Card_2"/>
          <p:cNvSpPr/>
          <p:nvPr/>
        </p:nvSpPr>
        <p:spPr>
          <a:xfrm>
            <a:off x="6126480" y="3108960"/>
            <a:ext cx="5303520" cy="1280160"/>
          </a:xfrm>
          <a:prstGeom prst="roundRect">
            <a:avLst/>
          </a:prstGeom>
          <a:solidFill>
            <a:srgbClr val="193A62"/>
          </a:solidFill>
          <a:ln w="12700">
            <a:solidFill>
              <a:srgbClr val="F2B70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Annotations of Morga's Sucesos</a:t>
            </a:r>
          </a:p>
          <a:p>
            <a:pPr>
              <a:defRPr sz="1050">
                <a:solidFill>
                  <a:srgbClr val="F0F5FF"/>
                </a:solidFill>
              </a:defRPr>
            </a:pPr>
            <a:r>
              <a:t>Rizal painstakingly transcribed Antonio de Morga's 1609 work in London to prove that pre-colonial Filipinos possessed rich civilization.</a:t>
            </a:r>
          </a:p>
        </p:txBody>
      </p:sp>
      <p:sp>
        <p:nvSpPr>
          <p:cNvPr id="7" name="!!Card_3"/>
          <p:cNvSpPr/>
          <p:nvPr/>
        </p:nvSpPr>
        <p:spPr>
          <a:xfrm>
            <a:off x="6126480" y="4572000"/>
            <a:ext cx="5303520" cy="1280160"/>
          </a:xfrm>
          <a:prstGeom prst="roundRect">
            <a:avLst/>
          </a:prstGeom>
          <a:solidFill>
            <a:srgbClr val="193A62"/>
          </a:solidFill>
          <a:ln w="12700">
            <a:solidFill>
              <a:srgbClr val="F2B70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Polymathic Pursuits</a:t>
            </a:r>
          </a:p>
          <a:p>
            <a:pPr>
              <a:defRPr sz="1050">
                <a:solidFill>
                  <a:srgbClr val="F0F5FF"/>
                </a:solidFill>
              </a:defRPr>
            </a:pPr>
            <a:r>
              <a:t>Mastered over 22 languages while specializing in ophthalmology under Dr. Louis de Wecker in Paris.</a:t>
            </a:r>
          </a:p>
        </p:txBody>
      </p:sp>
    </p:spTree>
  </p:cSld>
  <p:clrMapOvr>
    <a:masterClrMapping/>
  </p:clrMapOvr>
  <mc:AlternateContent xmlns:mc="http://schemas.openxmlformats.org/markup-compatibility/2006">
    <mc:Choice xmlns:p159="http://schemas.microsoft.com/office/powerpoint/2015/09/main" Requires="p159">
      <p:transition spd="slow" p14:dur="1500">
        <p159:morph option="byObject"/>
      </p:transition>
    </mc:Choice>
    <mc:Fallback>
      <p:transition spd="slow">
        <p:fade/>
      </p:transition>
    </mc:Fallback>
  </mc:AlternateContent>
</p:sld>
</file>

<file path=ppt/slides/slide5.xml><?xml version="1.0" encoding="utf-8"?>
<p:sld xmlns:p14="http://schemas.microsoft.com/office/powerpoint/2010/main"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a:spAutoFit/>
          </a:bodyPr>
          <a:lstStyle/>
          <a:p>
            <a:pPr>
              <a:defRPr sz="1100" b="1">
                <a:solidFill>
                  <a:srgbClr val="F2B705"/>
                </a:solidFill>
              </a:defRPr>
            </a:pPr>
            <a:r>
              <a:t>REFORM OBJECTIVES</a:t>
            </a:r>
          </a:p>
          <a:p>
            <a:pPr>
              <a:defRPr sz="2400" b="1">
                <a:solidFill>
                  <a:srgbClr val="FFFFFF"/>
                </a:solidFill>
              </a:defRPr>
            </a:pPr>
            <a:r>
              <a:t>Three Foundations of the Propaganda Movement</a:t>
            </a:r>
          </a:p>
        </p:txBody>
      </p:sp>
      <p:sp>
        <p:nvSpPr>
          <p:cNvPr id="4" name="!!Card_1"/>
          <p:cNvSpPr/>
          <p:nvPr/>
        </p:nvSpPr>
        <p:spPr>
          <a:xfrm>
            <a:off x="731520" y="1645920"/>
            <a:ext cx="3291840" cy="4114800"/>
          </a:xfrm>
          <a:prstGeom prst="roundRect">
            <a:avLst/>
          </a:prstGeom>
          <a:solidFill>
            <a:srgbClr val="193A62"/>
          </a:solidFill>
          <a:ln w="19050">
            <a:solidFill>
              <a:srgbClr val="F2B70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F2B705"/>
                </a:solidFill>
              </a:defRPr>
            </a:pPr>
            <a:r>
              <a:t>1. Equality Before the Law</a:t>
            </a:r>
          </a:p>
          <a:p>
            <a:pPr>
              <a:defRPr sz="1100">
                <a:solidFill>
                  <a:srgbClr val="F0F0F0"/>
                </a:solidFill>
              </a:defRPr>
            </a:pPr>
            <a:r>
              <a:t>Demanding that native Filipinos enjoy identical civil liberties, legal protections, and due process as peninsulares.</a:t>
            </a:r>
          </a:p>
        </p:txBody>
      </p:sp>
      <p:sp>
        <p:nvSpPr>
          <p:cNvPr id="5" name="!!Card_2"/>
          <p:cNvSpPr/>
          <p:nvPr/>
        </p:nvSpPr>
        <p:spPr>
          <a:xfrm>
            <a:off x="4389120" y="1645920"/>
            <a:ext cx="3291840" cy="4114800"/>
          </a:xfrm>
          <a:prstGeom prst="roundRect">
            <a:avLst/>
          </a:prstGeom>
          <a:solidFill>
            <a:srgbClr val="193A62"/>
          </a:solidFill>
          <a:ln w="19050">
            <a:solidFill>
              <a:srgbClr val="F2B70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F2B705"/>
                </a:solidFill>
              </a:defRPr>
            </a:pPr>
            <a:r>
              <a:t>2. Representation in Cortes</a:t>
            </a:r>
          </a:p>
          <a:p>
            <a:pPr>
              <a:defRPr sz="1100">
                <a:solidFill>
                  <a:srgbClr val="F0F0F0"/>
                </a:solidFill>
              </a:defRPr>
            </a:pPr>
            <a:r>
              <a:t>Securing parliamentary representation in Madrid to articulate Philippine economic and social grievances.</a:t>
            </a:r>
          </a:p>
        </p:txBody>
      </p:sp>
      <p:sp>
        <p:nvSpPr>
          <p:cNvPr id="6" name="!!Card_3"/>
          <p:cNvSpPr/>
          <p:nvPr/>
        </p:nvSpPr>
        <p:spPr>
          <a:xfrm>
            <a:off x="8046720" y="1645920"/>
            <a:ext cx="3291840" cy="4114800"/>
          </a:xfrm>
          <a:prstGeom prst="roundRect">
            <a:avLst/>
          </a:prstGeom>
          <a:solidFill>
            <a:srgbClr val="193A62"/>
          </a:solidFill>
          <a:ln w="19050">
            <a:solidFill>
              <a:srgbClr val="F2B70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F2B705"/>
                </a:solidFill>
              </a:defRPr>
            </a:pPr>
            <a:r>
              <a:t>3. Secularization of Parishes</a:t>
            </a:r>
          </a:p>
          <a:p>
            <a:pPr>
              <a:defRPr sz="1100">
                <a:solidFill>
                  <a:srgbClr val="F0F0F0"/>
                </a:solidFill>
              </a:defRPr>
            </a:pPr>
            <a:r>
              <a:t>Ending monastic abuse and transferring parish administration to qualified Filipino secular priests.</a:t>
            </a:r>
          </a:p>
        </p:txBody>
      </p:sp>
    </p:spTree>
  </p:cSld>
  <p:clrMapOvr>
    <a:masterClrMapping/>
  </p:clrMapOvr>
  <p:transition spd="med">
    <p:fade/>
  </p:transition>
</p:sld>
</file>

<file path=ppt/slides/slide6.xml><?xml version="1.0" encoding="utf-8"?>
<p:sld xmlns:p14="http://schemas.microsoft.com/office/powerpoint/2010/main"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a:spAutoFit/>
          </a:bodyPr>
          <a:lstStyle/>
          <a:p>
            <a:pPr>
              <a:defRPr sz="1100" b="1">
                <a:solidFill>
                  <a:srgbClr val="F2B705"/>
                </a:solidFill>
              </a:defRPr>
            </a:pPr>
            <a:r>
              <a:t>LITERARY MASTERPIECE</a:t>
            </a:r>
          </a:p>
          <a:p>
            <a:pPr>
              <a:defRPr sz="2400" b="1">
                <a:solidFill>
                  <a:srgbClr val="FFFFFF"/>
                </a:solidFill>
              </a:defRPr>
            </a:pPr>
            <a:r>
              <a:t>Noli Me Tangere: The Social Cancer</a:t>
            </a:r>
          </a:p>
        </p:txBody>
      </p:sp>
      <p:pic>
        <p:nvPicPr>
          <p:cNvPr id="4" name="!!Content_Image" descr="rizal_noli.png"/>
          <p:cNvPicPr>
            <a:picLocks noChangeAspect="1"/>
          </p:cNvPicPr>
          <p:nvPr/>
        </p:nvPicPr>
        <p:blipFill>
          <a:blip r:embed="rId2"/>
          <a:stretch>
            <a:fillRect/>
          </a:stretch>
        </p:blipFill>
        <p:spPr>
          <a:xfrm>
            <a:off x="731520" y="1645920"/>
            <a:ext cx="5029200" cy="4389120"/>
          </a:xfrm>
          <a:prstGeom prst="rect">
            <a:avLst/>
          </a:prstGeom>
        </p:spPr>
      </p:pic>
      <p:sp>
        <p:nvSpPr>
          <p:cNvPr id="5" name="!!Card_1"/>
          <p:cNvSpPr/>
          <p:nvPr/>
        </p:nvSpPr>
        <p:spPr>
          <a:xfrm>
            <a:off x="6126480" y="1645920"/>
            <a:ext cx="5303520" cy="1280160"/>
          </a:xfrm>
          <a:prstGeom prst="roundRect">
            <a:avLst/>
          </a:prstGeom>
          <a:solidFill>
            <a:srgbClr val="193A62"/>
          </a:solidFill>
          <a:ln w="12700">
            <a:solidFill>
              <a:srgbClr val="F2B70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Published in Berlin (1887)</a:t>
            </a:r>
          </a:p>
          <a:p>
            <a:pPr>
              <a:defRPr sz="1050">
                <a:solidFill>
                  <a:srgbClr val="F0F5FF"/>
                </a:solidFill>
              </a:defRPr>
            </a:pPr>
            <a:r>
              <a:t>Funded through the crucial financial assistance of his dear friend Dr. Maximo Viola.</a:t>
            </a:r>
          </a:p>
        </p:txBody>
      </p:sp>
      <p:sp>
        <p:nvSpPr>
          <p:cNvPr id="6" name="!!Card_2"/>
          <p:cNvSpPr/>
          <p:nvPr/>
        </p:nvSpPr>
        <p:spPr>
          <a:xfrm>
            <a:off x="6126480" y="3108960"/>
            <a:ext cx="5303520" cy="1280160"/>
          </a:xfrm>
          <a:prstGeom prst="roundRect">
            <a:avLst/>
          </a:prstGeom>
          <a:solidFill>
            <a:srgbClr val="193A62"/>
          </a:solidFill>
          <a:ln w="12700">
            <a:solidFill>
              <a:srgbClr val="F2B70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Diagnosing Colonial Affliction</a:t>
            </a:r>
          </a:p>
          <a:p>
            <a:pPr>
              <a:defRPr sz="1050">
                <a:solidFill>
                  <a:srgbClr val="F0F5FF"/>
                </a:solidFill>
              </a:defRPr>
            </a:pPr>
            <a:r>
              <a:t>Through characters like Crisostomo Ibarra, Maria Clara, and Padre Damaso, Rizal unmasked clerical abuse and colonial hypocrisy.</a:t>
            </a:r>
          </a:p>
        </p:txBody>
      </p:sp>
      <p:sp>
        <p:nvSpPr>
          <p:cNvPr id="7" name="!!Card_3"/>
          <p:cNvSpPr/>
          <p:nvPr/>
        </p:nvSpPr>
        <p:spPr>
          <a:xfrm>
            <a:off x="6126480" y="4572000"/>
            <a:ext cx="5303520" cy="1280160"/>
          </a:xfrm>
          <a:prstGeom prst="roundRect">
            <a:avLst/>
          </a:prstGeom>
          <a:solidFill>
            <a:srgbClr val="193A62"/>
          </a:solidFill>
          <a:ln w="12700">
            <a:solidFill>
              <a:srgbClr val="F2B70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The Awakening of Elias</a:t>
            </a:r>
          </a:p>
          <a:p>
            <a:pPr>
              <a:defRPr sz="1050">
                <a:solidFill>
                  <a:srgbClr val="F0F5FF"/>
                </a:solidFill>
              </a:defRPr>
            </a:pPr>
            <a:r>
              <a:t>Introduced the voice of the oppressed masses who demanded radical liberation from systemic tyranny.</a:t>
            </a:r>
          </a:p>
        </p:txBody>
      </p:sp>
    </p:spTree>
  </p:cSld>
  <p:clrMapOvr>
    <a:masterClrMapping/>
  </p:clrMapOvr>
  <p:transition spd="med">
    <p:fade/>
  </p:transition>
</p:sld>
</file>

<file path=ppt/slides/slide7.xml><?xml version="1.0" encoding="utf-8"?>
<p:sld xmlns:p14="http://schemas.microsoft.com/office/powerpoint/2010/main"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Hero_Image" descr="rizal_fili.png"/>
          <p:cNvPicPr>
            <a:picLocks noChangeAspect="1"/>
          </p:cNvPicPr>
          <p:nvPr/>
        </p:nvPicPr>
        <p:blipFill>
          <a:blip r:embed="rId2"/>
          <a:stretch>
            <a:fillRect/>
          </a:stretch>
        </p:blipFill>
        <p:spPr>
          <a:xfrm>
            <a:off x="731520" y="914400"/>
            <a:ext cx="5029200" cy="5029200"/>
          </a:xfrm>
          <a:prstGeom prst="rect">
            <a:avLst/>
          </a:prstGeom>
        </p:spPr>
      </p:pic>
      <p:sp>
        <p:nvSpPr>
          <p:cNvPr id="4" name="!!Title_Card"/>
          <p:cNvSpPr txBox="1"/>
          <p:nvPr/>
        </p:nvSpPr>
        <p:spPr>
          <a:xfrm>
            <a:off x="6217920" y="2011680"/>
            <a:ext cx="5303520" cy="3200400"/>
          </a:xfrm>
          <a:prstGeom prst="rect">
            <a:avLst/>
          </a:prstGeom>
          <a:noFill/>
        </p:spPr>
        <p:txBody>
          <a:bodyPr wrap="square">
            <a:spAutoFit/>
          </a:bodyPr>
          <a:lstStyle/>
          <a:p>
            <a:pPr>
              <a:defRPr sz="3200" b="1">
                <a:solidFill>
                  <a:srgbClr val="FFFFFF"/>
                </a:solidFill>
              </a:defRPr>
            </a:pPr>
            <a:r>
              <a:t>El Filibusterismo: The Subversive</a:t>
            </a:r>
          </a:p>
          <a:p>
            <a:pPr>
              <a:defRPr sz="1600">
                <a:solidFill>
                  <a:srgbClr val="F2B705"/>
                </a:solidFill>
              </a:defRPr>
            </a:pPr>
            <a:r>
              <a:t>Ghent (1891): Simoun and the Approaching Revolutionary Tempest</a:t>
            </a:r>
          </a:p>
        </p:txBody>
      </p:sp>
    </p:spTree>
  </p:cSld>
  <p:clrMapOvr>
    <a:masterClrMapping/>
  </p:clrMapOvr>
  <mc:AlternateContent xmlns:mc="http://schemas.openxmlformats.org/markup-compatibility/2006">
    <mc:Choice xmlns:p159="http://schemas.microsoft.com/office/powerpoint/2015/09/main" Requires="p159">
      <p:transition spd="slow" p14:dur="1500">
        <p159:morph option="byObject"/>
      </p:transition>
    </mc:Choice>
    <mc:Fallback>
      <p:transition spd="slow">
        <p:fade/>
      </p:transition>
    </mc:Fallback>
  </mc:AlternateContent>
</p:sld>
</file>

<file path=ppt/slides/slide8.xml><?xml version="1.0" encoding="utf-8"?>
<p:sld xmlns:p14="http://schemas.microsoft.com/office/powerpoint/2010/main"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a:spAutoFit/>
          </a:bodyPr>
          <a:lstStyle/>
          <a:p>
            <a:pPr>
              <a:defRPr sz="1100" b="1">
                <a:solidFill>
                  <a:srgbClr val="F2B705"/>
                </a:solidFill>
              </a:defRPr>
            </a:pPr>
            <a:r>
              <a:t>CIVIC LEADERSHIP</a:t>
            </a:r>
          </a:p>
          <a:p>
            <a:pPr>
              <a:defRPr sz="2400" b="1">
                <a:solidFill>
                  <a:srgbClr val="FFFFFF"/>
                </a:solidFill>
              </a:defRPr>
            </a:pPr>
            <a:r>
              <a:t>Exile, Science, &amp; Community in Dapitan</a:t>
            </a:r>
          </a:p>
        </p:txBody>
      </p:sp>
      <p:pic>
        <p:nvPicPr>
          <p:cNvPr id="4" name="!!Content_Image" descr="rizal_dapitan.png"/>
          <p:cNvPicPr>
            <a:picLocks noChangeAspect="1"/>
          </p:cNvPicPr>
          <p:nvPr/>
        </p:nvPicPr>
        <p:blipFill>
          <a:blip r:embed="rId2"/>
          <a:stretch>
            <a:fillRect/>
          </a:stretch>
        </p:blipFill>
        <p:spPr>
          <a:xfrm>
            <a:off x="731520" y="1645920"/>
            <a:ext cx="5029200" cy="4389120"/>
          </a:xfrm>
          <a:prstGeom prst="rect">
            <a:avLst/>
          </a:prstGeom>
        </p:spPr>
      </p:pic>
      <p:sp>
        <p:nvSpPr>
          <p:cNvPr id="5" name="!!Card_1"/>
          <p:cNvSpPr/>
          <p:nvPr/>
        </p:nvSpPr>
        <p:spPr>
          <a:xfrm>
            <a:off x="6126480" y="1645920"/>
            <a:ext cx="5303520" cy="1280160"/>
          </a:xfrm>
          <a:prstGeom prst="roundRect">
            <a:avLst/>
          </a:prstGeom>
          <a:solidFill>
            <a:srgbClr val="193A62"/>
          </a:solidFill>
          <a:ln w="12700">
            <a:solidFill>
              <a:srgbClr val="F2B70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Civic Engineer &amp; Educator</a:t>
            </a:r>
          </a:p>
          <a:p>
            <a:pPr>
              <a:defRPr sz="1050">
                <a:solidFill>
                  <a:srgbClr val="F0F5FF"/>
                </a:solidFill>
              </a:defRPr>
            </a:pPr>
            <a:r>
              <a:t>Constructed a town waterworks system, established a school for local youth, and introduced modern agriculture.</a:t>
            </a:r>
          </a:p>
        </p:txBody>
      </p:sp>
      <p:sp>
        <p:nvSpPr>
          <p:cNvPr id="6" name="!!Card_2"/>
          <p:cNvSpPr/>
          <p:nvPr/>
        </p:nvSpPr>
        <p:spPr>
          <a:xfrm>
            <a:off x="6126480" y="3108960"/>
            <a:ext cx="5303520" cy="1280160"/>
          </a:xfrm>
          <a:prstGeom prst="roundRect">
            <a:avLst/>
          </a:prstGeom>
          <a:solidFill>
            <a:srgbClr val="193A62"/>
          </a:solidFill>
          <a:ln w="12700">
            <a:solidFill>
              <a:srgbClr val="F2B70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Biological Discoveries</a:t>
            </a:r>
          </a:p>
          <a:p>
            <a:pPr>
              <a:defRPr sz="1050">
                <a:solidFill>
                  <a:srgbClr val="F0F5FF"/>
                </a:solidFill>
              </a:defRPr>
            </a:pPr>
            <a:r>
              <a:t>Collected rare specimens, discovering Draco rizali (flying lizard) and Apogonia rizali (beetle).</a:t>
            </a:r>
          </a:p>
        </p:txBody>
      </p:sp>
      <p:sp>
        <p:nvSpPr>
          <p:cNvPr id="7" name="!!Card_3"/>
          <p:cNvSpPr/>
          <p:nvPr/>
        </p:nvSpPr>
        <p:spPr>
          <a:xfrm>
            <a:off x="6126480" y="4572000"/>
            <a:ext cx="5303520" cy="1280160"/>
          </a:xfrm>
          <a:prstGeom prst="roundRect">
            <a:avLst/>
          </a:prstGeom>
          <a:solidFill>
            <a:srgbClr val="193A62"/>
          </a:solidFill>
          <a:ln w="12700">
            <a:solidFill>
              <a:srgbClr val="F2B70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Model Community Development</a:t>
            </a:r>
          </a:p>
          <a:p>
            <a:pPr>
              <a:defRPr sz="1050">
                <a:solidFill>
                  <a:srgbClr val="F0F5FF"/>
                </a:solidFill>
              </a:defRPr>
            </a:pPr>
            <a:r>
              <a:t>Demonstrated that true nation-building starts with grassroots public health, education, and economic cooperatives.</a:t>
            </a:r>
          </a:p>
        </p:txBody>
      </p:sp>
    </p:spTree>
  </p:cSld>
  <p:clrMapOvr>
    <a:masterClrMapping/>
  </p:clrMapOvr>
  <p:transition spd="med">
    <p:fade/>
  </p:transition>
</p:sld>
</file>

<file path=ppt/slides/slide9.xml><?xml version="1.0" encoding="utf-8"?>
<p:sld xmlns:p14="http://schemas.microsoft.com/office/powerpoint/2010/main"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a:spAutoFit/>
          </a:bodyPr>
          <a:lstStyle/>
          <a:p>
            <a:pPr>
              <a:defRPr sz="1100" b="1">
                <a:solidFill>
                  <a:srgbClr val="F2B705"/>
                </a:solidFill>
              </a:defRPr>
            </a:pPr>
            <a:r>
              <a:t>MODERN RELEVANCE</a:t>
            </a:r>
          </a:p>
          <a:p>
            <a:pPr>
              <a:defRPr sz="2400" b="1">
                <a:solidFill>
                  <a:srgbClr val="FFFFFF"/>
                </a:solidFill>
              </a:defRPr>
            </a:pPr>
            <a:r>
              <a:t>Core Lessons from Rizal for BSIT Students</a:t>
            </a:r>
          </a:p>
        </p:txBody>
      </p:sp>
      <p:sp>
        <p:nvSpPr>
          <p:cNvPr id="4" name="!!Card_1"/>
          <p:cNvSpPr/>
          <p:nvPr/>
        </p:nvSpPr>
        <p:spPr>
          <a:xfrm>
            <a:off x="731520" y="1645920"/>
            <a:ext cx="3291840" cy="4114800"/>
          </a:xfrm>
          <a:prstGeom prst="roundRect">
            <a:avLst/>
          </a:prstGeom>
          <a:solidFill>
            <a:srgbClr val="193A62"/>
          </a:solidFill>
          <a:ln w="19050">
            <a:solidFill>
              <a:srgbClr val="F2B70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F2B705"/>
                </a:solidFill>
              </a:defRPr>
            </a:pPr>
            <a:r>
              <a:t>1. Excellence in Craft</a:t>
            </a:r>
          </a:p>
          <a:p>
            <a:pPr>
              <a:defRPr sz="1100">
                <a:solidFill>
                  <a:srgbClr val="F0F0F0"/>
                </a:solidFill>
              </a:defRPr>
            </a:pPr>
            <a:r>
              <a:t>Rizal dedicated himself to world-class mastery in medicine, writing, and linguistics. We must bring equal dedication to technology.</a:t>
            </a:r>
          </a:p>
        </p:txBody>
      </p:sp>
      <p:sp>
        <p:nvSpPr>
          <p:cNvPr id="5" name="!!Card_2"/>
          <p:cNvSpPr/>
          <p:nvPr/>
        </p:nvSpPr>
        <p:spPr>
          <a:xfrm>
            <a:off x="4389120" y="1645920"/>
            <a:ext cx="3291840" cy="4114800"/>
          </a:xfrm>
          <a:prstGeom prst="roundRect">
            <a:avLst/>
          </a:prstGeom>
          <a:solidFill>
            <a:srgbClr val="193A62"/>
          </a:solidFill>
          <a:ln w="19050">
            <a:solidFill>
              <a:srgbClr val="F2B70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F2B705"/>
                </a:solidFill>
              </a:defRPr>
            </a:pPr>
            <a:r>
              <a:t>2. Civic Tech Innovation</a:t>
            </a:r>
          </a:p>
          <a:p>
            <a:pPr>
              <a:defRPr sz="1100">
                <a:solidFill>
                  <a:srgbClr val="F0F0F0"/>
                </a:solidFill>
              </a:defRPr>
            </a:pPr>
            <a:r>
              <a:t>Using digital tools to solve tangible community problems, echoing Rizal's hydraulic engineering in Dapitan.</a:t>
            </a:r>
          </a:p>
        </p:txBody>
      </p:sp>
      <p:sp>
        <p:nvSpPr>
          <p:cNvPr id="6" name="!!Card_3"/>
          <p:cNvSpPr/>
          <p:nvPr/>
        </p:nvSpPr>
        <p:spPr>
          <a:xfrm>
            <a:off x="8046720" y="1645920"/>
            <a:ext cx="3291840" cy="4114800"/>
          </a:xfrm>
          <a:prstGeom prst="roundRect">
            <a:avLst/>
          </a:prstGeom>
          <a:solidFill>
            <a:srgbClr val="193A62"/>
          </a:solidFill>
          <a:ln w="19050">
            <a:solidFill>
              <a:srgbClr val="F2B70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F2B705"/>
                </a:solidFill>
              </a:defRPr>
            </a:pPr>
            <a:r>
              <a:t>3. Ethical Responsibility</a:t>
            </a:r>
          </a:p>
          <a:p>
            <a:pPr>
              <a:defRPr sz="1100">
                <a:solidFill>
                  <a:srgbClr val="F0F0F0"/>
                </a:solidFill>
              </a:defRPr>
            </a:pPr>
            <a:r>
              <a:t>Recognizing that technological expertise carries a patriotic duty to defend truth, privacy, and social equity.</a:t>
            </a:r>
          </a:p>
        </p:txBody>
      </p:sp>
    </p:spTree>
  </p:cSld>
  <p:clrMapOvr>
    <a:masterClrMapping/>
  </p:clrMapOvr>
  <mc:AlternateContent xmlns:mc="http://schemas.openxmlformats.org/markup-compatibility/2006">
    <mc:Choice xmlns:p159="http://schemas.microsoft.com/office/powerpoint/2015/09/main" Requires="p159">
      <p:transition spd="slow" p14:dur="1500">
        <p159:morph option="byObject"/>
      </p:transition>
    </mc:Choice>
    <mc:Fallback>
      <p:transition spd="slow">
        <p:fade/>
      </p:transition>
    </mc:Fallback>
  </mc:AlternateContent>
</p:sld>
</file>

<file path=ppt/slides/slide10.xml><?xml version="1.0" encoding="utf-8"?>
<p:sld xmlns:p14="http://schemas.microsoft.com/office/powerpoint/2010/main"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a:spAutoFit/>
          </a:bodyPr>
          <a:lstStyle/>
          <a:p>
            <a:pPr>
              <a:defRPr sz="1100" b="1">
                <a:solidFill>
                  <a:srgbClr val="F2B705"/>
                </a:solidFill>
              </a:defRPr>
            </a:pPr>
            <a:r>
              <a:t>TIMELINE</a:t>
            </a:r>
          </a:p>
          <a:p>
            <a:pPr>
              <a:defRPr sz="2400" b="1">
                <a:solidFill>
                  <a:srgbClr val="FFFFFF"/>
                </a:solidFill>
              </a:defRPr>
            </a:pPr>
            <a:r>
              <a:t>Historical Chronology &amp; Milestones</a:t>
            </a:r>
          </a:p>
        </p:txBody>
      </p:sp>
      <p:sp>
        <p:nvSpPr>
          <p:cNvPr id="4" name="!!Card_1"/>
          <p:cNvSpPr/>
          <p:nvPr/>
        </p:nvSpPr>
        <p:spPr>
          <a:xfrm>
            <a:off x="731520" y="1645920"/>
            <a:ext cx="3291840" cy="4114800"/>
          </a:xfrm>
          <a:prstGeom prst="roundRect">
            <a:avLst/>
          </a:prstGeom>
          <a:solidFill>
            <a:srgbClr val="193A62"/>
          </a:solidFill>
          <a:ln w="19050">
            <a:solidFill>
              <a:srgbClr val="F2B70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F2B705"/>
                </a:solidFill>
              </a:defRPr>
            </a:pPr>
            <a:r>
              <a:t>1861 – Birth in Calamba</a:t>
            </a:r>
          </a:p>
          <a:p>
            <a:pPr>
              <a:defRPr sz="1100">
                <a:solidFill>
                  <a:srgbClr val="F0F0F0"/>
                </a:solidFill>
              </a:defRPr>
            </a:pPr>
            <a:r>
              <a:t>Born on June 19, 1861, the seventh child of Francisco Mercado and Teodora Alonso.</a:t>
            </a:r>
          </a:p>
        </p:txBody>
      </p:sp>
      <p:sp>
        <p:nvSpPr>
          <p:cNvPr id="5" name="!!Card_2"/>
          <p:cNvSpPr/>
          <p:nvPr/>
        </p:nvSpPr>
        <p:spPr>
          <a:xfrm>
            <a:off x="4389120" y="1645920"/>
            <a:ext cx="3291840" cy="4114800"/>
          </a:xfrm>
          <a:prstGeom prst="roundRect">
            <a:avLst/>
          </a:prstGeom>
          <a:solidFill>
            <a:srgbClr val="193A62"/>
          </a:solidFill>
          <a:ln w="19050">
            <a:solidFill>
              <a:srgbClr val="F2B70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F2B705"/>
                </a:solidFill>
              </a:defRPr>
            </a:pPr>
            <a:r>
              <a:t>1887 – Publication of Noli</a:t>
            </a:r>
          </a:p>
          <a:p>
            <a:pPr>
              <a:defRPr sz="1100">
                <a:solidFill>
                  <a:srgbClr val="F0F0F0"/>
                </a:solidFill>
              </a:defRPr>
            </a:pPr>
            <a:r>
              <a:t>Berlin printing initiates the irreversible intellectual awakening of the Philippine archipelago.</a:t>
            </a:r>
          </a:p>
        </p:txBody>
      </p:sp>
      <p:sp>
        <p:nvSpPr>
          <p:cNvPr id="6" name="!!Card_3"/>
          <p:cNvSpPr/>
          <p:nvPr/>
        </p:nvSpPr>
        <p:spPr>
          <a:xfrm>
            <a:off x="8046720" y="1645920"/>
            <a:ext cx="3291840" cy="4114800"/>
          </a:xfrm>
          <a:prstGeom prst="roundRect">
            <a:avLst/>
          </a:prstGeom>
          <a:solidFill>
            <a:srgbClr val="193A62"/>
          </a:solidFill>
          <a:ln w="19050">
            <a:solidFill>
              <a:srgbClr val="F2B70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F2B705"/>
                </a:solidFill>
              </a:defRPr>
            </a:pPr>
            <a:r>
              <a:t>1896 – Martyrdom at Bagumbayan</a:t>
            </a:r>
          </a:p>
          <a:p>
            <a:pPr>
              <a:defRPr sz="1100">
                <a:solidFill>
                  <a:srgbClr val="F0F0F0"/>
                </a:solidFill>
              </a:defRPr>
            </a:pPr>
            <a:r>
              <a:t>Executed on December 30, 1896; his death ignited the ultimate triumph of the Philippine Revolution.</a:t>
            </a:r>
          </a:p>
        </p:txBody>
      </p:sp>
    </p:spTree>
  </p:cSld>
  <p:clrMapOvr>
    <a:masterClrMapping/>
  </p:clrMapOvr>
  <p:transition spd="med">
    <p:fade/>
  </p:transition>
</p:sld>
</file>

<file path=ppt/slides/slide11.xml><?xml version="1.0" encoding="utf-8"?>
<p:sld xmlns:p14="http://schemas.microsoft.com/office/powerpoint/2010/main"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Hero_Image" descr="rizal_closing.png"/>
          <p:cNvPicPr>
            <a:picLocks noChangeAspect="1"/>
          </p:cNvPicPr>
          <p:nvPr/>
        </p:nvPicPr>
        <p:blipFill>
          <a:blip r:embed="rId2"/>
          <a:stretch>
            <a:fillRect/>
          </a:stretch>
        </p:blipFill>
        <p:spPr>
          <a:xfrm>
            <a:off x="6217920" y="731520"/>
            <a:ext cx="5303520" cy="5394960"/>
          </a:xfrm>
          <a:prstGeom prst="rect">
            <a:avLst/>
          </a:prstGeom>
        </p:spPr>
      </p:pic>
      <p:sp>
        <p:nvSpPr>
          <p:cNvPr id="4" name="!!Title_Card"/>
          <p:cNvSpPr txBox="1"/>
          <p:nvPr/>
        </p:nvSpPr>
        <p:spPr>
          <a:xfrm>
            <a:off x="731520" y="1463040"/>
            <a:ext cx="5303520" cy="4114800"/>
          </a:xfrm>
          <a:prstGeom prst="rect">
            <a:avLst/>
          </a:prstGeom>
          <a:noFill/>
        </p:spPr>
        <p:txBody>
          <a:bodyPr wrap="square">
            <a:spAutoFit/>
          </a:bodyPr>
          <a:lstStyle/>
          <a:p>
            <a:pPr>
              <a:defRPr sz="3200" b="1">
                <a:solidFill>
                  <a:srgbClr val="FFFFFF"/>
                </a:solidFill>
              </a:defRPr>
            </a:pPr>
            <a:r>
              <a:t>The Immortal Legacy of Jose Rizal</a:t>
            </a:r>
          </a:p>
          <a:p>
            <a:pPr>
              <a:defRPr sz="1400">
                <a:solidFill>
                  <a:srgbClr val="F2B705"/>
                </a:solidFill>
              </a:defRPr>
            </a:pPr>
            <a:r>
              <a:t>The Youth is the Hope of the Fatherland</a:t>
            </a:r>
          </a:p>
          <a:p>
            <a:br/>
            <a:pPr>
              <a:defRPr sz="1000">
                <a:solidFill>
                  <a:srgbClr val="96AABE"/>
                </a:solidFill>
              </a:defRPr>
            </a:pPr>
            <a:r>
              <a:t>Image &amp; Academic Credits:</a:t>
            </a:r>
            <a:br/>
            <a:r>
              <a:t>• Visual Assets: Custom 3D renders &amp; high-res vector graphics.</a:t>
            </a:r>
            <a:br/>
            <a:r>
              <a:t>• Research Citations: APA 7th academic standards.</a:t>
            </a:r>
            <a:br/>
            <a:r>
              <a:t>• STI West Negros University • BSIT Program 2026–2027</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