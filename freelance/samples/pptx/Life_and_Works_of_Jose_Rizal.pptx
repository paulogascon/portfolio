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Magandang araw. Today we explore the extraordinary life, literary masterpieces, and enduring patriotic legacy of Dr. Jose Protacio Rizal Mercado y Alonso Realonda.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Rizal's intellect was fostered in Calamba. The unjust execution of Gomburza in 1872, when Rizal was just eleven years old, dedicated his life to avenging the victims of colonial injustice.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Rizal's academic journey took him to Ateneo Municipal where he graduated with highest honors, followed by medical studies at the University of Santo Tomas.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Europe, Rizal proved Filipino equality through intellectual rigor. His annotations of Morga's history destroyed the colonial myth that the Philippines was uncivilized prior to Spanish arrival.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demands formed the bedrock of the peaceful reform movement, demonstrating Rizal's belief in legal enlightenment before armed struggle.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Noli Me Tangere was a literary bombshell. By diagnosing the social cancer of the colony, Rizal forced Spaniards and Filipinos alike to confront the realities of oppression.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years later, Rizal published El Filibusterismo in Ghent, Belgium, aided by Valentin Ventura. The tone shifts from romantic idealism to dark revolutionary reckoning.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his four-year exile in Dapitan, Rizal exemplified practical patriotism. He did not languish in despair; he built schools, water systems, and treated impoverished patients for free.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Rizal's life reminds modern IT students that technical skill without moral courage and civic devotion is empty. We are called to be digital builders for the 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chronology traces Rizal's 35 years of purposeful life. His martyrdom sealed the fate of the Spanish empire in Asia and catalyzed the birth of the first democratic republic in the region.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Rizal left us with the immortal charge: 'Where is the youth who will consecrate their golden hours to the welfare of their native land?' As STI students, let us honor that call.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1200" b="1">
                <a:solidFill>
                  <a:srgbClr val="F2B705"/>
                </a:solidFill>
              </a:defRPr>
            </a:pPr>
            <a:r>
              <a:t>PHILIPPINE HISTORY &amp; GOVERNANCE</a:t>
            </a:r>
          </a:p>
          <a:p>
            <a:pPr>
              <a:defRPr sz="3600" b="1">
                <a:solidFill>
                  <a:srgbClr val="FFFFFF"/>
                </a:solidFill>
              </a:defRPr>
            </a:pPr>
            <a:r>
              <a:t>The Life and Works of Jose Rizal</a:t>
            </a:r>
          </a:p>
          <a:p>
            <a:pPr>
              <a:defRPr sz="1500">
                <a:solidFill>
                  <a:srgbClr val="B4C8DC"/>
                </a:solidFill>
              </a:defRPr>
            </a:pPr>
            <a:r>
              <a:t>Nationalism, Literary Genius, and the Awakening of the Filipino Consciousness</a:t>
            </a:r>
          </a:p>
          <a:p>
            <a:br/>
            <a:pPr>
              <a:defRPr sz="1100">
                <a:solidFill>
                  <a:srgbClr val="8CA0B4"/>
                </a:solidFill>
              </a:defRPr>
            </a:pPr>
            <a:r>
              <a:t>Presenter: Jhon Paulo Gascon • STI West Negros University</a:t>
            </a:r>
          </a:p>
        </p:txBody>
      </p:sp>
    </p:spTree>
  </p:cSld>
  <p:clrMapOvr>
    <a:masterClrMapping/>
  </p:clrMapOvr>
  <p:transition spd="med">
    <p:fade/>
  </p:transition>
</p:sld>
</file>

<file path=ppt/slides/slide2.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FORMATIVE YEARS</a:t>
            </a:r>
          </a:p>
          <a:p>
            <a:pPr>
              <a:defRPr sz="2400" b="1">
                <a:solidFill>
                  <a:srgbClr val="FFFFFF"/>
                </a:solidFill>
              </a:defRPr>
            </a:pPr>
            <a:r>
              <a:t>Calamba Roots &amp; Early Foundations</a:t>
            </a:r>
          </a:p>
        </p:txBody>
      </p:sp>
      <p:pic>
        <p:nvPicPr>
          <p:cNvPr id="4" name="!!Content_Image" descr="rizal_youth.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Nurtured by Doña Teodora</a:t>
            </a:r>
          </a:p>
          <a:p>
            <a:pPr>
              <a:defRPr sz="1050">
                <a:solidFill>
                  <a:srgbClr val="F0F5FF"/>
                </a:solidFill>
              </a:defRPr>
            </a:pPr>
            <a:r>
              <a:t>Rizal's mother served as his first teacher, instilling love for literature and moral courage through the Parable of the Moth.</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Ancestral Agrarian Heritage</a:t>
            </a:r>
          </a:p>
          <a:p>
            <a:pPr>
              <a:defRPr sz="1050">
                <a:solidFill>
                  <a:srgbClr val="F0F5FF"/>
                </a:solidFill>
              </a:defRPr>
            </a:pPr>
            <a:r>
              <a:t>Growing up in prosperous Calamba exposed Rizal to agrarian disputes between tenant farmers and the Dominican hacienda.</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The Martyrdom of GOMBURZA</a:t>
            </a:r>
          </a:p>
          <a:p>
            <a:pPr>
              <a:defRPr sz="1050">
                <a:solidFill>
                  <a:srgbClr val="F0F5FF"/>
                </a:solidFill>
              </a:defRPr>
            </a:pPr>
            <a:r>
              <a:t>The tragic 1872 execution of Fathers Gomez, Burgos, and Zamora profoundly awakened young Rizal's national consciousness.</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3.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education.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Scholastic Brilliance in Manila</a:t>
            </a:r>
          </a:p>
          <a:p>
            <a:pPr>
              <a:defRPr sz="1600">
                <a:solidFill>
                  <a:srgbClr val="F2B705"/>
                </a:solidFill>
              </a:defRPr>
            </a:pPr>
            <a:r>
              <a:t>Distinction at Ateneo Municipal &amp; Medical Studies at UST</a:t>
            </a:r>
          </a:p>
        </p:txBody>
      </p:sp>
    </p:spTree>
  </p:cSld>
  <p:clrMapOvr>
    <a:masterClrMapping/>
  </p:clrMapOvr>
  <p:transition spd="med">
    <p:fade/>
  </p:transition>
</p:sld>
</file>

<file path=ppt/slides/slide4.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EXILE &amp; ADVOCACY</a:t>
            </a:r>
          </a:p>
          <a:p>
            <a:pPr>
              <a:defRPr sz="2400" b="1">
                <a:solidFill>
                  <a:srgbClr val="FFFFFF"/>
                </a:solidFill>
              </a:defRPr>
            </a:pPr>
            <a:r>
              <a:t>The Propaganda Movement in Europe</a:t>
            </a:r>
          </a:p>
        </p:txBody>
      </p:sp>
      <p:pic>
        <p:nvPicPr>
          <p:cNvPr id="4" name="!!Content_Image" descr="rizal_europ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Writing for La Solidaridad</a:t>
            </a:r>
          </a:p>
          <a:p>
            <a:pPr>
              <a:defRPr sz="1050">
                <a:solidFill>
                  <a:srgbClr val="F0F5FF"/>
                </a:solidFill>
              </a:defRPr>
            </a:pPr>
            <a:r>
              <a:t>Together with Marcelo H. del Pilar and Graciano Lopez Jaena, Rizal campaigned for peaceful reforms and representation in the Spanish Cortes.</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Annotations of Morga's Sucesos</a:t>
            </a:r>
          </a:p>
          <a:p>
            <a:pPr>
              <a:defRPr sz="1050">
                <a:solidFill>
                  <a:srgbClr val="F0F5FF"/>
                </a:solidFill>
              </a:defRPr>
            </a:pPr>
            <a:r>
              <a:t>Rizal painstakingly transcribed Antonio de Morga's 1609 work in London to prove that pre-colonial Filipinos possessed rich civilization.</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Polymathic Pursuits</a:t>
            </a:r>
          </a:p>
          <a:p>
            <a:pPr>
              <a:defRPr sz="1050">
                <a:solidFill>
                  <a:srgbClr val="F0F5FF"/>
                </a:solidFill>
              </a:defRPr>
            </a:pPr>
            <a:r>
              <a:t>Mastered over 22 languages while specializing in ophthalmology under Dr. Louis de Wecker in Paris.</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5.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REFORM OBJECTIVES</a:t>
            </a:r>
          </a:p>
          <a:p>
            <a:pPr>
              <a:defRPr sz="2400" b="1">
                <a:solidFill>
                  <a:srgbClr val="FFFFFF"/>
                </a:solidFill>
              </a:defRPr>
            </a:pPr>
            <a:r>
              <a:t>Three Foundations of the Propaganda Movement</a:t>
            </a:r>
          </a:p>
        </p:txBody>
      </p:sp>
      <p:sp>
        <p:nvSpPr>
          <p:cNvPr id="4" name="!!Card_1"/>
          <p:cNvSpPr/>
          <p:nvPr/>
        </p:nvSpPr>
        <p:spPr>
          <a:xfrm>
            <a:off x="7315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 Equality Before the Law</a:t>
            </a:r>
          </a:p>
          <a:p>
            <a:pPr>
              <a:defRPr sz="1100">
                <a:solidFill>
                  <a:srgbClr val="F0F0F0"/>
                </a:solidFill>
              </a:defRPr>
            </a:pPr>
            <a:r>
              <a:t>Demanding that native Filipinos enjoy identical civil liberties, legal protections, and due process as peninsulares.</a:t>
            </a:r>
          </a:p>
        </p:txBody>
      </p:sp>
      <p:sp>
        <p:nvSpPr>
          <p:cNvPr id="5" name="!!Card_2"/>
          <p:cNvSpPr/>
          <p:nvPr/>
        </p:nvSpPr>
        <p:spPr>
          <a:xfrm>
            <a:off x="43891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2. Representation in Cortes</a:t>
            </a:r>
          </a:p>
          <a:p>
            <a:pPr>
              <a:defRPr sz="1100">
                <a:solidFill>
                  <a:srgbClr val="F0F0F0"/>
                </a:solidFill>
              </a:defRPr>
            </a:pPr>
            <a:r>
              <a:t>Securing parliamentary representation in Madrid to articulate Philippine economic and social grievances.</a:t>
            </a:r>
          </a:p>
        </p:txBody>
      </p:sp>
      <p:sp>
        <p:nvSpPr>
          <p:cNvPr id="6" name="!!Card_3"/>
          <p:cNvSpPr/>
          <p:nvPr/>
        </p:nvSpPr>
        <p:spPr>
          <a:xfrm>
            <a:off x="80467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3. Secularization of Parishes</a:t>
            </a:r>
          </a:p>
          <a:p>
            <a:pPr>
              <a:defRPr sz="1100">
                <a:solidFill>
                  <a:srgbClr val="F0F0F0"/>
                </a:solidFill>
              </a:defRPr>
            </a:pPr>
            <a:r>
              <a:t>Ending monastic abuse and transferring parish administration to qualified Filipino secular priests.</a:t>
            </a:r>
          </a:p>
        </p:txBody>
      </p:sp>
    </p:spTree>
  </p:cSld>
  <p:clrMapOvr>
    <a:masterClrMapping/>
  </p:clrMapOvr>
  <p:transition spd="med">
    <p:fade/>
  </p:transition>
</p:sld>
</file>

<file path=ppt/slides/slide6.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LITERARY MASTERPIECE</a:t>
            </a:r>
          </a:p>
          <a:p>
            <a:pPr>
              <a:defRPr sz="2400" b="1">
                <a:solidFill>
                  <a:srgbClr val="FFFFFF"/>
                </a:solidFill>
              </a:defRPr>
            </a:pPr>
            <a:r>
              <a:t>Noli Me Tangere: The Social Cancer</a:t>
            </a:r>
          </a:p>
        </p:txBody>
      </p:sp>
      <p:pic>
        <p:nvPicPr>
          <p:cNvPr id="4" name="!!Content_Image" descr="rizal_noli.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Published in Berlin (1887)</a:t>
            </a:r>
          </a:p>
          <a:p>
            <a:pPr>
              <a:defRPr sz="1050">
                <a:solidFill>
                  <a:srgbClr val="F0F5FF"/>
                </a:solidFill>
              </a:defRPr>
            </a:pPr>
            <a:r>
              <a:t>Funded through the crucial financial assistance of his dear friend Dr. Maximo Viola.</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Diagnosing Colonial Affliction</a:t>
            </a:r>
          </a:p>
          <a:p>
            <a:pPr>
              <a:defRPr sz="1050">
                <a:solidFill>
                  <a:srgbClr val="F0F5FF"/>
                </a:solidFill>
              </a:defRPr>
            </a:pPr>
            <a:r>
              <a:t>Through characters like Crisostomo Ibarra, Maria Clara, and Padre Damaso, Rizal unmasked clerical abuse and colonial hypocrisy.</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The Awakening of Elias</a:t>
            </a:r>
          </a:p>
          <a:p>
            <a:pPr>
              <a:defRPr sz="1050">
                <a:solidFill>
                  <a:srgbClr val="F0F5FF"/>
                </a:solidFill>
              </a:defRPr>
            </a:pPr>
            <a:r>
              <a:t>Introduced the voice of the oppressed masses who demanded radical liberation from systemic tyranny.</a:t>
            </a:r>
          </a:p>
        </p:txBody>
      </p:sp>
    </p:spTree>
  </p:cSld>
  <p:clrMapOvr>
    <a:masterClrMapping/>
  </p:clrMapOvr>
  <p:transition spd="med">
    <p:fade/>
  </p:transition>
</p:sld>
</file>

<file path=ppt/slides/slide7.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fili.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El Filibusterismo: The Subversive</a:t>
            </a:r>
          </a:p>
          <a:p>
            <a:pPr>
              <a:defRPr sz="1600">
                <a:solidFill>
                  <a:srgbClr val="F2B705"/>
                </a:solidFill>
              </a:defRPr>
            </a:pPr>
            <a:r>
              <a:t>Ghent (1891): Simoun and the Approaching Revolutionary Tempest</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8.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CIVIC LEADERSHIP</a:t>
            </a:r>
          </a:p>
          <a:p>
            <a:pPr>
              <a:defRPr sz="2400" b="1">
                <a:solidFill>
                  <a:srgbClr val="FFFFFF"/>
                </a:solidFill>
              </a:defRPr>
            </a:pPr>
            <a:r>
              <a:t>Exile, Science, &amp; Community in Dapitan</a:t>
            </a:r>
          </a:p>
        </p:txBody>
      </p:sp>
      <p:pic>
        <p:nvPicPr>
          <p:cNvPr id="4" name="!!Content_Image" descr="rizal_dapitan.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Civic Engineer &amp; Educator</a:t>
            </a:r>
          </a:p>
          <a:p>
            <a:pPr>
              <a:defRPr sz="1050">
                <a:solidFill>
                  <a:srgbClr val="F0F5FF"/>
                </a:solidFill>
              </a:defRPr>
            </a:pPr>
            <a:r>
              <a:t>Constructed a town waterworks system, established a school for local youth, and introduced modern agriculture.</a:t>
            </a:r>
          </a:p>
        </p:txBody>
      </p:sp>
      <p:sp>
        <p:nvSpPr>
          <p:cNvPr id="6" name="!!Card_2"/>
          <p:cNvSpPr/>
          <p:nvPr/>
        </p:nvSpPr>
        <p:spPr>
          <a:xfrm>
            <a:off x="6126480" y="310896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Biological Discoveries</a:t>
            </a:r>
          </a:p>
          <a:p>
            <a:pPr>
              <a:defRPr sz="1050">
                <a:solidFill>
                  <a:srgbClr val="F0F5FF"/>
                </a:solidFill>
              </a:defRPr>
            </a:pPr>
            <a:r>
              <a:t>Collected rare specimens, discovering Draco rizali (flying lizard) and Apogonia rizali (beetle).</a:t>
            </a:r>
          </a:p>
        </p:txBody>
      </p:sp>
      <p:sp>
        <p:nvSpPr>
          <p:cNvPr id="7" name="!!Card_3"/>
          <p:cNvSpPr/>
          <p:nvPr/>
        </p:nvSpPr>
        <p:spPr>
          <a:xfrm>
            <a:off x="6126480" y="4572000"/>
            <a:ext cx="5303520" cy="1280160"/>
          </a:xfrm>
          <a:prstGeom prst="roundRect">
            <a:avLst/>
          </a:prstGeom>
          <a:solidFill>
            <a:srgbClr val="193A62"/>
          </a:solidFill>
          <a:ln w="1270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Model Community Development</a:t>
            </a:r>
          </a:p>
          <a:p>
            <a:pPr>
              <a:defRPr sz="1050">
                <a:solidFill>
                  <a:srgbClr val="F0F5FF"/>
                </a:solidFill>
              </a:defRPr>
            </a:pPr>
            <a:r>
              <a:t>Demonstrated that true nation-building starts with grassroots public health, education, and economic cooperatives.</a:t>
            </a:r>
          </a:p>
        </p:txBody>
      </p:sp>
    </p:spTree>
  </p:cSld>
  <p:clrMapOvr>
    <a:masterClrMapping/>
  </p:clrMapOvr>
  <p:transition spd="med">
    <p:fade/>
  </p:transition>
</p:sld>
</file>

<file path=ppt/slides/slide9.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MODERN RELEVANCE</a:t>
            </a:r>
          </a:p>
          <a:p>
            <a:pPr>
              <a:defRPr sz="2400" b="1">
                <a:solidFill>
                  <a:srgbClr val="FFFFFF"/>
                </a:solidFill>
              </a:defRPr>
            </a:pPr>
            <a:r>
              <a:t>Core Lessons from Rizal for BSIT Students</a:t>
            </a:r>
          </a:p>
        </p:txBody>
      </p:sp>
      <p:sp>
        <p:nvSpPr>
          <p:cNvPr id="4" name="!!Card_1"/>
          <p:cNvSpPr/>
          <p:nvPr/>
        </p:nvSpPr>
        <p:spPr>
          <a:xfrm>
            <a:off x="7315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 Excellence in Craft</a:t>
            </a:r>
          </a:p>
          <a:p>
            <a:pPr>
              <a:defRPr sz="1100">
                <a:solidFill>
                  <a:srgbClr val="F0F0F0"/>
                </a:solidFill>
              </a:defRPr>
            </a:pPr>
            <a:r>
              <a:t>Rizal dedicated himself to world-class mastery in medicine, writing, and linguistics. We must bring equal dedication to technology.</a:t>
            </a:r>
          </a:p>
        </p:txBody>
      </p:sp>
      <p:sp>
        <p:nvSpPr>
          <p:cNvPr id="5" name="!!Card_2"/>
          <p:cNvSpPr/>
          <p:nvPr/>
        </p:nvSpPr>
        <p:spPr>
          <a:xfrm>
            <a:off x="43891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2. Civic Tech Innovation</a:t>
            </a:r>
          </a:p>
          <a:p>
            <a:pPr>
              <a:defRPr sz="1100">
                <a:solidFill>
                  <a:srgbClr val="F0F0F0"/>
                </a:solidFill>
              </a:defRPr>
            </a:pPr>
            <a:r>
              <a:t>Using digital tools to solve tangible community problems, echoing Rizal's hydraulic engineering in Dapitan.</a:t>
            </a:r>
          </a:p>
        </p:txBody>
      </p:sp>
      <p:sp>
        <p:nvSpPr>
          <p:cNvPr id="6" name="!!Card_3"/>
          <p:cNvSpPr/>
          <p:nvPr/>
        </p:nvSpPr>
        <p:spPr>
          <a:xfrm>
            <a:off x="80467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3. Ethical Responsibility</a:t>
            </a:r>
          </a:p>
          <a:p>
            <a:pPr>
              <a:defRPr sz="1100">
                <a:solidFill>
                  <a:srgbClr val="F0F0F0"/>
                </a:solidFill>
              </a:defRPr>
            </a:pPr>
            <a:r>
              <a:t>Recognizing that technological expertise carries a patriotic duty to defend truth, privacy, and social equity.</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10.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F2B705"/>
                </a:solidFill>
              </a:defRPr>
            </a:pPr>
            <a:r>
              <a:t>TIMELINE</a:t>
            </a:r>
          </a:p>
          <a:p>
            <a:pPr>
              <a:defRPr sz="2400" b="1">
                <a:solidFill>
                  <a:srgbClr val="FFFFFF"/>
                </a:solidFill>
              </a:defRPr>
            </a:pPr>
            <a:r>
              <a:t>Historical Chronology &amp; Milestones</a:t>
            </a:r>
          </a:p>
        </p:txBody>
      </p:sp>
      <p:sp>
        <p:nvSpPr>
          <p:cNvPr id="4" name="!!Card_1"/>
          <p:cNvSpPr/>
          <p:nvPr/>
        </p:nvSpPr>
        <p:spPr>
          <a:xfrm>
            <a:off x="7315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1861 – Birth in Calamba</a:t>
            </a:r>
          </a:p>
          <a:p>
            <a:pPr>
              <a:defRPr sz="1100">
                <a:solidFill>
                  <a:srgbClr val="F0F0F0"/>
                </a:solidFill>
              </a:defRPr>
            </a:pPr>
            <a:r>
              <a:t>Born on June 19, 1861, the seventh child of Francisco Mercado and Teodora Alonso.</a:t>
            </a:r>
          </a:p>
        </p:txBody>
      </p:sp>
      <p:sp>
        <p:nvSpPr>
          <p:cNvPr id="5" name="!!Card_2"/>
          <p:cNvSpPr/>
          <p:nvPr/>
        </p:nvSpPr>
        <p:spPr>
          <a:xfrm>
            <a:off x="43891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1887 – Publication of Noli</a:t>
            </a:r>
          </a:p>
          <a:p>
            <a:pPr>
              <a:defRPr sz="1100">
                <a:solidFill>
                  <a:srgbClr val="F0F0F0"/>
                </a:solidFill>
              </a:defRPr>
            </a:pPr>
            <a:r>
              <a:t>Berlin printing initiates the irreversible intellectual awakening of the Philippine archipelago.</a:t>
            </a:r>
          </a:p>
        </p:txBody>
      </p:sp>
      <p:sp>
        <p:nvSpPr>
          <p:cNvPr id="6" name="!!Card_3"/>
          <p:cNvSpPr/>
          <p:nvPr/>
        </p:nvSpPr>
        <p:spPr>
          <a:xfrm>
            <a:off x="8046720" y="1645920"/>
            <a:ext cx="3291840" cy="4114800"/>
          </a:xfrm>
          <a:prstGeom prst="roundRect">
            <a:avLst/>
          </a:prstGeom>
          <a:solidFill>
            <a:srgbClr val="193A62"/>
          </a:solidFill>
          <a:ln w="19050">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2B705"/>
                </a:solidFill>
              </a:defRPr>
            </a:pPr>
            <a:r>
              <a:t>1896 – Martyrdom at Bagumbayan</a:t>
            </a:r>
          </a:p>
          <a:p>
            <a:pPr>
              <a:defRPr sz="1100">
                <a:solidFill>
                  <a:srgbClr val="F0F0F0"/>
                </a:solidFill>
              </a:defRPr>
            </a:pPr>
            <a:r>
              <a:t>Executed on December 30, 1896; his death ignited the ultimate triumph of the Philippine Revolution.</a:t>
            </a:r>
          </a:p>
        </p:txBody>
      </p:sp>
    </p:spTree>
  </p:cSld>
  <p:clrMapOvr>
    <a:masterClrMapping/>
  </p:clrMapOvr>
  <p:transition spd="med">
    <p:fade/>
  </p:transition>
</p:sld>
</file>

<file path=ppt/slides/slide11.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rizal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3200" b="1">
                <a:solidFill>
                  <a:srgbClr val="FFFFFF"/>
                </a:solidFill>
              </a:defRPr>
            </a:pPr>
            <a:r>
              <a:t>The Immortal Legacy of Jose Rizal</a:t>
            </a:r>
          </a:p>
          <a:p>
            <a:pPr>
              <a:defRPr sz="1400">
                <a:solidFill>
                  <a:srgbClr val="F2B705"/>
                </a:solidFill>
              </a:defRPr>
            </a:pPr>
            <a:r>
              <a:t>The Youth is the Hope of the Fatherland</a:t>
            </a:r>
          </a:p>
          <a:p>
            <a:br/>
            <a:pPr>
              <a:defRPr sz="1000">
                <a:solidFill>
                  <a:srgbClr val="96AABE"/>
                </a:solidFill>
              </a:defRPr>
            </a:pPr>
            <a:r>
              <a:t>Image &amp; Academic Credits:</a:t>
            </a:r>
            <a:br/>
            <a:r>
              <a:t>• Visual Assets: Custom 3D renders &amp; high-res vector graphics.</a:t>
            </a:r>
            <a:br/>
            <a:r>
              <a:t>• Research Citations: APA 7th academic standards.</a:t>
            </a:r>
            <a:br/>
            <a:r>
              <a:t>• STI West Negros University • BSIT Program 2026–2027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