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667a3a75-bd54-6471-3dcf-c7c2d82859b6}">
          <p14:sldIdLst>
            <p14:sldId id="256"/>
          </p14:sldIdLst>
        </p14:section>
        <p14:section name="Main Content" id="{e7397df4-1014-f231-3b6a-bee0def45412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losing" id="{dd6c0e61-0e37-c6b8-814f-1fd8ceefec21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everyone. College life is demanding. Today we explore practical, evidence-based frameworks to manage academic stress, cultivate emotional resilience, and safeguard your mental wellbeing.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is not merely emotional; it is intensely physiological. Chronic elevated cortisol directly shrinks dendrites in the hippocampus, impairing your ability to retain exam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students dismiss chronic burnout as simple fatigue. It is vital to recognize the early warning symptoms before they escalate into clinical exhaustion.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Cognitive reframing is a proven psychological technique. When a panic thought arises, examine the evidence objectively and rewrite the narrative into constructive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habits cost nothing but yield immense returns. Box breathing physically signals your nervous system that you are safe, terminating acute panic within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Sacrificing sleep to cram is a mathematical loss. All-nighters severely degrade executive functioning. Seven hours of sleep ensures your brain can actually access the material you studied.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Sustainable academic achievement requires intentional schedule architecture. Balance is not something you find; it is something you actively schedule.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Never struggle in silence. Seeking support is an act of courage, not weakness. STI WNU offers confidential counseling, and national crisis helplines are available 24 hours 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all three pillars are nurtured, academic performance rises naturally without the collateral damage of chronic exhaustion.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challenge each of you to implement this simple 7-day reset. Small consistent boundaries create transformative changes in academic vitality.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Remember: you are a human being before you are a student. Take care of your mind, honor your limits, and achieve greatness with joy. I welcome any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3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for Stress Management and Student Welln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82296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spc="300" kern="0" dirty="0">
                <a:solidFill>
                  <a:srgbClr val="F2A08F"/>
                </a:solidFill>
              </a:rPr>
              <a:t>STUDENT GUIDANCE &amp; WELLNESS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Management and Student Wellness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DCE3EC"/>
                </a:solidFill>
              </a:rPr>
              <a:t>Evidence-Based Resilience Frameworks and Cognitive Self-Care for Academic Success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2A08F"/>
                </a:solidFill>
              </a:rPr>
              <a:t>Presenter: Jhon Paulo Gascon • STI West Negros University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3E8F8B"/>
                </a:solidFill>
              </a:rPr>
              <a:t>PHYSIOLOGICAL SCIENCE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Neurobiology of Academic Stress</a:t>
            </a:r>
            <a:endParaRPr lang="en-US" sz="1200" dirty="0"/>
          </a:p>
        </p:txBody>
      </p:sp>
      <p:pic>
        <p:nvPicPr>
          <p:cNvPr id="3" name="Image 0" descr="Illustration for The Neurobiology of Academic Str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73736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731520" cy="731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6656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The Cortisol Response Loop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Academic deadlines activate the amygdala, triggering sustained cortisol secretion that impairs hippocampal memory.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577840" y="329184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731520" cy="731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66560" y="3383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Acute vs. Chronic Strain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Short stress spikes sharpen exam alertness, but chronic unmanaged tension triggers neurochemical exhaustion.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5577840" y="484632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166360"/>
            <a:ext cx="731520" cy="731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4937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The Recovery Buffer Requirement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Brain synaptic consolidation requires intentional restorative down-time between study blocks.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for Recognizing Academic Burno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96012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0" y="82296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Recognizing Academic Burnout</a:t>
            </a:r>
            <a:endParaRPr lang="en-US" sz="3800" dirty="0"/>
          </a:p>
          <a:p>
            <a:pPr indent="0" marL="0">
              <a:buNone/>
            </a:pPr>
            <a:r>
              <a:rPr lang="en-US" sz="2000" dirty="0">
                <a:solidFill>
                  <a:srgbClr val="F2A08F"/>
                </a:solidFill>
              </a:rPr>
              <a:t>Distinguishing Healthy Academic Deadlines from Emotional Collapse</a:t>
            </a:r>
            <a:endParaRPr lang="en-US" sz="3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3E8F8B"/>
                </a:solidFill>
              </a:rPr>
              <a:t>PSYCHOLOGICAL SCAFFOLDING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Cognitive Reframing Techniques</a:t>
            </a:r>
            <a:endParaRPr lang="en-US" sz="1200" dirty="0"/>
          </a:p>
        </p:txBody>
      </p:sp>
      <p:pic>
        <p:nvPicPr>
          <p:cNvPr id="3" name="Image 0" descr="Illustration for Cognitive Reframing Techn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73736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731520" cy="731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6656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Challenging Catastrophic Thoughts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Replace 'If I fail this midterm my entire career is destroyed' with 'This is one assessment that indicates areas for targeted revision.'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577840" y="329184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731520" cy="731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66560" y="3383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Separating Worth from Grades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Your human value and creative potential are not defined by a numerical GPA scorecard.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5577840" y="484632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166360"/>
            <a:ext cx="731520" cy="731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4937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The Growth Mindset Protocol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Reframe mistakes in coding or mathematics as diagnostic feedback rather than personal inadequacy.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3E8F8B"/>
                </a:solidFill>
              </a:rPr>
              <a:t>DAILY PRACTICES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Resilient Wellness Habits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1. Box Breathing (4-4-4-4)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Inhale for 4s, hold for 4s, exhale for 4s, hold for 4s. Instantly lowers heart rate and stimulates the vagus nerve.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16552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01168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36592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2. Strategic Time-Boxing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736592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Block mandatory 45-minute daily offline windows dedicated exclusively to exercise, music, or nature walks.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101584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116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21624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3. Digital Sunsets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421624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Disconnect from screens 45 minutes prior to sleep to prevent blue light from suppressing melatonin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3E8F8B"/>
                </a:solidFill>
              </a:rPr>
              <a:t>COGNITIVE REGENERATION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Sleep Hygiene &amp; Recovery</a:t>
            </a:r>
            <a:endParaRPr lang="en-US" sz="1200" dirty="0"/>
          </a:p>
        </p:txBody>
      </p:sp>
      <p:pic>
        <p:nvPicPr>
          <p:cNvPr id="3" name="Image 0" descr="Illustration for Sleep Hygiene &amp; Recove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73736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731520" cy="731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6656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REM Memory Consolidation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During deep sleep, the brain transfers daytime facts into durable long-term storage.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577840" y="329184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731520" cy="731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66560" y="3383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The Myth of the Productive All-Nighter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Staying awake past 24 hours induces cognitive deficits equivalent to a 0.10% blood alcohol level.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5577840" y="484632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166360"/>
            <a:ext cx="731520" cy="731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4937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Consistent Circadian Rhythm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Waking and sleeping at consistent hours stabilizes energy metabolism and daytime alertness.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for Study-Life Balance Architec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960120"/>
            <a:ext cx="4937760" cy="49377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82296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Study-Life Balance Architecture</a:t>
            </a:r>
            <a:endParaRPr lang="en-US" sz="3800" dirty="0"/>
          </a:p>
          <a:p>
            <a:pPr indent="0" marL="0">
              <a:buNone/>
            </a:pPr>
            <a:r>
              <a:rPr lang="en-US" sz="2000" dirty="0">
                <a:solidFill>
                  <a:srgbClr val="F2A08F"/>
                </a:solidFill>
              </a:rPr>
              <a:t>Structuring Sustainable Study Schedules for Long-Term Collegiate Stamina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3E8F8B"/>
                </a:solidFill>
              </a:rPr>
              <a:t>SUPPORT SYSTEMS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Campus Support &amp; Crisis Networks</a:t>
            </a:r>
            <a:endParaRPr lang="en-US" sz="1200" dirty="0"/>
          </a:p>
        </p:txBody>
      </p:sp>
      <p:pic>
        <p:nvPicPr>
          <p:cNvPr id="3" name="Image 0" descr="Illustration for Campus Support &amp; Crisis Networ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77840" y="173736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057400"/>
            <a:ext cx="731520" cy="7315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766560" y="18288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STI WNU Guidance Services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Confidential professional guidance counselors available on the 2nd Floor, Student Affairs Building.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5577840" y="329184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3611880"/>
            <a:ext cx="731520" cy="7315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766560" y="338328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Peer Study &amp; Mentorship Circles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Collaborating with fellow BSIT classmates distributes academic pressure and prevents isolation.</a:t>
            </a:r>
            <a:endParaRPr lang="en-US" sz="1800" dirty="0"/>
          </a:p>
        </p:txBody>
      </p:sp>
      <p:sp>
        <p:nvSpPr>
          <p:cNvPr id="10" name="Shape 5"/>
          <p:cNvSpPr/>
          <p:nvPr/>
        </p:nvSpPr>
        <p:spPr>
          <a:xfrm>
            <a:off x="5577840" y="4846320"/>
            <a:ext cx="5879592" cy="1371600"/>
          </a:xfrm>
          <a:prstGeom prst="roundRect">
            <a:avLst>
              <a:gd name="adj" fmla="val 10000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5166360"/>
            <a:ext cx="731520" cy="7315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6766560" y="49377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3E8F8B"/>
                </a:solidFill>
              </a:rPr>
              <a:t>National Crisis Hotlines (24/7)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17323A"/>
                </a:solidFill>
              </a:rPr>
              <a:t>Philippine National Center for Mental Health: Dial 1553 or 0917-899-8727 toll-free anytime.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3E8F8B"/>
                </a:solidFill>
              </a:rPr>
              <a:t>HOLISTIC HEALTH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Pillars of Student Wellbeing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Physical Pillar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Adequate sleep, balanced nutrition, daily hydration, and at least 20 minutes of physical movement.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16552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01168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36592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Emotional Pillar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736592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Self-compassion, mindful breathing, emotional regulation, and acknowledging boundaries.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101584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116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21624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Social Pillar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421624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Nurturing genuine friendships, participating in campus organizations, and unplugging from toxic feeds.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10698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spc="300" kern="0" dirty="0">
                <a:solidFill>
                  <a:srgbClr val="3E8F8B"/>
                </a:solidFill>
              </a:rPr>
              <a:t>COMMITMENT</a:t>
            </a:r>
            <a:endParaRPr lang="en-US" sz="12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7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Action Challenge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116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Day 1–2: Sleep Reset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51560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Establish a fixed 11:00 PM sleep time and remove mobile devices from arm's reach of your bed.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416552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01168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736592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Day 3–4: Time-Box Study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4736592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Apply 25-minute Pomodoro intervals during programming sprints with zero browser multitasking.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8101584" y="1737360"/>
            <a:ext cx="3520440" cy="4023360"/>
          </a:xfrm>
          <a:prstGeom prst="roundRect">
            <a:avLst>
              <a:gd name="adj" fmla="val 3896"/>
            </a:avLst>
          </a:prstGeom>
          <a:solidFill>
            <a:srgbClr val="EFF7F6"/>
          </a:solidFill>
          <a:ln w="12700">
            <a:solidFill>
              <a:srgbClr val="EFF7F6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1168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421624" y="301752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E8F8B"/>
                </a:solidFill>
              </a:rPr>
              <a:t>Day 5–7: Reconnect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8421624" y="379476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7323A"/>
                </a:solidFill>
              </a:rPr>
              <a:t>Have an in-person meal with friends without checking academic group chats or notifications.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llustration for Prioritize Your Mental Heal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731520"/>
            <a:ext cx="530352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822960"/>
            <a:ext cx="539496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Prioritize Your Mental Health</a:t>
            </a:r>
            <a:endParaRPr lang="en-US" sz="38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000" dirty="0">
                <a:solidFill>
                  <a:srgbClr val="F2A08F"/>
                </a:solidFill>
              </a:rPr>
              <a:t>Academic Excellence Begins with a Nurtured, Rested Mind</a:t>
            </a:r>
            <a:endParaRPr lang="en-US" sz="3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DCE3EC"/>
                </a:solidFill>
              </a:rPr>
              <a:t>Image &amp; Academic Credits:</a:t>
            </a:r>
            <a:endParaRPr lang="en-US" sz="3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DCE3EC"/>
                </a:solidFill>
              </a:rPr>
              <a:t>Visual Assets: Custom 3D renders &amp; high-res vector graphics.</a:t>
            </a:r>
            <a:endParaRPr lang="en-US" sz="3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DCE3EC"/>
                </a:solidFill>
              </a:rPr>
              <a:t>Research Citations: APA 7th academic standards.</a:t>
            </a:r>
            <a:endParaRPr lang="en-US" sz="3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DCE3EC"/>
                </a:solidFill>
              </a:rPr>
              <a:t>STI West Negros University • BSIT Program 2026–2027</a:t>
            </a:r>
            <a:endParaRPr lang="en-US" sz="3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ss Management Student Wellness">
  <a:themeElements>
    <a:clrScheme name="Stress Management Student Wellness">
      <a:dk1>
        <a:srgbClr val="17323A"/>
      </a:dk1>
      <a:lt1>
        <a:srgbClr val="FFFFFF"/>
      </a:lt1>
      <a:dk2>
        <a:srgbClr val="17323A"/>
      </a:dk2>
      <a:lt2>
        <a:srgbClr val="EFF7F6"/>
      </a:lt2>
      <a:accent1>
        <a:srgbClr val="3E8F8B"/>
      </a:accent1>
      <a:accent2>
        <a:srgbClr val="F2A08F"/>
      </a:accent2>
      <a:accent3>
        <a:srgbClr val="2F6F73"/>
      </a:accent3>
      <a:accent4>
        <a:srgbClr val="17323A"/>
      </a:accent4>
      <a:accent5>
        <a:srgbClr val="3E8F8B"/>
      </a:accent5>
      <a:accent6>
        <a:srgbClr val="F2A08F"/>
      </a:accent6>
      <a:hlink>
        <a:srgbClr val="3E8F8B"/>
      </a:hlink>
      <a:folHlink>
        <a:srgbClr val="2F6F73"/>
      </a:folHlink>
    </a:clrScheme>
    <a:fontScheme name="Stress Management Student Wellnes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Jhon Paulo Gascon</dc:creator>
  <cp:lastModifiedBy>Jhon Paulo Gascon</cp:lastModifiedBy>
  <cp:revision>1</cp:revision>
  <dcterms:created xsi:type="dcterms:W3CDTF">2026-10-24T14:40:54Z</dcterms:created>
  <dcterms:modified xsi:type="dcterms:W3CDTF">2026-10-24T14:40:54Z</dcterms:modified>
</cp:coreProperties>
</file>