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College life is demanding. Today we explore practical, evidence-based frameworks to manage academic stress, cultivate emotional resilience, and safeguard your mental wellbeing.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is not merely emotional; it is intensely physiological. Chronic elevated cortisol directly shrinks dendrites in the hippocampus, impairing your ability to retain exam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Many students dismiss chronic burnout as simple fatigue. It is vital to recognize the early warning symptoms before they escalate into clinical exhaustion.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Cognitive reframing is a proven psychological technique. When a panic thought arises, examine the evidence objectively and rewrite the narrative into constructive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habits cost nothing but yield immense returns. Box breathing physically signals your nervous system that you are safe, terminating acute panic within two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Sacrificing sleep to cram is a mathematical loss. All-nighters severely degrade executive functioning. Seven hours of sleep ensures your brain can actually access the material you studied.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Sustainable academic achievement requires intentional schedule architecture. Balance is not something you find; it is something you actively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struggle in silence. Seeking support is an act of courage, not weakness. STI WNU offers confidential counseling, and national crisis helplines are available 24 hours a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all three pillars are nurtured, academic performance rises naturally without the collateral damage of chronic exhaustion.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challenge each of you to implement this simple 7-day reset. Small consistent boundaries create transformative changes in academic vitality.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Remember: you are a human being before you are a student. Take care of your mind, honor your limits, and achieve greatness with joy. I welcome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slide1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wellness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303520" cy="539496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731520" y="14630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97316"/>
                </a:solidFill>
              </a:defRPr>
            </a:pPr>
            <a:r>
              <a:t>STUDENT GUIDANCE &amp; WELLNESS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Stress Management and Student Wellness</a:t>
            </a:r>
          </a:p>
          <a:p>
            <a:pPr>
              <a:defRPr sz="1500">
                <a:solidFill>
                  <a:srgbClr val="B4C8DC"/>
                </a:solidFill>
              </a:defRPr>
            </a:pPr>
            <a:r>
              <a:t>Evidence-Based Resilience Frameworks and Cognitive Self-Care for Academic Success</a:t>
            </a:r>
          </a:p>
          <a:p>
            <a:br/>
            <a:pPr>
              <a:defRPr sz="1100">
                <a:solidFill>
                  <a:srgbClr val="8CA0B4"/>
                </a:solidFill>
              </a:defRPr>
            </a:pPr>
            <a:r>
              <a:t>Presenter: Jhon Paulo Gascon • STI West Negros University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PHYSIOLOGICAL SCIENCE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Neurobiology of Academic Stress</a:t>
            </a:r>
          </a:p>
        </p:txBody>
      </p:sp>
      <p:pic>
        <p:nvPicPr>
          <p:cNvPr id="4" name="!!Content_Image" descr="wellness_sc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The Cortisol Response Loop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Academic deadlines activate the amygdala, triggering sustained cortisol secretion that impairs hippocampal memory.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Acute vs. Chronic Strain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Short stress spikes sharpen exam alertness, but chronic unmanaged tension triggers neurochemical exhaustion.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The Recovery Buffer Requirement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Brain synaptic consolidation requires intentional restorative down-time between study blocks.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wellness_sympt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029200" cy="502920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621792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Recognizing Academic Burnout</a:t>
            </a:r>
          </a:p>
          <a:p>
            <a:pPr>
              <a:defRPr sz="1600">
                <a:solidFill>
                  <a:srgbClr val="F97316"/>
                </a:solidFill>
              </a:defRPr>
            </a:pPr>
            <a:r>
              <a:t>Distinguishing Healthy Academic Deadlines from Emotional Collapse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PSYCHOLOGICAL SCAFFOLDING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Cognitive Reframing Techniques</a:t>
            </a:r>
          </a:p>
        </p:txBody>
      </p:sp>
      <p:pic>
        <p:nvPicPr>
          <p:cNvPr id="4" name="!!Content_Image" descr="wellness_refr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Challenging Catastrophic Thoughts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Replace 'If I fail this midterm my entire career is destroyed' with 'This is one assessment that indicates areas for targeted revision.'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Separating Worth from Grades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Your human value and creative potential are not defined by a numerical GPA scorecard.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The Growth Mindset Protocol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Reframe mistakes in coding or mathematics as diagnostic feedback rather than personal inadequacy.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DAILY PRACTICES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Three Resilient Wellness Habits</a:t>
            </a:r>
          </a:p>
        </p:txBody>
      </p:sp>
      <p:sp>
        <p:nvSpPr>
          <p:cNvPr id="4" name="!!Card_1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1. Box Breathing (4-4-4-4)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Inhale for 4s, hold for 4s, exhale for 4s, hold for 4s. Instantly lowers heart rate and stimulates the vagus nerve.</a:t>
            </a:r>
          </a:p>
        </p:txBody>
      </p:sp>
      <p:sp>
        <p:nvSpPr>
          <p:cNvPr id="5" name="!!Card_2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2. Strategic Time-Boxing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Block mandatory 45-minute daily offline windows dedicated exclusively to exercise, music, or nature walks.</a:t>
            </a:r>
          </a:p>
        </p:txBody>
      </p:sp>
      <p:sp>
        <p:nvSpPr>
          <p:cNvPr id="6" name="!!Card_3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3. Digital Sunsets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Disconnect from screens 45 minutes prior to sleep to prevent blue light from suppressing melatonin production.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COGNITIVE REGENERATION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Sleep Hygiene &amp; Recovery</a:t>
            </a:r>
          </a:p>
        </p:txBody>
      </p:sp>
      <p:pic>
        <p:nvPicPr>
          <p:cNvPr id="4" name="!!Content_Image" descr="wellness_sl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REM Memory Consolidation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During deep sleep, the brain transfers daytime facts into durable long-term storage.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The Myth of the Productive All-Nighter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Staying awake past 24 hours induces cognitive deficits equivalent to a 0.10% blood alcohol level.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Consistent Circadian Rhythm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Waking and sleeping at consistent hours stabilizes energy metabolism and daytime alertness.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wellne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5029200" cy="502920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621792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Study-Life Balance Architecture</a:t>
            </a:r>
          </a:p>
          <a:p>
            <a:pPr>
              <a:defRPr sz="1600">
                <a:solidFill>
                  <a:srgbClr val="F97316"/>
                </a:solidFill>
              </a:defRPr>
            </a:pPr>
            <a:r>
              <a:t>Structuring Sustainable Study Schedules for Long-Term Collegiate Stamina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SUPPORT SYSTEMS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Campus Support &amp; Crisis Networks</a:t>
            </a:r>
          </a:p>
        </p:txBody>
      </p:sp>
      <p:pic>
        <p:nvPicPr>
          <p:cNvPr id="4" name="!!Content_Image" descr="wellness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389120"/>
          </a:xfrm>
          <a:prstGeom prst="rect">
            <a:avLst/>
          </a:prstGeom>
        </p:spPr>
      </p:pic>
      <p:sp>
        <p:nvSpPr>
          <p:cNvPr id="5" name="!!Card_1"/>
          <p:cNvSpPr/>
          <p:nvPr/>
        </p:nvSpPr>
        <p:spPr>
          <a:xfrm>
            <a:off x="6126480" y="164592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STI WNU Guidance Services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Confidential professional guidance counselors available on the 2nd Floor, Student Affairs Building.</a:t>
            </a:r>
          </a:p>
        </p:txBody>
      </p:sp>
      <p:sp>
        <p:nvSpPr>
          <p:cNvPr id="6" name="!!Card_2"/>
          <p:cNvSpPr/>
          <p:nvPr/>
        </p:nvSpPr>
        <p:spPr>
          <a:xfrm>
            <a:off x="6126480" y="310896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Peer Study &amp; Mentorship Circles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Collaborating with fellow BSIT classmates distributes academic pressure and prevents isolation.</a:t>
            </a:r>
          </a:p>
        </p:txBody>
      </p:sp>
      <p:sp>
        <p:nvSpPr>
          <p:cNvPr id="7" name="!!Card_3"/>
          <p:cNvSpPr/>
          <p:nvPr/>
        </p:nvSpPr>
        <p:spPr>
          <a:xfrm>
            <a:off x="6126480" y="4572000"/>
            <a:ext cx="5303520" cy="1280160"/>
          </a:xfrm>
          <a:prstGeom prst="roundRect">
            <a:avLst/>
          </a:prstGeom>
          <a:solidFill>
            <a:srgbClr val="2D2669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National Crisis Hotlines (24/7)</a:t>
            </a:r>
          </a:p>
          <a:p>
            <a:pPr>
              <a:defRPr sz="1050">
                <a:solidFill>
                  <a:srgbClr val="F5F0FF"/>
                </a:solidFill>
              </a:defRPr>
            </a:pPr>
            <a:r>
              <a:t>Philippine National Center for Mental Health: Dial 1553 or 0917-899-8727 toll-free anytime.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HOLISTIC HEALTH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Four Pillars of Student Wellbeing</a:t>
            </a:r>
          </a:p>
        </p:txBody>
      </p:sp>
      <p:sp>
        <p:nvSpPr>
          <p:cNvPr id="4" name="!!Card_1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Physical Pillar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Adequate sleep, balanced nutrition, daily hydration, and at least 20 minutes of physical movement.</a:t>
            </a:r>
          </a:p>
        </p:txBody>
      </p:sp>
      <p:sp>
        <p:nvSpPr>
          <p:cNvPr id="5" name="!!Card_2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Emotional Pillar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Self-compassion, mindful breathing, emotional regulation, and acknowledging boundaries.</a:t>
            </a:r>
          </a:p>
        </p:txBody>
      </p:sp>
      <p:sp>
        <p:nvSpPr>
          <p:cNvPr id="6" name="!!Card_3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Social Pillar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Nurturing genuine friendships, participating in campus organizations, and unplugging from toxic feeds.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COMMITMENT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Weekly Action Challenge</a:t>
            </a:r>
          </a:p>
        </p:txBody>
      </p:sp>
      <p:sp>
        <p:nvSpPr>
          <p:cNvPr id="4" name="!!Card_1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Day 1–2: Sleep Reset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Establish a fixed 11:00 PM sleep time and remove mobile devices from arm's reach of your bed.</a:t>
            </a:r>
          </a:p>
        </p:txBody>
      </p:sp>
      <p:sp>
        <p:nvSpPr>
          <p:cNvPr id="5" name="!!Card_2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Day 3–4: Time-Box Study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Apply 25-minute Pomodoro intervals during programming sprints with zero browser multitasking.</a:t>
            </a:r>
          </a:p>
        </p:txBody>
      </p:sp>
      <p:sp>
        <p:nvSpPr>
          <p:cNvPr id="6" name="!!Card_3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2D2669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97316"/>
                </a:solidFill>
              </a:defRPr>
            </a:pPr>
            <a:r>
              <a:t>Day 5–7: Reconnect</a:t>
            </a:r>
          </a:p>
          <a:p>
            <a:pPr>
              <a:defRPr sz="1100">
                <a:solidFill>
                  <a:srgbClr val="F0F0F0"/>
                </a:solidFill>
              </a:defRPr>
            </a:pPr>
            <a:r>
              <a:t>Have an in-person meal with friends without checking academic group chats or notifications.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wellness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731520"/>
            <a:ext cx="5303520" cy="5394960"/>
          </a:xfrm>
          <a:prstGeom prst="rect">
            <a:avLst/>
          </a:prstGeom>
        </p:spPr>
      </p:pic>
      <p:sp>
        <p:nvSpPr>
          <p:cNvPr id="4" name="!!Title_Card"/>
          <p:cNvSpPr txBox="1"/>
          <p:nvPr/>
        </p:nvSpPr>
        <p:spPr>
          <a:xfrm>
            <a:off x="731520" y="14630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Prioritize Your Mental Health</a:t>
            </a:r>
          </a:p>
          <a:p>
            <a:pPr>
              <a:defRPr sz="1400">
                <a:solidFill>
                  <a:srgbClr val="F97316"/>
                </a:solidFill>
              </a:defRPr>
            </a:pPr>
            <a:r>
              <a:t>Academic Excellence Begins with a Nurtured, Rested Mind</a:t>
            </a:r>
          </a:p>
          <a:p>
            <a:br/>
            <a:pPr>
              <a:defRPr sz="1000">
                <a:solidFill>
                  <a:srgbClr val="96AABE"/>
                </a:solidFill>
              </a:defRPr>
            </a:pPr>
            <a:r>
              <a:t>Image &amp; Academic Credits:</a:t>
            </a:r>
            <a:br/>
            <a:r>
              <a:t>• Visual Assets: Custom 3D renders &amp; high-res vector graphics.</a:t>
            </a:r>
            <a:br/>
            <a:r>
              <a:t>• Research Citations: APA 7th academic standards.</a:t>
            </a:r>
            <a:br/>
            <a:r>
              <a:t>• STI West Negros University • BSIT Program 2026–2027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