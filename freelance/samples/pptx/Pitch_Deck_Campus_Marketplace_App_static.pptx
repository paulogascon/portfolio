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f780ab6-f2f2-da7f-497e-5821c3b62194}">
          <p14:sldIdLst>
            <p14:sldId id="256"/>
          </p14:sldIdLst>
        </p14:section>
        <p14:section name="Main Content" id="{956b93d2-9d9a-9d66-9ed7-906e4f52e05a}">
          <p14:sldIdLst>
            <p14:sldId id="257"/>
            <p14:sldId id="258"/>
            <p14:sldId id="259"/>
            <p14:sldId id="260"/>
            <p14:sldId id="261"/>
            <p14:sldId id="262"/>
            <p14:sldId id="263"/>
            <p14:sldId id="264"/>
            <p14:sldId id="265"/>
          </p14:sldIdLst>
        </p14:section>
        <p14:section name="Closing" id="{c8e52937-4334-cb86-1c7d-a375a154c408}">
          <p14:sldIdLst>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investors. Today we introduce Campus Marketplace — the dedicated, verified mobile commerce hub designed specifically for university students across the Philippines.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 3.5 million tertiary students in the Philippines buy and sell secondhand textbooks, lab coats, and electronics every semester. Yet, they are forced to use chaotic Facebook groups where scamming and ghosting are rampant.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solution: a closed-loop platform accessible exclusively to verified college students, featuring designated campus safe pickup zones and built-in escrow.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visualized on the market breakdown, our serviceable obtainable market represents ₱120 million across the extensive STI network alone, providing an immense captive user base for rapid unit-economic scaling.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core pillars solve trust. By binding accounts to verified student IDs and protecting funds through escrow, fraudulent listings drop to absolute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revenue model is diversified. A modest 3.5% transaction commission generates strong margins, while campus merchant partnerships and micro-promotions provide recurring monthly cash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During our 60-day pilot at STI WNU, over 1,200 students onboarded, generating ₱480,000 in gross merchandise volume with a 98.4% customer satisfaction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user experience is frictionless. A student can photograph an unwanted textbook, tag their course subject, and publish the listing in under 45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growth trajectory follows a disciplined hub-and-spoke expansion, scaling from Bacolod to Iloilo and ultimately activating the full nationwide STI campus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raising ₱2.5 million to scale engineering and campus marketing. We invite you to partner with us in modernizing collegiate commerce across the 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Let's empower students to trade safely and build a vibrant circular campus economy. We welcome your partnership and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B3D2E"/>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Illustration for Campus Marketplace App">    </p:cNvPr>
          <p:cNvPicPr>
            <a:picLocks noChangeAspect="1"/>
          </p:cNvPicPr>
          <p:nvPr/>
        </p:nvPicPr>
        <p:blipFill>
          <a:blip r:embed="rId1"/>
          <a:stretch>
            <a:fillRect/>
          </a:stretch>
        </p:blipFill>
        <p:spPr>
          <a:xfrm>
            <a:off x="6217920" y="731520"/>
            <a:ext cx="5303520" cy="5394960"/>
          </a:xfrm>
          <a:prstGeom prst="rect">
            <a:avLst/>
          </a:prstGeom>
        </p:spPr>
      </p:pic>
      <p:sp>
        <p:nvSpPr>
          <p:cNvPr id="3" name="Text 0"/>
          <p:cNvSpPr txBox="1"/>
          <p:nvPr/>
        </p:nvSpPr>
        <p:spPr>
          <a:xfrm>
            <a:off x="731520" y="822960"/>
            <a:ext cx="5394960" cy="5212080"/>
          </a:xfrm>
          <a:prstGeom prst="rect">
            <a:avLst/>
          </a:prstGeom>
          <a:noFill/>
          <a:ln/>
        </p:spPr>
        <p:txBody>
          <a:bodyPr wrap="square" lIns="0" tIns="0" rIns="0" bIns="0" rtlCol="0" anchor="ctr"/>
          <a:lstStyle/>
          <a:p>
            <a:pPr indent="0" marL="0">
              <a:spcAft>
                <a:spcPts val="1000"/>
              </a:spcAft>
              <a:buNone/>
            </a:pPr>
            <a:r>
              <a:rPr lang="en-US" sz="1400" b="1" spc="300" kern="0" dirty="0">
                <a:solidFill>
                  <a:srgbClr val="F5A623"/>
                </a:solidFill>
              </a:rPr>
              <a:t>VENTURE INVESTOR PITCH</a:t>
            </a:r>
            <a:endParaRPr lang="en-US" sz="1400" dirty="0"/>
          </a:p>
          <a:p>
            <a:pPr indent="0" marL="0">
              <a:spcAft>
                <a:spcPts val="1200"/>
              </a:spcAft>
              <a:buNone/>
            </a:pPr>
            <a:r>
              <a:rPr lang="en-US" sz="4000" b="1" dirty="0">
                <a:solidFill>
                  <a:srgbClr val="FFFFFF"/>
                </a:solidFill>
                <a:latin typeface="Cambria" pitchFamily="34" charset="0"/>
                <a:ea typeface="Cambria" pitchFamily="34" charset="-122"/>
                <a:cs typeface="Cambria" pitchFamily="34" charset="-120"/>
              </a:rPr>
              <a:t>Campus Marketplace App</a:t>
            </a:r>
            <a:endParaRPr lang="en-US" sz="1400" dirty="0"/>
          </a:p>
          <a:p>
            <a:pPr indent="0" marL="0">
              <a:spcAft>
                <a:spcPts val="1600"/>
              </a:spcAft>
              <a:buNone/>
            </a:pPr>
            <a:r>
              <a:rPr lang="en-US" sz="1800" dirty="0">
                <a:solidFill>
                  <a:srgbClr val="DCE3EC"/>
                </a:solidFill>
              </a:rPr>
              <a:t>Peer-to-Peer Student Commerce Built for Trust, Safety, and Campus Velocity</a:t>
            </a:r>
            <a:endParaRPr lang="en-US" sz="1400" dirty="0"/>
          </a:p>
          <a:p>
            <a:pPr indent="0" marL="0">
              <a:buNone/>
            </a:pPr>
            <a:r>
              <a:rPr lang="en-US" sz="1400" dirty="0">
                <a:solidFill>
                  <a:srgbClr val="F5A623"/>
                </a:solidFill>
              </a:rPr>
              <a:t>Presenter: Jhon Paulo Gascon • STI West Negros University</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731520" y="365760"/>
            <a:ext cx="10698480" cy="1143000"/>
          </a:xfrm>
          <a:prstGeom prst="rect">
            <a:avLst/>
          </a:prstGeom>
          <a:noFill/>
          <a:ln/>
        </p:spPr>
        <p:txBody>
          <a:bodyPr wrap="square" lIns="0" tIns="0" rIns="0" bIns="0" rtlCol="0" anchor="t"/>
          <a:lstStyle/>
          <a:p>
            <a:pPr indent="0" marL="0">
              <a:spcAft>
                <a:spcPts val="400"/>
              </a:spcAft>
              <a:buNone/>
            </a:pPr>
            <a:r>
              <a:rPr lang="en-US" sz="1200" b="1" spc="300" kern="0" dirty="0">
                <a:solidFill>
                  <a:srgbClr val="0E9F6E"/>
                </a:solidFill>
              </a:rPr>
              <a:t>MARKET FRICTION</a:t>
            </a:r>
            <a:endParaRPr lang="en-US" sz="1200" dirty="0"/>
          </a:p>
          <a:p>
            <a:pPr indent="0" marL="0">
              <a:buNone/>
            </a:pPr>
            <a:r>
              <a:rPr lang="en-US" sz="3400" b="1" dirty="0">
                <a:solidFill>
                  <a:srgbClr val="0B2E23"/>
                </a:solidFill>
                <a:latin typeface="Cambria" pitchFamily="34" charset="0"/>
                <a:ea typeface="Cambria" pitchFamily="34" charset="-122"/>
                <a:cs typeface="Cambria" pitchFamily="34" charset="-120"/>
              </a:rPr>
              <a:t>The Problem: Unsafe Student Trading</a:t>
            </a:r>
            <a:endParaRPr lang="en-US" sz="1200" dirty="0"/>
          </a:p>
        </p:txBody>
      </p:sp>
      <p:pic>
        <p:nvPicPr>
          <p:cNvPr id="3" name="Image 0" descr="Illustration for The Problem: Unsafe Student Trading">    </p:cNvPr>
          <p:cNvPicPr>
            <a:picLocks noChangeAspect="1"/>
          </p:cNvPicPr>
          <p:nvPr/>
        </p:nvPicPr>
        <p:blipFill>
          <a:blip r:embed="rId1"/>
          <a:stretch>
            <a:fillRect/>
          </a:stretch>
        </p:blipFill>
        <p:spPr>
          <a:xfrm>
            <a:off x="731520" y="1737360"/>
            <a:ext cx="4480560" cy="4480560"/>
          </a:xfrm>
          <a:prstGeom prst="rect">
            <a:avLst/>
          </a:prstGeom>
        </p:spPr>
      </p:pic>
      <p:sp>
        <p:nvSpPr>
          <p:cNvPr id="4" name="Shape 1"/>
          <p:cNvSpPr/>
          <p:nvPr/>
        </p:nvSpPr>
        <p:spPr>
          <a:xfrm>
            <a:off x="5577840" y="1737360"/>
            <a:ext cx="5879592" cy="1371600"/>
          </a:xfrm>
          <a:prstGeom prst="roundRect">
            <a:avLst>
              <a:gd name="adj" fmla="val 10000"/>
            </a:avLst>
          </a:prstGeom>
          <a:solidFill>
            <a:srgbClr val="EEF9F4"/>
          </a:solidFill>
          <a:ln w="12700">
            <a:solidFill>
              <a:srgbClr val="EEF9F4"/>
            </a:solidFill>
            <a:prstDash val="solid"/>
          </a:ln>
        </p:spPr>
      </p:sp>
      <p:pic>
        <p:nvPicPr>
          <p:cNvPr id="5" name="Image 1" descr="preencoded.png">    </p:cNvPr>
          <p:cNvPicPr>
            <a:picLocks noChangeAspect="1"/>
          </p:cNvPicPr>
          <p:nvPr/>
        </p:nvPicPr>
        <p:blipFill>
          <a:blip r:embed="rId2"/>
          <a:stretch>
            <a:fillRect/>
          </a:stretch>
        </p:blipFill>
        <p:spPr>
          <a:xfrm>
            <a:off x="5806440" y="2057400"/>
            <a:ext cx="731520" cy="731520"/>
          </a:xfrm>
          <a:prstGeom prst="rect">
            <a:avLst/>
          </a:prstGeom>
        </p:spPr>
      </p:pic>
      <p:sp>
        <p:nvSpPr>
          <p:cNvPr id="6" name="Text 2"/>
          <p:cNvSpPr txBox="1"/>
          <p:nvPr/>
        </p:nvSpPr>
        <p:spPr>
          <a:xfrm>
            <a:off x="6766560" y="1828800"/>
            <a:ext cx="4572000" cy="1188720"/>
          </a:xfrm>
          <a:prstGeom prst="rect">
            <a:avLst/>
          </a:prstGeom>
          <a:noFill/>
          <a:ln/>
        </p:spPr>
        <p:txBody>
          <a:bodyPr wrap="square" lIns="0" tIns="0" rIns="0" bIns="0" rtlCol="0" anchor="ctr"/>
          <a:lstStyle/>
          <a:p>
            <a:pPr indent="0" marL="0">
              <a:spcAft>
                <a:spcPts val="300"/>
              </a:spcAft>
              <a:buNone/>
            </a:pPr>
            <a:r>
              <a:rPr lang="en-US" sz="1800" b="1" dirty="0">
                <a:solidFill>
                  <a:srgbClr val="0E9F6E"/>
                </a:solidFill>
              </a:rPr>
              <a:t>Facebook Group Chaos</a:t>
            </a:r>
            <a:endParaRPr lang="en-US" sz="1800" dirty="0"/>
          </a:p>
          <a:p>
            <a:pPr indent="0" marL="0">
              <a:buNone/>
            </a:pPr>
            <a:r>
              <a:rPr lang="en-US" sz="1400" dirty="0">
                <a:solidFill>
                  <a:srgbClr val="0B2E23"/>
                </a:solidFill>
              </a:rPr>
              <a:t>Students buy textbooks and uniforms on unvetted social media groups rampant with scammers.</a:t>
            </a:r>
            <a:endParaRPr lang="en-US" sz="1800" dirty="0"/>
          </a:p>
        </p:txBody>
      </p:sp>
      <p:sp>
        <p:nvSpPr>
          <p:cNvPr id="7" name="Shape 3"/>
          <p:cNvSpPr/>
          <p:nvPr/>
        </p:nvSpPr>
        <p:spPr>
          <a:xfrm>
            <a:off x="5577840" y="3291840"/>
            <a:ext cx="5879592" cy="1371600"/>
          </a:xfrm>
          <a:prstGeom prst="roundRect">
            <a:avLst>
              <a:gd name="adj" fmla="val 10000"/>
            </a:avLst>
          </a:prstGeom>
          <a:solidFill>
            <a:srgbClr val="EEF9F4"/>
          </a:solidFill>
          <a:ln w="12700">
            <a:solidFill>
              <a:srgbClr val="EEF9F4"/>
            </a:solidFill>
            <a:prstDash val="solid"/>
          </a:ln>
        </p:spPr>
      </p:sp>
      <p:pic>
        <p:nvPicPr>
          <p:cNvPr id="8" name="Image 2" descr="preencoded.png">    </p:cNvPr>
          <p:cNvPicPr>
            <a:picLocks noChangeAspect="1"/>
          </p:cNvPicPr>
          <p:nvPr/>
        </p:nvPicPr>
        <p:blipFill>
          <a:blip r:embed="rId3"/>
          <a:stretch>
            <a:fillRect/>
          </a:stretch>
        </p:blipFill>
        <p:spPr>
          <a:xfrm>
            <a:off x="5806440" y="3611880"/>
            <a:ext cx="731520" cy="731520"/>
          </a:xfrm>
          <a:prstGeom prst="rect">
            <a:avLst/>
          </a:prstGeom>
        </p:spPr>
      </p:pic>
      <p:sp>
        <p:nvSpPr>
          <p:cNvPr id="9" name="Text 4"/>
          <p:cNvSpPr txBox="1"/>
          <p:nvPr/>
        </p:nvSpPr>
        <p:spPr>
          <a:xfrm>
            <a:off x="6766560" y="3383280"/>
            <a:ext cx="4572000" cy="1188720"/>
          </a:xfrm>
          <a:prstGeom prst="rect">
            <a:avLst/>
          </a:prstGeom>
          <a:noFill/>
          <a:ln/>
        </p:spPr>
        <p:txBody>
          <a:bodyPr wrap="square" lIns="0" tIns="0" rIns="0" bIns="0" rtlCol="0" anchor="ctr"/>
          <a:lstStyle/>
          <a:p>
            <a:pPr indent="0" marL="0">
              <a:spcAft>
                <a:spcPts val="300"/>
              </a:spcAft>
              <a:buNone/>
            </a:pPr>
            <a:r>
              <a:rPr lang="en-US" sz="1800" b="1" dirty="0">
                <a:solidFill>
                  <a:srgbClr val="0E9F6E"/>
                </a:solidFill>
              </a:rPr>
              <a:t>Meetup Safety Concerns</a:t>
            </a:r>
            <a:endParaRPr lang="en-US" sz="1800" dirty="0"/>
          </a:p>
          <a:p>
            <a:pPr indent="0" marL="0">
              <a:buNone/>
            </a:pPr>
            <a:r>
              <a:rPr lang="en-US" sz="1400" dirty="0">
                <a:solidFill>
                  <a:srgbClr val="0B2E23"/>
                </a:solidFill>
              </a:rPr>
              <a:t>Exchanging high-value tech devices with anonymous strangers outside campus gates causes physical safety hazards.</a:t>
            </a:r>
            <a:endParaRPr lang="en-US" sz="1800" dirty="0"/>
          </a:p>
        </p:txBody>
      </p:sp>
      <p:sp>
        <p:nvSpPr>
          <p:cNvPr id="10" name="Shape 5"/>
          <p:cNvSpPr/>
          <p:nvPr/>
        </p:nvSpPr>
        <p:spPr>
          <a:xfrm>
            <a:off x="5577840" y="4846320"/>
            <a:ext cx="5879592" cy="1371600"/>
          </a:xfrm>
          <a:prstGeom prst="roundRect">
            <a:avLst>
              <a:gd name="adj" fmla="val 10000"/>
            </a:avLst>
          </a:prstGeom>
          <a:solidFill>
            <a:srgbClr val="EEF9F4"/>
          </a:solidFill>
          <a:ln w="12700">
            <a:solidFill>
              <a:srgbClr val="EEF9F4"/>
            </a:solidFill>
            <a:prstDash val="solid"/>
          </a:ln>
        </p:spPr>
      </p:sp>
      <p:pic>
        <p:nvPicPr>
          <p:cNvPr id="11" name="Image 3" descr="preencoded.png">    </p:cNvPr>
          <p:cNvPicPr>
            <a:picLocks noChangeAspect="1"/>
          </p:cNvPicPr>
          <p:nvPr/>
        </p:nvPicPr>
        <p:blipFill>
          <a:blip r:embed="rId4"/>
          <a:stretch>
            <a:fillRect/>
          </a:stretch>
        </p:blipFill>
        <p:spPr>
          <a:xfrm>
            <a:off x="5806440" y="5166360"/>
            <a:ext cx="731520" cy="731520"/>
          </a:xfrm>
          <a:prstGeom prst="rect">
            <a:avLst/>
          </a:prstGeom>
        </p:spPr>
      </p:pic>
      <p:sp>
        <p:nvSpPr>
          <p:cNvPr id="12" name="Text 6"/>
          <p:cNvSpPr txBox="1"/>
          <p:nvPr/>
        </p:nvSpPr>
        <p:spPr>
          <a:xfrm>
            <a:off x="6766560" y="4937760"/>
            <a:ext cx="4572000" cy="1188720"/>
          </a:xfrm>
          <a:prstGeom prst="rect">
            <a:avLst/>
          </a:prstGeom>
          <a:noFill/>
          <a:ln/>
        </p:spPr>
        <p:txBody>
          <a:bodyPr wrap="square" lIns="0" tIns="0" rIns="0" bIns="0" rtlCol="0" anchor="ctr"/>
          <a:lstStyle/>
          <a:p>
            <a:pPr indent="0" marL="0">
              <a:spcAft>
                <a:spcPts val="300"/>
              </a:spcAft>
              <a:buNone/>
            </a:pPr>
            <a:r>
              <a:rPr lang="en-US" sz="1800" b="1" dirty="0">
                <a:solidFill>
                  <a:srgbClr val="0E9F6E"/>
                </a:solidFill>
              </a:rPr>
              <a:t>Ghosting &amp; Payment Friction</a:t>
            </a:r>
            <a:endParaRPr lang="en-US" sz="1800" dirty="0"/>
          </a:p>
          <a:p>
            <a:pPr indent="0" marL="0">
              <a:buNone/>
            </a:pPr>
            <a:r>
              <a:rPr lang="en-US" sz="1400" dirty="0">
                <a:solidFill>
                  <a:srgbClr val="0B2E23"/>
                </a:solidFill>
              </a:rPr>
              <a:t>High seller cancellation rates, payment delays, and lack of buyer escrow protections.</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Illustration for The Solution: Verified Student Hub">    </p:cNvPr>
          <p:cNvPicPr>
            <a:picLocks noChangeAspect="1"/>
          </p:cNvPicPr>
          <p:nvPr/>
        </p:nvPicPr>
        <p:blipFill>
          <a:blip r:embed="rId1"/>
          <a:stretch>
            <a:fillRect/>
          </a:stretch>
        </p:blipFill>
        <p:spPr>
          <a:xfrm>
            <a:off x="731520" y="960120"/>
            <a:ext cx="4937760" cy="4937760"/>
          </a:xfrm>
          <a:prstGeom prst="rect">
            <a:avLst/>
          </a:prstGeom>
        </p:spPr>
      </p:pic>
      <p:sp>
        <p:nvSpPr>
          <p:cNvPr id="3" name="Text 0"/>
          <p:cNvSpPr txBox="1"/>
          <p:nvPr/>
        </p:nvSpPr>
        <p:spPr>
          <a:xfrm>
            <a:off x="6126480" y="822960"/>
            <a:ext cx="5394960" cy="5212080"/>
          </a:xfrm>
          <a:prstGeom prst="rect">
            <a:avLst/>
          </a:prstGeom>
          <a:noFill/>
          <a:ln/>
        </p:spPr>
        <p:txBody>
          <a:bodyPr wrap="square" lIns="0" tIns="0" rIns="0" bIns="0" rtlCol="0" anchor="ctr"/>
          <a:lstStyle/>
          <a:p>
            <a:pPr indent="0" marL="0">
              <a:spcAft>
                <a:spcPts val="1200"/>
              </a:spcAft>
              <a:buNone/>
            </a:pPr>
            <a:r>
              <a:rPr lang="en-US" sz="3800" b="1" dirty="0">
                <a:solidFill>
                  <a:srgbClr val="FFFFFF"/>
                </a:solidFill>
                <a:latin typeface="Cambria" pitchFamily="34" charset="0"/>
                <a:ea typeface="Cambria" pitchFamily="34" charset="-122"/>
                <a:cs typeface="Cambria" pitchFamily="34" charset="-120"/>
              </a:rPr>
              <a:t>The Solution: Verified Student Hub</a:t>
            </a:r>
            <a:endParaRPr lang="en-US" sz="3800" dirty="0"/>
          </a:p>
          <a:p>
            <a:pPr indent="0" marL="0">
              <a:buNone/>
            </a:pPr>
            <a:r>
              <a:rPr lang="en-US" sz="2000" dirty="0">
                <a:solidFill>
                  <a:srgbClr val="F5A623"/>
                </a:solidFill>
              </a:rPr>
              <a:t>Closed-Loop Collegiate Commerce with Institutional ID Verification</a:t>
            </a:r>
            <a:endParaRPr lang="en-US" sz="3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731520" y="365760"/>
            <a:ext cx="10698480" cy="1143000"/>
          </a:xfrm>
          <a:prstGeom prst="rect">
            <a:avLst/>
          </a:prstGeom>
          <a:noFill/>
          <a:ln/>
        </p:spPr>
        <p:txBody>
          <a:bodyPr wrap="square" lIns="0" tIns="0" rIns="0" bIns="0" rtlCol="0" anchor="t"/>
          <a:lstStyle/>
          <a:p>
            <a:pPr indent="0" marL="0">
              <a:spcAft>
                <a:spcPts val="400"/>
              </a:spcAft>
              <a:buNone/>
            </a:pPr>
            <a:r>
              <a:rPr lang="en-US" sz="1200" b="1" spc="300" kern="0" dirty="0">
                <a:solidFill>
                  <a:srgbClr val="0E9F6E"/>
                </a:solidFill>
              </a:rPr>
              <a:t>MARKET OPPORTUNITY</a:t>
            </a:r>
            <a:endParaRPr lang="en-US" sz="1200" dirty="0"/>
          </a:p>
          <a:p>
            <a:pPr indent="0" marL="0">
              <a:buNone/>
            </a:pPr>
            <a:r>
              <a:rPr lang="en-US" sz="3400" b="1" dirty="0">
                <a:solidFill>
                  <a:srgbClr val="0B2E23"/>
                </a:solidFill>
                <a:latin typeface="Cambria" pitchFamily="34" charset="0"/>
                <a:ea typeface="Cambria" pitchFamily="34" charset="-122"/>
                <a:cs typeface="Cambria" pitchFamily="34" charset="-120"/>
              </a:rPr>
              <a:t>Total Addressable Market (TAM)</a:t>
            </a:r>
            <a:endParaRPr lang="en-US" sz="1200" dirty="0"/>
          </a:p>
        </p:txBody>
      </p:sp>
      <p:pic>
        <p:nvPicPr>
          <p:cNvPr id="3" name="Image 0" descr="Illustration for Total Addressable Market (TAM)">    </p:cNvPr>
          <p:cNvPicPr>
            <a:picLocks noChangeAspect="1"/>
          </p:cNvPicPr>
          <p:nvPr/>
        </p:nvPicPr>
        <p:blipFill>
          <a:blip r:embed="rId1"/>
          <a:stretch>
            <a:fillRect/>
          </a:stretch>
        </p:blipFill>
        <p:spPr>
          <a:xfrm>
            <a:off x="731520" y="1737360"/>
            <a:ext cx="4480560" cy="4480560"/>
          </a:xfrm>
          <a:prstGeom prst="rect">
            <a:avLst/>
          </a:prstGeom>
        </p:spPr>
      </p:pic>
      <p:sp>
        <p:nvSpPr>
          <p:cNvPr id="4" name="Shape 1"/>
          <p:cNvSpPr/>
          <p:nvPr/>
        </p:nvSpPr>
        <p:spPr>
          <a:xfrm>
            <a:off x="5577840" y="1737360"/>
            <a:ext cx="5879592" cy="1371600"/>
          </a:xfrm>
          <a:prstGeom prst="roundRect">
            <a:avLst>
              <a:gd name="adj" fmla="val 10000"/>
            </a:avLst>
          </a:prstGeom>
          <a:solidFill>
            <a:srgbClr val="EEF9F4"/>
          </a:solidFill>
          <a:ln w="12700">
            <a:solidFill>
              <a:srgbClr val="EEF9F4"/>
            </a:solidFill>
            <a:prstDash val="solid"/>
          </a:ln>
        </p:spPr>
      </p:sp>
      <p:pic>
        <p:nvPicPr>
          <p:cNvPr id="5" name="Image 1" descr="preencoded.png">    </p:cNvPr>
          <p:cNvPicPr>
            <a:picLocks noChangeAspect="1"/>
          </p:cNvPicPr>
          <p:nvPr/>
        </p:nvPicPr>
        <p:blipFill>
          <a:blip r:embed="rId2"/>
          <a:stretch>
            <a:fillRect/>
          </a:stretch>
        </p:blipFill>
        <p:spPr>
          <a:xfrm>
            <a:off x="5806440" y="2057400"/>
            <a:ext cx="731520" cy="731520"/>
          </a:xfrm>
          <a:prstGeom prst="rect">
            <a:avLst/>
          </a:prstGeom>
        </p:spPr>
      </p:pic>
      <p:sp>
        <p:nvSpPr>
          <p:cNvPr id="6" name="Text 2"/>
          <p:cNvSpPr txBox="1"/>
          <p:nvPr/>
        </p:nvSpPr>
        <p:spPr>
          <a:xfrm>
            <a:off x="6766560" y="1828800"/>
            <a:ext cx="4572000" cy="1188720"/>
          </a:xfrm>
          <a:prstGeom prst="rect">
            <a:avLst/>
          </a:prstGeom>
          <a:noFill/>
          <a:ln/>
        </p:spPr>
        <p:txBody>
          <a:bodyPr wrap="square" lIns="0" tIns="0" rIns="0" bIns="0" rtlCol="0" anchor="ctr"/>
          <a:lstStyle/>
          <a:p>
            <a:pPr indent="0" marL="0">
              <a:spcAft>
                <a:spcPts val="300"/>
              </a:spcAft>
              <a:buNone/>
            </a:pPr>
            <a:r>
              <a:rPr lang="en-US" sz="1800" b="1" dirty="0">
                <a:solidFill>
                  <a:srgbClr val="0E9F6E"/>
                </a:solidFill>
              </a:rPr>
              <a:t>TAM: ₱4.2B Annual Market</a:t>
            </a:r>
            <a:endParaRPr lang="en-US" sz="1800" dirty="0"/>
          </a:p>
          <a:p>
            <a:pPr indent="0" marL="0">
              <a:buNone/>
            </a:pPr>
            <a:r>
              <a:rPr lang="en-US" sz="1400" dirty="0">
                <a:solidFill>
                  <a:srgbClr val="0B2E23"/>
                </a:solidFill>
              </a:rPr>
              <a:t>Total annual student spend on course materials, devices, and dorm essentials across 2,000+ PH colleges.</a:t>
            </a:r>
            <a:endParaRPr lang="en-US" sz="1800" dirty="0"/>
          </a:p>
        </p:txBody>
      </p:sp>
      <p:sp>
        <p:nvSpPr>
          <p:cNvPr id="7" name="Shape 3"/>
          <p:cNvSpPr/>
          <p:nvPr/>
        </p:nvSpPr>
        <p:spPr>
          <a:xfrm>
            <a:off x="5577840" y="3291840"/>
            <a:ext cx="5879592" cy="1371600"/>
          </a:xfrm>
          <a:prstGeom prst="roundRect">
            <a:avLst>
              <a:gd name="adj" fmla="val 10000"/>
            </a:avLst>
          </a:prstGeom>
          <a:solidFill>
            <a:srgbClr val="EEF9F4"/>
          </a:solidFill>
          <a:ln w="12700">
            <a:solidFill>
              <a:srgbClr val="EEF9F4"/>
            </a:solidFill>
            <a:prstDash val="solid"/>
          </a:ln>
        </p:spPr>
      </p:sp>
      <p:pic>
        <p:nvPicPr>
          <p:cNvPr id="8" name="Image 2" descr="preencoded.png">    </p:cNvPr>
          <p:cNvPicPr>
            <a:picLocks noChangeAspect="1"/>
          </p:cNvPicPr>
          <p:nvPr/>
        </p:nvPicPr>
        <p:blipFill>
          <a:blip r:embed="rId3"/>
          <a:stretch>
            <a:fillRect/>
          </a:stretch>
        </p:blipFill>
        <p:spPr>
          <a:xfrm>
            <a:off x="5806440" y="3611880"/>
            <a:ext cx="731520" cy="731520"/>
          </a:xfrm>
          <a:prstGeom prst="rect">
            <a:avLst/>
          </a:prstGeom>
        </p:spPr>
      </p:pic>
      <p:sp>
        <p:nvSpPr>
          <p:cNvPr id="9" name="Text 4"/>
          <p:cNvSpPr txBox="1"/>
          <p:nvPr/>
        </p:nvSpPr>
        <p:spPr>
          <a:xfrm>
            <a:off x="6766560" y="3383280"/>
            <a:ext cx="4572000" cy="1188720"/>
          </a:xfrm>
          <a:prstGeom prst="rect">
            <a:avLst/>
          </a:prstGeom>
          <a:noFill/>
          <a:ln/>
        </p:spPr>
        <p:txBody>
          <a:bodyPr wrap="square" lIns="0" tIns="0" rIns="0" bIns="0" rtlCol="0" anchor="ctr"/>
          <a:lstStyle/>
          <a:p>
            <a:pPr indent="0" marL="0">
              <a:spcAft>
                <a:spcPts val="300"/>
              </a:spcAft>
              <a:buNone/>
            </a:pPr>
            <a:r>
              <a:rPr lang="en-US" sz="1800" b="1" dirty="0">
                <a:solidFill>
                  <a:srgbClr val="0E9F6E"/>
                </a:solidFill>
              </a:rPr>
              <a:t>SAM: ₱850M Regional Focus</a:t>
            </a:r>
            <a:endParaRPr lang="en-US" sz="1800" dirty="0"/>
          </a:p>
          <a:p>
            <a:pPr indent="0" marL="0">
              <a:buNone/>
            </a:pPr>
            <a:r>
              <a:rPr lang="en-US" sz="1400" dirty="0">
                <a:solidFill>
                  <a:srgbClr val="0B2E23"/>
                </a:solidFill>
              </a:rPr>
              <a:t>Tertiary collegiate student demographic in Western Visayas and major regional university hubs.</a:t>
            </a:r>
            <a:endParaRPr lang="en-US" sz="1800" dirty="0"/>
          </a:p>
        </p:txBody>
      </p:sp>
      <p:sp>
        <p:nvSpPr>
          <p:cNvPr id="10" name="Shape 5"/>
          <p:cNvSpPr/>
          <p:nvPr/>
        </p:nvSpPr>
        <p:spPr>
          <a:xfrm>
            <a:off x="5577840" y="4846320"/>
            <a:ext cx="5879592" cy="1371600"/>
          </a:xfrm>
          <a:prstGeom prst="roundRect">
            <a:avLst>
              <a:gd name="adj" fmla="val 10000"/>
            </a:avLst>
          </a:prstGeom>
          <a:solidFill>
            <a:srgbClr val="EEF9F4"/>
          </a:solidFill>
          <a:ln w="12700">
            <a:solidFill>
              <a:srgbClr val="EEF9F4"/>
            </a:solidFill>
            <a:prstDash val="solid"/>
          </a:ln>
        </p:spPr>
      </p:sp>
      <p:pic>
        <p:nvPicPr>
          <p:cNvPr id="11" name="Image 3" descr="preencoded.png">    </p:cNvPr>
          <p:cNvPicPr>
            <a:picLocks noChangeAspect="1"/>
          </p:cNvPicPr>
          <p:nvPr/>
        </p:nvPicPr>
        <p:blipFill>
          <a:blip r:embed="rId4"/>
          <a:stretch>
            <a:fillRect/>
          </a:stretch>
        </p:blipFill>
        <p:spPr>
          <a:xfrm>
            <a:off x="5806440" y="5166360"/>
            <a:ext cx="731520" cy="731520"/>
          </a:xfrm>
          <a:prstGeom prst="rect">
            <a:avLst/>
          </a:prstGeom>
        </p:spPr>
      </p:pic>
      <p:sp>
        <p:nvSpPr>
          <p:cNvPr id="12" name="Text 6"/>
          <p:cNvSpPr txBox="1"/>
          <p:nvPr/>
        </p:nvSpPr>
        <p:spPr>
          <a:xfrm>
            <a:off x="6766560" y="4937760"/>
            <a:ext cx="4572000" cy="1188720"/>
          </a:xfrm>
          <a:prstGeom prst="rect">
            <a:avLst/>
          </a:prstGeom>
          <a:noFill/>
          <a:ln/>
        </p:spPr>
        <p:txBody>
          <a:bodyPr wrap="square" lIns="0" tIns="0" rIns="0" bIns="0" rtlCol="0" anchor="ctr"/>
          <a:lstStyle/>
          <a:p>
            <a:pPr indent="0" marL="0">
              <a:spcAft>
                <a:spcPts val="300"/>
              </a:spcAft>
              <a:buNone/>
            </a:pPr>
            <a:r>
              <a:rPr lang="en-US" sz="1800" b="1" dirty="0">
                <a:solidFill>
                  <a:srgbClr val="0E9F6E"/>
                </a:solidFill>
              </a:rPr>
              <a:t>SOM: ₱120M Initial Capture</a:t>
            </a:r>
            <a:endParaRPr lang="en-US" sz="1800" dirty="0"/>
          </a:p>
          <a:p>
            <a:pPr indent="0" marL="0">
              <a:buNone/>
            </a:pPr>
            <a:r>
              <a:rPr lang="en-US" sz="1400" dirty="0">
                <a:solidFill>
                  <a:srgbClr val="0B2E23"/>
                </a:solidFill>
              </a:rPr>
              <a:t>Targeting 25 STI campus network branches during our 18-month rollout phase.</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731520" y="365760"/>
            <a:ext cx="10698480" cy="1143000"/>
          </a:xfrm>
          <a:prstGeom prst="rect">
            <a:avLst/>
          </a:prstGeom>
          <a:noFill/>
          <a:ln/>
        </p:spPr>
        <p:txBody>
          <a:bodyPr wrap="square" lIns="0" tIns="0" rIns="0" bIns="0" rtlCol="0" anchor="t"/>
          <a:lstStyle/>
          <a:p>
            <a:pPr indent="0" marL="0">
              <a:spcAft>
                <a:spcPts val="400"/>
              </a:spcAft>
              <a:buNone/>
            </a:pPr>
            <a:r>
              <a:rPr lang="en-US" sz="1200" b="1" spc="300" kern="0" dirty="0">
                <a:solidFill>
                  <a:srgbClr val="0E9F6E"/>
                </a:solidFill>
              </a:rPr>
              <a:t>PRODUCT ARCHITECTURE</a:t>
            </a:r>
            <a:endParaRPr lang="en-US" sz="1200" dirty="0"/>
          </a:p>
          <a:p>
            <a:pPr indent="0" marL="0">
              <a:buNone/>
            </a:pPr>
            <a:r>
              <a:rPr lang="en-US" sz="3400" b="1" dirty="0">
                <a:solidFill>
                  <a:srgbClr val="0B2E23"/>
                </a:solidFill>
                <a:latin typeface="Cambria" pitchFamily="34" charset="0"/>
                <a:ea typeface="Cambria" pitchFamily="34" charset="-122"/>
                <a:cs typeface="Cambria" pitchFamily="34" charset="-120"/>
              </a:rPr>
              <a:t>Three Core Product Features</a:t>
            </a:r>
            <a:endParaRPr lang="en-US" sz="1200" dirty="0"/>
          </a:p>
        </p:txBody>
      </p:sp>
      <p:sp>
        <p:nvSpPr>
          <p:cNvPr id="3" name="Shape 1"/>
          <p:cNvSpPr/>
          <p:nvPr/>
        </p:nvSpPr>
        <p:spPr>
          <a:xfrm>
            <a:off x="731520" y="1737360"/>
            <a:ext cx="3520440" cy="4023360"/>
          </a:xfrm>
          <a:prstGeom prst="roundRect">
            <a:avLst>
              <a:gd name="adj" fmla="val 3896"/>
            </a:avLst>
          </a:prstGeom>
          <a:solidFill>
            <a:srgbClr val="EEF9F4"/>
          </a:solidFill>
          <a:ln w="12700">
            <a:solidFill>
              <a:srgbClr val="EEF9F4"/>
            </a:solidFill>
            <a:prstDash val="solid"/>
          </a:ln>
        </p:spPr>
      </p:sp>
      <p:pic>
        <p:nvPicPr>
          <p:cNvPr id="4" name="Image 0" descr="preencoded.png">    </p:cNvPr>
          <p:cNvPicPr>
            <a:picLocks noChangeAspect="1"/>
          </p:cNvPicPr>
          <p:nvPr/>
        </p:nvPicPr>
        <p:blipFill>
          <a:blip r:embed="rId1"/>
          <a:stretch>
            <a:fillRect/>
          </a:stretch>
        </p:blipFill>
        <p:spPr>
          <a:xfrm>
            <a:off x="1051560" y="2011680"/>
            <a:ext cx="822960" cy="822960"/>
          </a:xfrm>
          <a:prstGeom prst="rect">
            <a:avLst/>
          </a:prstGeom>
        </p:spPr>
      </p:pic>
      <p:sp>
        <p:nvSpPr>
          <p:cNvPr id="5" name="Text 2"/>
          <p:cNvSpPr txBox="1"/>
          <p:nvPr/>
        </p:nvSpPr>
        <p:spPr>
          <a:xfrm>
            <a:off x="1051560" y="3017520"/>
            <a:ext cx="2880360" cy="868680"/>
          </a:xfrm>
          <a:prstGeom prst="rect">
            <a:avLst/>
          </a:prstGeom>
          <a:noFill/>
          <a:ln/>
        </p:spPr>
        <p:txBody>
          <a:bodyPr wrap="square" lIns="0" tIns="0" rIns="0" bIns="0" rtlCol="0" anchor="t"/>
          <a:lstStyle/>
          <a:p>
            <a:pPr indent="0" marL="0">
              <a:buNone/>
            </a:pPr>
            <a:r>
              <a:rPr lang="en-US" sz="2000" b="1" dirty="0">
                <a:solidFill>
                  <a:srgbClr val="0E9F6E"/>
                </a:solidFill>
              </a:rPr>
              <a:t>1. STI Student ID Auth</a:t>
            </a:r>
            <a:endParaRPr lang="en-US" sz="2000" dirty="0"/>
          </a:p>
        </p:txBody>
      </p:sp>
      <p:sp>
        <p:nvSpPr>
          <p:cNvPr id="6" name="Text 3"/>
          <p:cNvSpPr txBox="1"/>
          <p:nvPr/>
        </p:nvSpPr>
        <p:spPr>
          <a:xfrm>
            <a:off x="1051560" y="3794760"/>
            <a:ext cx="2880360" cy="1828800"/>
          </a:xfrm>
          <a:prstGeom prst="rect">
            <a:avLst/>
          </a:prstGeom>
          <a:noFill/>
          <a:ln/>
        </p:spPr>
        <p:txBody>
          <a:bodyPr wrap="square" lIns="0" tIns="0" rIns="0" bIns="0" rtlCol="0" anchor="t"/>
          <a:lstStyle/>
          <a:p>
            <a:pPr indent="0" marL="0">
              <a:buNone/>
            </a:pPr>
            <a:r>
              <a:rPr lang="en-US" sz="1500" dirty="0">
                <a:solidFill>
                  <a:srgbClr val="0B2E23"/>
                </a:solidFill>
              </a:rPr>
              <a:t>Automated OCR scanning of student registration forms and .edu.ph email domain binding to ensure 100% verified peers.</a:t>
            </a:r>
            <a:endParaRPr lang="en-US" sz="1500" dirty="0"/>
          </a:p>
        </p:txBody>
      </p:sp>
      <p:sp>
        <p:nvSpPr>
          <p:cNvPr id="7" name="Shape 4"/>
          <p:cNvSpPr/>
          <p:nvPr/>
        </p:nvSpPr>
        <p:spPr>
          <a:xfrm>
            <a:off x="4416552" y="1737360"/>
            <a:ext cx="3520440" cy="4023360"/>
          </a:xfrm>
          <a:prstGeom prst="roundRect">
            <a:avLst>
              <a:gd name="adj" fmla="val 3896"/>
            </a:avLst>
          </a:prstGeom>
          <a:solidFill>
            <a:srgbClr val="EEF9F4"/>
          </a:solidFill>
          <a:ln w="12700">
            <a:solidFill>
              <a:srgbClr val="EEF9F4"/>
            </a:solidFill>
            <a:prstDash val="solid"/>
          </a:ln>
        </p:spPr>
      </p:sp>
      <p:pic>
        <p:nvPicPr>
          <p:cNvPr id="8" name="Image 1" descr="preencoded.png">    </p:cNvPr>
          <p:cNvPicPr>
            <a:picLocks noChangeAspect="1"/>
          </p:cNvPicPr>
          <p:nvPr/>
        </p:nvPicPr>
        <p:blipFill>
          <a:blip r:embed="rId2"/>
          <a:stretch>
            <a:fillRect/>
          </a:stretch>
        </p:blipFill>
        <p:spPr>
          <a:xfrm>
            <a:off x="4736592" y="2011680"/>
            <a:ext cx="822960" cy="822960"/>
          </a:xfrm>
          <a:prstGeom prst="rect">
            <a:avLst/>
          </a:prstGeom>
        </p:spPr>
      </p:pic>
      <p:sp>
        <p:nvSpPr>
          <p:cNvPr id="9" name="Text 5"/>
          <p:cNvSpPr txBox="1"/>
          <p:nvPr/>
        </p:nvSpPr>
        <p:spPr>
          <a:xfrm>
            <a:off x="4736592" y="3017520"/>
            <a:ext cx="2880360" cy="868680"/>
          </a:xfrm>
          <a:prstGeom prst="rect">
            <a:avLst/>
          </a:prstGeom>
          <a:noFill/>
          <a:ln/>
        </p:spPr>
        <p:txBody>
          <a:bodyPr wrap="square" lIns="0" tIns="0" rIns="0" bIns="0" rtlCol="0" anchor="t"/>
          <a:lstStyle/>
          <a:p>
            <a:pPr indent="0" marL="0">
              <a:buNone/>
            </a:pPr>
            <a:r>
              <a:rPr lang="en-US" sz="2000" b="1" dirty="0">
                <a:solidFill>
                  <a:srgbClr val="0E9F6E"/>
                </a:solidFill>
              </a:rPr>
              <a:t>2. In-App Escrow Holds</a:t>
            </a:r>
            <a:endParaRPr lang="en-US" sz="2000" dirty="0"/>
          </a:p>
        </p:txBody>
      </p:sp>
      <p:sp>
        <p:nvSpPr>
          <p:cNvPr id="10" name="Text 6"/>
          <p:cNvSpPr txBox="1"/>
          <p:nvPr/>
        </p:nvSpPr>
        <p:spPr>
          <a:xfrm>
            <a:off x="4736592" y="3794760"/>
            <a:ext cx="2880360" cy="1828800"/>
          </a:xfrm>
          <a:prstGeom prst="rect">
            <a:avLst/>
          </a:prstGeom>
          <a:noFill/>
          <a:ln/>
        </p:spPr>
        <p:txBody>
          <a:bodyPr wrap="square" lIns="0" tIns="0" rIns="0" bIns="0" rtlCol="0" anchor="t"/>
          <a:lstStyle/>
          <a:p>
            <a:pPr indent="0" marL="0">
              <a:buNone/>
            </a:pPr>
            <a:r>
              <a:rPr lang="en-US" sz="1500" dirty="0">
                <a:solidFill>
                  <a:srgbClr val="0B2E23"/>
                </a:solidFill>
              </a:rPr>
              <a:t>Buyer payments via GCash/Maya are held securely until physical item verification at designated campus zones.</a:t>
            </a:r>
            <a:endParaRPr lang="en-US" sz="1500" dirty="0"/>
          </a:p>
        </p:txBody>
      </p:sp>
      <p:sp>
        <p:nvSpPr>
          <p:cNvPr id="11" name="Shape 7"/>
          <p:cNvSpPr/>
          <p:nvPr/>
        </p:nvSpPr>
        <p:spPr>
          <a:xfrm>
            <a:off x="8101584" y="1737360"/>
            <a:ext cx="3520440" cy="4023360"/>
          </a:xfrm>
          <a:prstGeom prst="roundRect">
            <a:avLst>
              <a:gd name="adj" fmla="val 3896"/>
            </a:avLst>
          </a:prstGeom>
          <a:solidFill>
            <a:srgbClr val="EEF9F4"/>
          </a:solidFill>
          <a:ln w="12700">
            <a:solidFill>
              <a:srgbClr val="EEF9F4"/>
            </a:solidFill>
            <a:prstDash val="solid"/>
          </a:ln>
        </p:spPr>
      </p:sp>
      <p:pic>
        <p:nvPicPr>
          <p:cNvPr id="12" name="Image 2" descr="preencoded.png">    </p:cNvPr>
          <p:cNvPicPr>
            <a:picLocks noChangeAspect="1"/>
          </p:cNvPicPr>
          <p:nvPr/>
        </p:nvPicPr>
        <p:blipFill>
          <a:blip r:embed="rId3"/>
          <a:stretch>
            <a:fillRect/>
          </a:stretch>
        </p:blipFill>
        <p:spPr>
          <a:xfrm>
            <a:off x="8421624" y="2011680"/>
            <a:ext cx="822960" cy="822960"/>
          </a:xfrm>
          <a:prstGeom prst="rect">
            <a:avLst/>
          </a:prstGeom>
        </p:spPr>
      </p:pic>
      <p:sp>
        <p:nvSpPr>
          <p:cNvPr id="13" name="Text 8"/>
          <p:cNvSpPr txBox="1"/>
          <p:nvPr/>
        </p:nvSpPr>
        <p:spPr>
          <a:xfrm>
            <a:off x="8421624" y="3017520"/>
            <a:ext cx="2880360" cy="868680"/>
          </a:xfrm>
          <a:prstGeom prst="rect">
            <a:avLst/>
          </a:prstGeom>
          <a:noFill/>
          <a:ln/>
        </p:spPr>
        <p:txBody>
          <a:bodyPr wrap="square" lIns="0" tIns="0" rIns="0" bIns="0" rtlCol="0" anchor="t"/>
          <a:lstStyle/>
          <a:p>
            <a:pPr indent="0" marL="0">
              <a:buNone/>
            </a:pPr>
            <a:r>
              <a:rPr lang="en-US" sz="2000" b="1" dirty="0">
                <a:solidFill>
                  <a:srgbClr val="0E9F6E"/>
                </a:solidFill>
              </a:rPr>
              <a:t>3. Course Material Matching</a:t>
            </a:r>
            <a:endParaRPr lang="en-US" sz="2000" dirty="0"/>
          </a:p>
        </p:txBody>
      </p:sp>
      <p:sp>
        <p:nvSpPr>
          <p:cNvPr id="14" name="Text 9"/>
          <p:cNvSpPr txBox="1"/>
          <p:nvPr/>
        </p:nvSpPr>
        <p:spPr>
          <a:xfrm>
            <a:off x="8421624" y="3794760"/>
            <a:ext cx="2880360" cy="1828800"/>
          </a:xfrm>
          <a:prstGeom prst="rect">
            <a:avLst/>
          </a:prstGeom>
          <a:noFill/>
          <a:ln/>
        </p:spPr>
        <p:txBody>
          <a:bodyPr wrap="square" lIns="0" tIns="0" rIns="0" bIns="0" rtlCol="0" anchor="t"/>
          <a:lstStyle/>
          <a:p>
            <a:pPr indent="0" marL="0">
              <a:buNone/>
            </a:pPr>
            <a:r>
              <a:rPr lang="en-US" sz="1500" dirty="0">
                <a:solidFill>
                  <a:srgbClr val="0B2E23"/>
                </a:solidFill>
              </a:rPr>
              <a:t>Algorithm maps syllabus requirements directly to matching secondhand textbooks sold by upperclassmen.</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731520" y="365760"/>
            <a:ext cx="10698480" cy="1143000"/>
          </a:xfrm>
          <a:prstGeom prst="rect">
            <a:avLst/>
          </a:prstGeom>
          <a:noFill/>
          <a:ln/>
        </p:spPr>
        <p:txBody>
          <a:bodyPr wrap="square" lIns="0" tIns="0" rIns="0" bIns="0" rtlCol="0" anchor="t"/>
          <a:lstStyle/>
          <a:p>
            <a:pPr indent="0" marL="0">
              <a:spcAft>
                <a:spcPts val="400"/>
              </a:spcAft>
              <a:buNone/>
            </a:pPr>
            <a:r>
              <a:rPr lang="en-US" sz="1200" b="1" spc="300" kern="0" dirty="0">
                <a:solidFill>
                  <a:srgbClr val="0E9F6E"/>
                </a:solidFill>
              </a:rPr>
              <a:t>REVENUE ENGINE</a:t>
            </a:r>
            <a:endParaRPr lang="en-US" sz="1200" dirty="0"/>
          </a:p>
          <a:p>
            <a:pPr indent="0" marL="0">
              <a:buNone/>
            </a:pPr>
            <a:r>
              <a:rPr lang="en-US" sz="3400" b="1" dirty="0">
                <a:solidFill>
                  <a:srgbClr val="0B2E23"/>
                </a:solidFill>
                <a:latin typeface="Cambria" pitchFamily="34" charset="0"/>
                <a:ea typeface="Cambria" pitchFamily="34" charset="-122"/>
                <a:cs typeface="Cambria" pitchFamily="34" charset="-120"/>
              </a:rPr>
              <a:t>Monetization &amp; Unit Economics</a:t>
            </a:r>
            <a:endParaRPr lang="en-US" sz="1200" dirty="0"/>
          </a:p>
        </p:txBody>
      </p:sp>
      <p:pic>
        <p:nvPicPr>
          <p:cNvPr id="3" name="Image 0" descr="Illustration for Monetization &amp; Unit Economics">    </p:cNvPr>
          <p:cNvPicPr>
            <a:picLocks noChangeAspect="1"/>
          </p:cNvPicPr>
          <p:nvPr/>
        </p:nvPicPr>
        <p:blipFill>
          <a:blip r:embed="rId1"/>
          <a:stretch>
            <a:fillRect/>
          </a:stretch>
        </p:blipFill>
        <p:spPr>
          <a:xfrm>
            <a:off x="731520" y="1737360"/>
            <a:ext cx="4480560" cy="4480560"/>
          </a:xfrm>
          <a:prstGeom prst="rect">
            <a:avLst/>
          </a:prstGeom>
        </p:spPr>
      </p:pic>
      <p:sp>
        <p:nvSpPr>
          <p:cNvPr id="4" name="Shape 1"/>
          <p:cNvSpPr/>
          <p:nvPr/>
        </p:nvSpPr>
        <p:spPr>
          <a:xfrm>
            <a:off x="5577840" y="1737360"/>
            <a:ext cx="5879592" cy="1371600"/>
          </a:xfrm>
          <a:prstGeom prst="roundRect">
            <a:avLst>
              <a:gd name="adj" fmla="val 10000"/>
            </a:avLst>
          </a:prstGeom>
          <a:solidFill>
            <a:srgbClr val="EEF9F4"/>
          </a:solidFill>
          <a:ln w="12700">
            <a:solidFill>
              <a:srgbClr val="EEF9F4"/>
            </a:solidFill>
            <a:prstDash val="solid"/>
          </a:ln>
        </p:spPr>
      </p:sp>
      <p:pic>
        <p:nvPicPr>
          <p:cNvPr id="5" name="Image 1" descr="preencoded.png">    </p:cNvPr>
          <p:cNvPicPr>
            <a:picLocks noChangeAspect="1"/>
          </p:cNvPicPr>
          <p:nvPr/>
        </p:nvPicPr>
        <p:blipFill>
          <a:blip r:embed="rId2"/>
          <a:stretch>
            <a:fillRect/>
          </a:stretch>
        </p:blipFill>
        <p:spPr>
          <a:xfrm>
            <a:off x="5806440" y="2057400"/>
            <a:ext cx="731520" cy="731520"/>
          </a:xfrm>
          <a:prstGeom prst="rect">
            <a:avLst/>
          </a:prstGeom>
        </p:spPr>
      </p:pic>
      <p:sp>
        <p:nvSpPr>
          <p:cNvPr id="6" name="Text 2"/>
          <p:cNvSpPr txBox="1"/>
          <p:nvPr/>
        </p:nvSpPr>
        <p:spPr>
          <a:xfrm>
            <a:off x="6766560" y="1828800"/>
            <a:ext cx="4572000" cy="1188720"/>
          </a:xfrm>
          <a:prstGeom prst="rect">
            <a:avLst/>
          </a:prstGeom>
          <a:noFill/>
          <a:ln/>
        </p:spPr>
        <p:txBody>
          <a:bodyPr wrap="square" lIns="0" tIns="0" rIns="0" bIns="0" rtlCol="0" anchor="ctr"/>
          <a:lstStyle/>
          <a:p>
            <a:pPr indent="0" marL="0">
              <a:spcAft>
                <a:spcPts val="300"/>
              </a:spcAft>
              <a:buNone/>
            </a:pPr>
            <a:r>
              <a:rPr lang="en-US" sz="1800" b="1" dirty="0">
                <a:solidFill>
                  <a:srgbClr val="0E9F6E"/>
                </a:solidFill>
              </a:rPr>
              <a:t>3.5% Transaction Fee</a:t>
            </a:r>
            <a:endParaRPr lang="en-US" sz="1800" dirty="0"/>
          </a:p>
          <a:p>
            <a:pPr indent="0" marL="0">
              <a:buNone/>
            </a:pPr>
            <a:r>
              <a:rPr lang="en-US" sz="1400" dirty="0">
                <a:solidFill>
                  <a:srgbClr val="0B2E23"/>
                </a:solidFill>
              </a:rPr>
              <a:t>Lightweight commission on successful transactions, split between buyer and seller.</a:t>
            </a:r>
            <a:endParaRPr lang="en-US" sz="1800" dirty="0"/>
          </a:p>
        </p:txBody>
      </p:sp>
      <p:sp>
        <p:nvSpPr>
          <p:cNvPr id="7" name="Shape 3"/>
          <p:cNvSpPr/>
          <p:nvPr/>
        </p:nvSpPr>
        <p:spPr>
          <a:xfrm>
            <a:off x="5577840" y="3291840"/>
            <a:ext cx="5879592" cy="1371600"/>
          </a:xfrm>
          <a:prstGeom prst="roundRect">
            <a:avLst>
              <a:gd name="adj" fmla="val 10000"/>
            </a:avLst>
          </a:prstGeom>
          <a:solidFill>
            <a:srgbClr val="EEF9F4"/>
          </a:solidFill>
          <a:ln w="12700">
            <a:solidFill>
              <a:srgbClr val="EEF9F4"/>
            </a:solidFill>
            <a:prstDash val="solid"/>
          </a:ln>
        </p:spPr>
      </p:sp>
      <p:pic>
        <p:nvPicPr>
          <p:cNvPr id="8" name="Image 2" descr="preencoded.png">    </p:cNvPr>
          <p:cNvPicPr>
            <a:picLocks noChangeAspect="1"/>
          </p:cNvPicPr>
          <p:nvPr/>
        </p:nvPicPr>
        <p:blipFill>
          <a:blip r:embed="rId3"/>
          <a:stretch>
            <a:fillRect/>
          </a:stretch>
        </p:blipFill>
        <p:spPr>
          <a:xfrm>
            <a:off x="5806440" y="3611880"/>
            <a:ext cx="731520" cy="731520"/>
          </a:xfrm>
          <a:prstGeom prst="rect">
            <a:avLst/>
          </a:prstGeom>
        </p:spPr>
      </p:pic>
      <p:sp>
        <p:nvSpPr>
          <p:cNvPr id="9" name="Text 4"/>
          <p:cNvSpPr txBox="1"/>
          <p:nvPr/>
        </p:nvSpPr>
        <p:spPr>
          <a:xfrm>
            <a:off x="6766560" y="3383280"/>
            <a:ext cx="4572000" cy="1188720"/>
          </a:xfrm>
          <a:prstGeom prst="rect">
            <a:avLst/>
          </a:prstGeom>
          <a:noFill/>
          <a:ln/>
        </p:spPr>
        <p:txBody>
          <a:bodyPr wrap="square" lIns="0" tIns="0" rIns="0" bIns="0" rtlCol="0" anchor="ctr"/>
          <a:lstStyle/>
          <a:p>
            <a:pPr indent="0" marL="0">
              <a:spcAft>
                <a:spcPts val="300"/>
              </a:spcAft>
              <a:buNone/>
            </a:pPr>
            <a:r>
              <a:rPr lang="en-US" sz="1800" b="1" dirty="0">
                <a:solidFill>
                  <a:srgbClr val="0E9F6E"/>
                </a:solidFill>
              </a:rPr>
              <a:t>Campus Merchant Showcases</a:t>
            </a:r>
            <a:endParaRPr lang="en-US" sz="1800" dirty="0"/>
          </a:p>
          <a:p>
            <a:pPr indent="0" marL="0">
              <a:buNone/>
            </a:pPr>
            <a:r>
              <a:rPr lang="en-US" sz="1400" dirty="0">
                <a:solidFill>
                  <a:srgbClr val="0B2E23"/>
                </a:solidFill>
              </a:rPr>
              <a:t>Local food kiosks and print shops pay ₱800/mo for featured promotion banners.</a:t>
            </a:r>
            <a:endParaRPr lang="en-US" sz="1800" dirty="0"/>
          </a:p>
        </p:txBody>
      </p:sp>
      <p:sp>
        <p:nvSpPr>
          <p:cNvPr id="10" name="Shape 5"/>
          <p:cNvSpPr/>
          <p:nvPr/>
        </p:nvSpPr>
        <p:spPr>
          <a:xfrm>
            <a:off x="5577840" y="4846320"/>
            <a:ext cx="5879592" cy="1371600"/>
          </a:xfrm>
          <a:prstGeom prst="roundRect">
            <a:avLst>
              <a:gd name="adj" fmla="val 10000"/>
            </a:avLst>
          </a:prstGeom>
          <a:solidFill>
            <a:srgbClr val="EEF9F4"/>
          </a:solidFill>
          <a:ln w="12700">
            <a:solidFill>
              <a:srgbClr val="EEF9F4"/>
            </a:solidFill>
            <a:prstDash val="solid"/>
          </a:ln>
        </p:spPr>
      </p:sp>
      <p:pic>
        <p:nvPicPr>
          <p:cNvPr id="11" name="Image 3" descr="preencoded.png">    </p:cNvPr>
          <p:cNvPicPr>
            <a:picLocks noChangeAspect="1"/>
          </p:cNvPicPr>
          <p:nvPr/>
        </p:nvPicPr>
        <p:blipFill>
          <a:blip r:embed="rId4"/>
          <a:stretch>
            <a:fillRect/>
          </a:stretch>
        </p:blipFill>
        <p:spPr>
          <a:xfrm>
            <a:off x="5806440" y="5166360"/>
            <a:ext cx="731520" cy="731520"/>
          </a:xfrm>
          <a:prstGeom prst="rect">
            <a:avLst/>
          </a:prstGeom>
        </p:spPr>
      </p:pic>
      <p:sp>
        <p:nvSpPr>
          <p:cNvPr id="12" name="Text 6"/>
          <p:cNvSpPr txBox="1"/>
          <p:nvPr/>
        </p:nvSpPr>
        <p:spPr>
          <a:xfrm>
            <a:off x="6766560" y="4937760"/>
            <a:ext cx="4572000" cy="1188720"/>
          </a:xfrm>
          <a:prstGeom prst="rect">
            <a:avLst/>
          </a:prstGeom>
          <a:noFill/>
          <a:ln/>
        </p:spPr>
        <p:txBody>
          <a:bodyPr wrap="square" lIns="0" tIns="0" rIns="0" bIns="0" rtlCol="0" anchor="ctr"/>
          <a:lstStyle/>
          <a:p>
            <a:pPr indent="0" marL="0">
              <a:spcAft>
                <a:spcPts val="300"/>
              </a:spcAft>
              <a:buNone/>
            </a:pPr>
            <a:r>
              <a:rPr lang="en-US" sz="1800" b="1" dirty="0">
                <a:solidFill>
                  <a:srgbClr val="0E9F6E"/>
                </a:solidFill>
              </a:rPr>
              <a:t>Premium Fast-Track Listings</a:t>
            </a:r>
            <a:endParaRPr lang="en-US" sz="1800" dirty="0"/>
          </a:p>
          <a:p>
            <a:pPr indent="0" marL="0">
              <a:buNone/>
            </a:pPr>
            <a:r>
              <a:rPr lang="en-US" sz="1400" dirty="0">
                <a:solidFill>
                  <a:srgbClr val="0B2E23"/>
                </a:solidFill>
              </a:rPr>
              <a:t>₱25 micro-payments to highlight items at the top of course search feeds.</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Illustration for Traction &amp; Pilot Validation">    </p:cNvPr>
          <p:cNvPicPr>
            <a:picLocks noChangeAspect="1"/>
          </p:cNvPicPr>
          <p:nvPr/>
        </p:nvPicPr>
        <p:blipFill>
          <a:blip r:embed="rId1"/>
          <a:stretch>
            <a:fillRect/>
          </a:stretch>
        </p:blipFill>
        <p:spPr>
          <a:xfrm>
            <a:off x="6217920" y="960120"/>
            <a:ext cx="4937760" cy="4937760"/>
          </a:xfrm>
          <a:prstGeom prst="rect">
            <a:avLst/>
          </a:prstGeom>
        </p:spPr>
      </p:pic>
      <p:sp>
        <p:nvSpPr>
          <p:cNvPr id="3" name="Text 0"/>
          <p:cNvSpPr txBox="1"/>
          <p:nvPr/>
        </p:nvSpPr>
        <p:spPr>
          <a:xfrm>
            <a:off x="731520" y="822960"/>
            <a:ext cx="5394960" cy="5212080"/>
          </a:xfrm>
          <a:prstGeom prst="rect">
            <a:avLst/>
          </a:prstGeom>
          <a:noFill/>
          <a:ln/>
        </p:spPr>
        <p:txBody>
          <a:bodyPr wrap="square" lIns="0" tIns="0" rIns="0" bIns="0" rtlCol="0" anchor="ctr"/>
          <a:lstStyle/>
          <a:p>
            <a:pPr indent="0" marL="0">
              <a:spcAft>
                <a:spcPts val="1200"/>
              </a:spcAft>
              <a:buNone/>
            </a:pPr>
            <a:r>
              <a:rPr lang="en-US" sz="3800" b="1" dirty="0">
                <a:solidFill>
                  <a:srgbClr val="FFFFFF"/>
                </a:solidFill>
                <a:latin typeface="Cambria" pitchFamily="34" charset="0"/>
                <a:ea typeface="Cambria" pitchFamily="34" charset="-122"/>
                <a:cs typeface="Cambria" pitchFamily="34" charset="-120"/>
              </a:rPr>
              <a:t>Traction &amp; Pilot Validation</a:t>
            </a:r>
            <a:endParaRPr lang="en-US" sz="3800" dirty="0"/>
          </a:p>
          <a:p>
            <a:pPr indent="0" marL="0">
              <a:buNone/>
            </a:pPr>
            <a:r>
              <a:rPr lang="en-US" sz="2000" dirty="0">
                <a:solidFill>
                  <a:srgbClr val="F5A623"/>
                </a:solidFill>
              </a:rPr>
              <a:t>Tested with Over 1,200 Active Students at STI West Negros University</a:t>
            </a:r>
            <a:endParaRPr lang="en-US" sz="3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731520" y="365760"/>
            <a:ext cx="10698480" cy="1143000"/>
          </a:xfrm>
          <a:prstGeom prst="rect">
            <a:avLst/>
          </a:prstGeom>
          <a:noFill/>
          <a:ln/>
        </p:spPr>
        <p:txBody>
          <a:bodyPr wrap="square" lIns="0" tIns="0" rIns="0" bIns="0" rtlCol="0" anchor="t"/>
          <a:lstStyle/>
          <a:p>
            <a:pPr indent="0" marL="0">
              <a:spcAft>
                <a:spcPts val="400"/>
              </a:spcAft>
              <a:buNone/>
            </a:pPr>
            <a:r>
              <a:rPr lang="en-US" sz="1200" b="1" spc="300" kern="0" dirty="0">
                <a:solidFill>
                  <a:srgbClr val="0E9F6E"/>
                </a:solidFill>
              </a:rPr>
              <a:t>USER JOURNEY</a:t>
            </a:r>
            <a:endParaRPr lang="en-US" sz="1200" dirty="0"/>
          </a:p>
          <a:p>
            <a:pPr indent="0" marL="0">
              <a:buNone/>
            </a:pPr>
            <a:r>
              <a:rPr lang="en-US" sz="3400" b="1" dirty="0">
                <a:solidFill>
                  <a:srgbClr val="0B2E23"/>
                </a:solidFill>
                <a:latin typeface="Cambria" pitchFamily="34" charset="0"/>
                <a:ea typeface="Cambria" pitchFamily="34" charset="-122"/>
                <a:cs typeface="Cambria" pitchFamily="34" charset="-120"/>
              </a:rPr>
              <a:t>Core Mobile App Experience</a:t>
            </a:r>
            <a:endParaRPr lang="en-US" sz="1200" dirty="0"/>
          </a:p>
        </p:txBody>
      </p:sp>
      <p:pic>
        <p:nvPicPr>
          <p:cNvPr id="3" name="Image 0" descr="Illustration for Core Mobile App Experience">    </p:cNvPr>
          <p:cNvPicPr>
            <a:picLocks noChangeAspect="1"/>
          </p:cNvPicPr>
          <p:nvPr/>
        </p:nvPicPr>
        <p:blipFill>
          <a:blip r:embed="rId1"/>
          <a:stretch>
            <a:fillRect/>
          </a:stretch>
        </p:blipFill>
        <p:spPr>
          <a:xfrm>
            <a:off x="731520" y="1737360"/>
            <a:ext cx="4480560" cy="4480560"/>
          </a:xfrm>
          <a:prstGeom prst="rect">
            <a:avLst/>
          </a:prstGeom>
        </p:spPr>
      </p:pic>
      <p:sp>
        <p:nvSpPr>
          <p:cNvPr id="4" name="Shape 1"/>
          <p:cNvSpPr/>
          <p:nvPr/>
        </p:nvSpPr>
        <p:spPr>
          <a:xfrm>
            <a:off x="5577840" y="1737360"/>
            <a:ext cx="5879592" cy="1371600"/>
          </a:xfrm>
          <a:prstGeom prst="roundRect">
            <a:avLst>
              <a:gd name="adj" fmla="val 10000"/>
            </a:avLst>
          </a:prstGeom>
          <a:solidFill>
            <a:srgbClr val="EEF9F4"/>
          </a:solidFill>
          <a:ln w="12700">
            <a:solidFill>
              <a:srgbClr val="EEF9F4"/>
            </a:solidFill>
            <a:prstDash val="solid"/>
          </a:ln>
        </p:spPr>
      </p:sp>
      <p:pic>
        <p:nvPicPr>
          <p:cNvPr id="5" name="Image 1" descr="preencoded.png">    </p:cNvPr>
          <p:cNvPicPr>
            <a:picLocks noChangeAspect="1"/>
          </p:cNvPicPr>
          <p:nvPr/>
        </p:nvPicPr>
        <p:blipFill>
          <a:blip r:embed="rId2"/>
          <a:stretch>
            <a:fillRect/>
          </a:stretch>
        </p:blipFill>
        <p:spPr>
          <a:xfrm>
            <a:off x="5806440" y="2057400"/>
            <a:ext cx="731520" cy="731520"/>
          </a:xfrm>
          <a:prstGeom prst="rect">
            <a:avLst/>
          </a:prstGeom>
        </p:spPr>
      </p:pic>
      <p:sp>
        <p:nvSpPr>
          <p:cNvPr id="6" name="Text 2"/>
          <p:cNvSpPr txBox="1"/>
          <p:nvPr/>
        </p:nvSpPr>
        <p:spPr>
          <a:xfrm>
            <a:off x="6766560" y="1828800"/>
            <a:ext cx="4572000" cy="1188720"/>
          </a:xfrm>
          <a:prstGeom prst="rect">
            <a:avLst/>
          </a:prstGeom>
          <a:noFill/>
          <a:ln/>
        </p:spPr>
        <p:txBody>
          <a:bodyPr wrap="square" lIns="0" tIns="0" rIns="0" bIns="0" rtlCol="0" anchor="ctr"/>
          <a:lstStyle/>
          <a:p>
            <a:pPr indent="0" marL="0">
              <a:spcAft>
                <a:spcPts val="300"/>
              </a:spcAft>
              <a:buNone/>
            </a:pPr>
            <a:r>
              <a:rPr lang="en-US" sz="1800" b="1" dirty="0">
                <a:solidFill>
                  <a:srgbClr val="0E9F6E"/>
                </a:solidFill>
              </a:rPr>
              <a:t>Sub-Minute Listing Flow</a:t>
            </a:r>
            <a:endParaRPr lang="en-US" sz="1800" dirty="0"/>
          </a:p>
          <a:p>
            <a:pPr indent="0" marL="0">
              <a:buNone/>
            </a:pPr>
            <a:r>
              <a:rPr lang="en-US" sz="1400" dirty="0">
                <a:solidFill>
                  <a:srgbClr val="0B2E23"/>
                </a:solidFill>
              </a:rPr>
              <a:t>Snap 3 photos, select course code, set price, and publish in under 45 seconds.</a:t>
            </a:r>
            <a:endParaRPr lang="en-US" sz="1800" dirty="0"/>
          </a:p>
        </p:txBody>
      </p:sp>
      <p:sp>
        <p:nvSpPr>
          <p:cNvPr id="7" name="Shape 3"/>
          <p:cNvSpPr/>
          <p:nvPr/>
        </p:nvSpPr>
        <p:spPr>
          <a:xfrm>
            <a:off x="5577840" y="3291840"/>
            <a:ext cx="5879592" cy="1371600"/>
          </a:xfrm>
          <a:prstGeom prst="roundRect">
            <a:avLst>
              <a:gd name="adj" fmla="val 10000"/>
            </a:avLst>
          </a:prstGeom>
          <a:solidFill>
            <a:srgbClr val="EEF9F4"/>
          </a:solidFill>
          <a:ln w="12700">
            <a:solidFill>
              <a:srgbClr val="EEF9F4"/>
            </a:solidFill>
            <a:prstDash val="solid"/>
          </a:ln>
        </p:spPr>
      </p:sp>
      <p:pic>
        <p:nvPicPr>
          <p:cNvPr id="8" name="Image 2" descr="preencoded.png">    </p:cNvPr>
          <p:cNvPicPr>
            <a:picLocks noChangeAspect="1"/>
          </p:cNvPicPr>
          <p:nvPr/>
        </p:nvPicPr>
        <p:blipFill>
          <a:blip r:embed="rId3"/>
          <a:stretch>
            <a:fillRect/>
          </a:stretch>
        </p:blipFill>
        <p:spPr>
          <a:xfrm>
            <a:off x="5806440" y="3611880"/>
            <a:ext cx="731520" cy="731520"/>
          </a:xfrm>
          <a:prstGeom prst="rect">
            <a:avLst/>
          </a:prstGeom>
        </p:spPr>
      </p:pic>
      <p:sp>
        <p:nvSpPr>
          <p:cNvPr id="9" name="Text 4"/>
          <p:cNvSpPr txBox="1"/>
          <p:nvPr/>
        </p:nvSpPr>
        <p:spPr>
          <a:xfrm>
            <a:off x="6766560" y="3383280"/>
            <a:ext cx="4572000" cy="1188720"/>
          </a:xfrm>
          <a:prstGeom prst="rect">
            <a:avLst/>
          </a:prstGeom>
          <a:noFill/>
          <a:ln/>
        </p:spPr>
        <p:txBody>
          <a:bodyPr wrap="square" lIns="0" tIns="0" rIns="0" bIns="0" rtlCol="0" anchor="ctr"/>
          <a:lstStyle/>
          <a:p>
            <a:pPr indent="0" marL="0">
              <a:spcAft>
                <a:spcPts val="300"/>
              </a:spcAft>
              <a:buNone/>
            </a:pPr>
            <a:r>
              <a:rPr lang="en-US" sz="1800" b="1" dirty="0">
                <a:solidFill>
                  <a:srgbClr val="0E9F6E"/>
                </a:solidFill>
              </a:rPr>
              <a:t>Real-Time Campus Chat</a:t>
            </a:r>
            <a:endParaRPr lang="en-US" sz="1800" dirty="0"/>
          </a:p>
          <a:p>
            <a:pPr indent="0" marL="0">
              <a:buNone/>
            </a:pPr>
            <a:r>
              <a:rPr lang="en-US" sz="1400" dirty="0">
                <a:solidFill>
                  <a:srgbClr val="0B2E23"/>
                </a:solidFill>
              </a:rPr>
              <a:t>End-to-end encrypted messaging with automated meetup scheduling at campus landmarks.</a:t>
            </a:r>
            <a:endParaRPr lang="en-US" sz="1800" dirty="0"/>
          </a:p>
        </p:txBody>
      </p:sp>
      <p:sp>
        <p:nvSpPr>
          <p:cNvPr id="10" name="Shape 5"/>
          <p:cNvSpPr/>
          <p:nvPr/>
        </p:nvSpPr>
        <p:spPr>
          <a:xfrm>
            <a:off x="5577840" y="4846320"/>
            <a:ext cx="5879592" cy="1371600"/>
          </a:xfrm>
          <a:prstGeom prst="roundRect">
            <a:avLst>
              <a:gd name="adj" fmla="val 10000"/>
            </a:avLst>
          </a:prstGeom>
          <a:solidFill>
            <a:srgbClr val="EEF9F4"/>
          </a:solidFill>
          <a:ln w="12700">
            <a:solidFill>
              <a:srgbClr val="EEF9F4"/>
            </a:solidFill>
            <a:prstDash val="solid"/>
          </a:ln>
        </p:spPr>
      </p:sp>
      <p:pic>
        <p:nvPicPr>
          <p:cNvPr id="11" name="Image 3" descr="preencoded.png">    </p:cNvPr>
          <p:cNvPicPr>
            <a:picLocks noChangeAspect="1"/>
          </p:cNvPicPr>
          <p:nvPr/>
        </p:nvPicPr>
        <p:blipFill>
          <a:blip r:embed="rId4"/>
          <a:stretch>
            <a:fillRect/>
          </a:stretch>
        </p:blipFill>
        <p:spPr>
          <a:xfrm>
            <a:off x="5806440" y="5166360"/>
            <a:ext cx="731520" cy="731520"/>
          </a:xfrm>
          <a:prstGeom prst="rect">
            <a:avLst/>
          </a:prstGeom>
        </p:spPr>
      </p:pic>
      <p:sp>
        <p:nvSpPr>
          <p:cNvPr id="12" name="Text 6"/>
          <p:cNvSpPr txBox="1"/>
          <p:nvPr/>
        </p:nvSpPr>
        <p:spPr>
          <a:xfrm>
            <a:off x="6766560" y="4937760"/>
            <a:ext cx="4572000" cy="1188720"/>
          </a:xfrm>
          <a:prstGeom prst="rect">
            <a:avLst/>
          </a:prstGeom>
          <a:noFill/>
          <a:ln/>
        </p:spPr>
        <p:txBody>
          <a:bodyPr wrap="square" lIns="0" tIns="0" rIns="0" bIns="0" rtlCol="0" anchor="ctr"/>
          <a:lstStyle/>
          <a:p>
            <a:pPr indent="0" marL="0">
              <a:spcAft>
                <a:spcPts val="300"/>
              </a:spcAft>
              <a:buNone/>
            </a:pPr>
            <a:r>
              <a:rPr lang="en-US" sz="1800" b="1" dirty="0">
                <a:solidFill>
                  <a:srgbClr val="0E9F6E"/>
                </a:solidFill>
              </a:rPr>
              <a:t>Reputation &amp; Review Badges</a:t>
            </a:r>
            <a:endParaRPr lang="en-US" sz="1800" dirty="0"/>
          </a:p>
          <a:p>
            <a:pPr indent="0" marL="0">
              <a:buNone/>
            </a:pPr>
            <a:r>
              <a:rPr lang="en-US" sz="1400" dirty="0">
                <a:solidFill>
                  <a:srgbClr val="0B2E23"/>
                </a:solidFill>
              </a:rPr>
              <a:t>Verified peer review scores reward punctual sellers with high trust rankings.</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731520" y="365760"/>
            <a:ext cx="10698480" cy="1143000"/>
          </a:xfrm>
          <a:prstGeom prst="rect">
            <a:avLst/>
          </a:prstGeom>
          <a:noFill/>
          <a:ln/>
        </p:spPr>
        <p:txBody>
          <a:bodyPr wrap="square" lIns="0" tIns="0" rIns="0" bIns="0" rtlCol="0" anchor="t"/>
          <a:lstStyle/>
          <a:p>
            <a:pPr indent="0" marL="0">
              <a:spcAft>
                <a:spcPts val="400"/>
              </a:spcAft>
              <a:buNone/>
            </a:pPr>
            <a:r>
              <a:rPr lang="en-US" sz="1200" b="1" spc="300" kern="0" dirty="0">
                <a:solidFill>
                  <a:srgbClr val="0E9F6E"/>
                </a:solidFill>
              </a:rPr>
              <a:t>STRATEGIC MILESTONES</a:t>
            </a:r>
            <a:endParaRPr lang="en-US" sz="1200" dirty="0"/>
          </a:p>
          <a:p>
            <a:pPr indent="0" marL="0">
              <a:buNone/>
            </a:pPr>
            <a:r>
              <a:rPr lang="en-US" sz="3400" b="1" dirty="0">
                <a:solidFill>
                  <a:srgbClr val="0B2E23"/>
                </a:solidFill>
                <a:latin typeface="Cambria" pitchFamily="34" charset="0"/>
                <a:ea typeface="Cambria" pitchFamily="34" charset="-122"/>
                <a:cs typeface="Cambria" pitchFamily="34" charset="-120"/>
              </a:rPr>
              <a:t>12-Month Expansion Roadmap</a:t>
            </a:r>
            <a:endParaRPr lang="en-US" sz="1200" dirty="0"/>
          </a:p>
        </p:txBody>
      </p:sp>
      <p:sp>
        <p:nvSpPr>
          <p:cNvPr id="3" name="Shape 1"/>
          <p:cNvSpPr/>
          <p:nvPr/>
        </p:nvSpPr>
        <p:spPr>
          <a:xfrm>
            <a:off x="731520" y="1737360"/>
            <a:ext cx="3520440" cy="4023360"/>
          </a:xfrm>
          <a:prstGeom prst="roundRect">
            <a:avLst>
              <a:gd name="adj" fmla="val 3896"/>
            </a:avLst>
          </a:prstGeom>
          <a:solidFill>
            <a:srgbClr val="EEF9F4"/>
          </a:solidFill>
          <a:ln w="12700">
            <a:solidFill>
              <a:srgbClr val="EEF9F4"/>
            </a:solidFill>
            <a:prstDash val="solid"/>
          </a:ln>
        </p:spPr>
      </p:sp>
      <p:pic>
        <p:nvPicPr>
          <p:cNvPr id="4" name="Image 0" descr="preencoded.png">    </p:cNvPr>
          <p:cNvPicPr>
            <a:picLocks noChangeAspect="1"/>
          </p:cNvPicPr>
          <p:nvPr/>
        </p:nvPicPr>
        <p:blipFill>
          <a:blip r:embed="rId1"/>
          <a:stretch>
            <a:fillRect/>
          </a:stretch>
        </p:blipFill>
        <p:spPr>
          <a:xfrm>
            <a:off x="1051560" y="2011680"/>
            <a:ext cx="822960" cy="822960"/>
          </a:xfrm>
          <a:prstGeom prst="rect">
            <a:avLst/>
          </a:prstGeom>
        </p:spPr>
      </p:pic>
      <p:sp>
        <p:nvSpPr>
          <p:cNvPr id="5" name="Text 2"/>
          <p:cNvSpPr txBox="1"/>
          <p:nvPr/>
        </p:nvSpPr>
        <p:spPr>
          <a:xfrm>
            <a:off x="1051560" y="3017520"/>
            <a:ext cx="2880360" cy="868680"/>
          </a:xfrm>
          <a:prstGeom prst="rect">
            <a:avLst/>
          </a:prstGeom>
          <a:noFill/>
          <a:ln/>
        </p:spPr>
        <p:txBody>
          <a:bodyPr wrap="square" lIns="0" tIns="0" rIns="0" bIns="0" rtlCol="0" anchor="t"/>
          <a:lstStyle/>
          <a:p>
            <a:pPr indent="0" marL="0">
              <a:buNone/>
            </a:pPr>
            <a:r>
              <a:rPr lang="en-US" sz="2000" b="1" dirty="0">
                <a:solidFill>
                  <a:srgbClr val="0E9F6E"/>
                </a:solidFill>
              </a:rPr>
              <a:t>Q1: Negros Expansion</a:t>
            </a:r>
            <a:endParaRPr lang="en-US" sz="2000" dirty="0"/>
          </a:p>
        </p:txBody>
      </p:sp>
      <p:sp>
        <p:nvSpPr>
          <p:cNvPr id="6" name="Text 3"/>
          <p:cNvSpPr txBox="1"/>
          <p:nvPr/>
        </p:nvSpPr>
        <p:spPr>
          <a:xfrm>
            <a:off x="1051560" y="3794760"/>
            <a:ext cx="2880360" cy="1828800"/>
          </a:xfrm>
          <a:prstGeom prst="rect">
            <a:avLst/>
          </a:prstGeom>
          <a:noFill/>
          <a:ln/>
        </p:spPr>
        <p:txBody>
          <a:bodyPr wrap="square" lIns="0" tIns="0" rIns="0" bIns="0" rtlCol="0" anchor="t"/>
          <a:lstStyle/>
          <a:p>
            <a:pPr indent="0" marL="0">
              <a:buNone/>
            </a:pPr>
            <a:r>
              <a:rPr lang="en-US" sz="1500" dirty="0">
                <a:solidFill>
                  <a:srgbClr val="0B2E23"/>
                </a:solidFill>
              </a:rPr>
              <a:t>Expand to Bacolod City colleges (USLS, UNO-R, Riverside) reaching 15,000 active monthly transacting users.</a:t>
            </a:r>
            <a:endParaRPr lang="en-US" sz="1500" dirty="0"/>
          </a:p>
        </p:txBody>
      </p:sp>
      <p:sp>
        <p:nvSpPr>
          <p:cNvPr id="7" name="Shape 4"/>
          <p:cNvSpPr/>
          <p:nvPr/>
        </p:nvSpPr>
        <p:spPr>
          <a:xfrm>
            <a:off x="4416552" y="1737360"/>
            <a:ext cx="3520440" cy="4023360"/>
          </a:xfrm>
          <a:prstGeom prst="roundRect">
            <a:avLst>
              <a:gd name="adj" fmla="val 3896"/>
            </a:avLst>
          </a:prstGeom>
          <a:solidFill>
            <a:srgbClr val="EEF9F4"/>
          </a:solidFill>
          <a:ln w="12700">
            <a:solidFill>
              <a:srgbClr val="EEF9F4"/>
            </a:solidFill>
            <a:prstDash val="solid"/>
          </a:ln>
        </p:spPr>
      </p:sp>
      <p:pic>
        <p:nvPicPr>
          <p:cNvPr id="8" name="Image 1" descr="preencoded.png">    </p:cNvPr>
          <p:cNvPicPr>
            <a:picLocks noChangeAspect="1"/>
          </p:cNvPicPr>
          <p:nvPr/>
        </p:nvPicPr>
        <p:blipFill>
          <a:blip r:embed="rId2"/>
          <a:stretch>
            <a:fillRect/>
          </a:stretch>
        </p:blipFill>
        <p:spPr>
          <a:xfrm>
            <a:off x="4736592" y="2011680"/>
            <a:ext cx="822960" cy="822960"/>
          </a:xfrm>
          <a:prstGeom prst="rect">
            <a:avLst/>
          </a:prstGeom>
        </p:spPr>
      </p:pic>
      <p:sp>
        <p:nvSpPr>
          <p:cNvPr id="9" name="Text 5"/>
          <p:cNvSpPr txBox="1"/>
          <p:nvPr/>
        </p:nvSpPr>
        <p:spPr>
          <a:xfrm>
            <a:off x="4736592" y="3017520"/>
            <a:ext cx="2880360" cy="868680"/>
          </a:xfrm>
          <a:prstGeom prst="rect">
            <a:avLst/>
          </a:prstGeom>
          <a:noFill/>
          <a:ln/>
        </p:spPr>
        <p:txBody>
          <a:bodyPr wrap="square" lIns="0" tIns="0" rIns="0" bIns="0" rtlCol="0" anchor="t"/>
          <a:lstStyle/>
          <a:p>
            <a:pPr indent="0" marL="0">
              <a:buNone/>
            </a:pPr>
            <a:r>
              <a:rPr lang="en-US" sz="2000" b="1" dirty="0">
                <a:solidFill>
                  <a:srgbClr val="0E9F6E"/>
                </a:solidFill>
              </a:rPr>
              <a:t>Q2: Western Visayas Hub</a:t>
            </a:r>
            <a:endParaRPr lang="en-US" sz="2000" dirty="0"/>
          </a:p>
        </p:txBody>
      </p:sp>
      <p:sp>
        <p:nvSpPr>
          <p:cNvPr id="10" name="Text 6"/>
          <p:cNvSpPr txBox="1"/>
          <p:nvPr/>
        </p:nvSpPr>
        <p:spPr>
          <a:xfrm>
            <a:off x="4736592" y="3794760"/>
            <a:ext cx="2880360" cy="1828800"/>
          </a:xfrm>
          <a:prstGeom prst="rect">
            <a:avLst/>
          </a:prstGeom>
          <a:noFill/>
          <a:ln/>
        </p:spPr>
        <p:txBody>
          <a:bodyPr wrap="square" lIns="0" tIns="0" rIns="0" bIns="0" rtlCol="0" anchor="t"/>
          <a:lstStyle/>
          <a:p>
            <a:pPr indent="0" marL="0">
              <a:buNone/>
            </a:pPr>
            <a:r>
              <a:rPr lang="en-US" sz="1500" dirty="0">
                <a:solidFill>
                  <a:srgbClr val="0B2E23"/>
                </a:solidFill>
              </a:rPr>
              <a:t>Rollout to Iloilo City campuses, establishing regional delivery logistics for inter-campus course gear.</a:t>
            </a:r>
            <a:endParaRPr lang="en-US" sz="1500" dirty="0"/>
          </a:p>
        </p:txBody>
      </p:sp>
      <p:sp>
        <p:nvSpPr>
          <p:cNvPr id="11" name="Shape 7"/>
          <p:cNvSpPr/>
          <p:nvPr/>
        </p:nvSpPr>
        <p:spPr>
          <a:xfrm>
            <a:off x="8101584" y="1737360"/>
            <a:ext cx="3520440" cy="4023360"/>
          </a:xfrm>
          <a:prstGeom prst="roundRect">
            <a:avLst>
              <a:gd name="adj" fmla="val 3896"/>
            </a:avLst>
          </a:prstGeom>
          <a:solidFill>
            <a:srgbClr val="EEF9F4"/>
          </a:solidFill>
          <a:ln w="12700">
            <a:solidFill>
              <a:srgbClr val="EEF9F4"/>
            </a:solidFill>
            <a:prstDash val="solid"/>
          </a:ln>
        </p:spPr>
      </p:sp>
      <p:pic>
        <p:nvPicPr>
          <p:cNvPr id="12" name="Image 2" descr="preencoded.png">    </p:cNvPr>
          <p:cNvPicPr>
            <a:picLocks noChangeAspect="1"/>
          </p:cNvPicPr>
          <p:nvPr/>
        </p:nvPicPr>
        <p:blipFill>
          <a:blip r:embed="rId3"/>
          <a:stretch>
            <a:fillRect/>
          </a:stretch>
        </p:blipFill>
        <p:spPr>
          <a:xfrm>
            <a:off x="8421624" y="2011680"/>
            <a:ext cx="822960" cy="822960"/>
          </a:xfrm>
          <a:prstGeom prst="rect">
            <a:avLst/>
          </a:prstGeom>
        </p:spPr>
      </p:pic>
      <p:sp>
        <p:nvSpPr>
          <p:cNvPr id="13" name="Text 8"/>
          <p:cNvSpPr txBox="1"/>
          <p:nvPr/>
        </p:nvSpPr>
        <p:spPr>
          <a:xfrm>
            <a:off x="8421624" y="3017520"/>
            <a:ext cx="2880360" cy="868680"/>
          </a:xfrm>
          <a:prstGeom prst="rect">
            <a:avLst/>
          </a:prstGeom>
          <a:noFill/>
          <a:ln/>
        </p:spPr>
        <p:txBody>
          <a:bodyPr wrap="square" lIns="0" tIns="0" rIns="0" bIns="0" rtlCol="0" anchor="t"/>
          <a:lstStyle/>
          <a:p>
            <a:pPr indent="0" marL="0">
              <a:buNone/>
            </a:pPr>
            <a:r>
              <a:rPr lang="en-US" sz="2000" b="1" dirty="0">
                <a:solidFill>
                  <a:srgbClr val="0E9F6E"/>
                </a:solidFill>
              </a:rPr>
              <a:t>Q3: Nationwide STI Network</a:t>
            </a:r>
            <a:endParaRPr lang="en-US" sz="2000" dirty="0"/>
          </a:p>
        </p:txBody>
      </p:sp>
      <p:sp>
        <p:nvSpPr>
          <p:cNvPr id="14" name="Text 9"/>
          <p:cNvSpPr txBox="1"/>
          <p:nvPr/>
        </p:nvSpPr>
        <p:spPr>
          <a:xfrm>
            <a:off x="8421624" y="3794760"/>
            <a:ext cx="2880360" cy="1828800"/>
          </a:xfrm>
          <a:prstGeom prst="rect">
            <a:avLst/>
          </a:prstGeom>
          <a:noFill/>
          <a:ln/>
        </p:spPr>
        <p:txBody>
          <a:bodyPr wrap="square" lIns="0" tIns="0" rIns="0" bIns="0" rtlCol="0" anchor="t"/>
          <a:lstStyle/>
          <a:p>
            <a:pPr indent="0" marL="0">
              <a:buNone/>
            </a:pPr>
            <a:r>
              <a:rPr lang="en-US" sz="1500" dirty="0">
                <a:solidFill>
                  <a:srgbClr val="0B2E23"/>
                </a:solidFill>
              </a:rPr>
              <a:t>Full API deployment across all 60+ STI academic campuses in Luzon, Visayas, and Mindanao.</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731520" y="365760"/>
            <a:ext cx="10698480" cy="1143000"/>
          </a:xfrm>
          <a:prstGeom prst="rect">
            <a:avLst/>
          </a:prstGeom>
          <a:noFill/>
          <a:ln/>
        </p:spPr>
        <p:txBody>
          <a:bodyPr wrap="square" lIns="0" tIns="0" rIns="0" bIns="0" rtlCol="0" anchor="t"/>
          <a:lstStyle/>
          <a:p>
            <a:pPr indent="0" marL="0">
              <a:spcAft>
                <a:spcPts val="400"/>
              </a:spcAft>
              <a:buNone/>
            </a:pPr>
            <a:r>
              <a:rPr lang="en-US" sz="1200" b="1" spc="300" kern="0" dirty="0">
                <a:solidFill>
                  <a:srgbClr val="0E9F6E"/>
                </a:solidFill>
              </a:rPr>
              <a:t>SEED ROUND</a:t>
            </a:r>
            <a:endParaRPr lang="en-US" sz="1200" dirty="0"/>
          </a:p>
          <a:p>
            <a:pPr indent="0" marL="0">
              <a:buNone/>
            </a:pPr>
            <a:r>
              <a:rPr lang="en-US" sz="3400" b="1" dirty="0">
                <a:solidFill>
                  <a:srgbClr val="0B2E23"/>
                </a:solidFill>
                <a:latin typeface="Cambria" pitchFamily="34" charset="0"/>
                <a:ea typeface="Cambria" pitchFamily="34" charset="-122"/>
                <a:cs typeface="Cambria" pitchFamily="34" charset="-120"/>
              </a:rPr>
              <a:t>The Investment Opportunity</a:t>
            </a:r>
            <a:endParaRPr lang="en-US" sz="1200" dirty="0"/>
          </a:p>
        </p:txBody>
      </p:sp>
      <p:sp>
        <p:nvSpPr>
          <p:cNvPr id="3" name="Shape 1"/>
          <p:cNvSpPr/>
          <p:nvPr/>
        </p:nvSpPr>
        <p:spPr>
          <a:xfrm>
            <a:off x="731520" y="1737360"/>
            <a:ext cx="3520440" cy="4023360"/>
          </a:xfrm>
          <a:prstGeom prst="roundRect">
            <a:avLst>
              <a:gd name="adj" fmla="val 3896"/>
            </a:avLst>
          </a:prstGeom>
          <a:solidFill>
            <a:srgbClr val="EEF9F4"/>
          </a:solidFill>
          <a:ln w="12700">
            <a:solidFill>
              <a:srgbClr val="EEF9F4"/>
            </a:solidFill>
            <a:prstDash val="solid"/>
          </a:ln>
        </p:spPr>
      </p:sp>
      <p:pic>
        <p:nvPicPr>
          <p:cNvPr id="4" name="Image 0" descr="preencoded.png">    </p:cNvPr>
          <p:cNvPicPr>
            <a:picLocks noChangeAspect="1"/>
          </p:cNvPicPr>
          <p:nvPr/>
        </p:nvPicPr>
        <p:blipFill>
          <a:blip r:embed="rId1"/>
          <a:stretch>
            <a:fillRect/>
          </a:stretch>
        </p:blipFill>
        <p:spPr>
          <a:xfrm>
            <a:off x="1051560" y="2011680"/>
            <a:ext cx="822960" cy="822960"/>
          </a:xfrm>
          <a:prstGeom prst="rect">
            <a:avLst/>
          </a:prstGeom>
        </p:spPr>
      </p:pic>
      <p:sp>
        <p:nvSpPr>
          <p:cNvPr id="5" name="Text 2"/>
          <p:cNvSpPr txBox="1"/>
          <p:nvPr/>
        </p:nvSpPr>
        <p:spPr>
          <a:xfrm>
            <a:off x="1051560" y="3017520"/>
            <a:ext cx="2880360" cy="868680"/>
          </a:xfrm>
          <a:prstGeom prst="rect">
            <a:avLst/>
          </a:prstGeom>
          <a:noFill/>
          <a:ln/>
        </p:spPr>
        <p:txBody>
          <a:bodyPr wrap="square" lIns="0" tIns="0" rIns="0" bIns="0" rtlCol="0" anchor="t"/>
          <a:lstStyle/>
          <a:p>
            <a:pPr indent="0" marL="0">
              <a:buNone/>
            </a:pPr>
            <a:r>
              <a:rPr lang="en-US" sz="2000" b="1" dirty="0">
                <a:solidFill>
                  <a:srgbClr val="0E9F6E"/>
                </a:solidFill>
              </a:rPr>
              <a:t>₱2.5M Seed Ask</a:t>
            </a:r>
            <a:endParaRPr lang="en-US" sz="2000" dirty="0"/>
          </a:p>
        </p:txBody>
      </p:sp>
      <p:sp>
        <p:nvSpPr>
          <p:cNvPr id="6" name="Text 3"/>
          <p:cNvSpPr txBox="1"/>
          <p:nvPr/>
        </p:nvSpPr>
        <p:spPr>
          <a:xfrm>
            <a:off x="1051560" y="3794760"/>
            <a:ext cx="2880360" cy="1828800"/>
          </a:xfrm>
          <a:prstGeom prst="rect">
            <a:avLst/>
          </a:prstGeom>
          <a:noFill/>
          <a:ln/>
        </p:spPr>
        <p:txBody>
          <a:bodyPr wrap="square" lIns="0" tIns="0" rIns="0" bIns="0" rtlCol="0" anchor="t"/>
          <a:lstStyle/>
          <a:p>
            <a:pPr indent="0" marL="0">
              <a:buNone/>
            </a:pPr>
            <a:r>
              <a:rPr lang="en-US" sz="1500" dirty="0">
                <a:solidFill>
                  <a:srgbClr val="0B2E23"/>
                </a:solidFill>
              </a:rPr>
              <a:t>18-month runway to fund AWS cloud architecture, mobile iOS deployment, and student marketing ambassadors.</a:t>
            </a:r>
            <a:endParaRPr lang="en-US" sz="1500" dirty="0"/>
          </a:p>
        </p:txBody>
      </p:sp>
      <p:sp>
        <p:nvSpPr>
          <p:cNvPr id="7" name="Shape 4"/>
          <p:cNvSpPr/>
          <p:nvPr/>
        </p:nvSpPr>
        <p:spPr>
          <a:xfrm>
            <a:off x="4416552" y="1737360"/>
            <a:ext cx="3520440" cy="4023360"/>
          </a:xfrm>
          <a:prstGeom prst="roundRect">
            <a:avLst>
              <a:gd name="adj" fmla="val 3896"/>
            </a:avLst>
          </a:prstGeom>
          <a:solidFill>
            <a:srgbClr val="EEF9F4"/>
          </a:solidFill>
          <a:ln w="12700">
            <a:solidFill>
              <a:srgbClr val="EEF9F4"/>
            </a:solidFill>
            <a:prstDash val="solid"/>
          </a:ln>
        </p:spPr>
      </p:sp>
      <p:pic>
        <p:nvPicPr>
          <p:cNvPr id="8" name="Image 1" descr="preencoded.png">    </p:cNvPr>
          <p:cNvPicPr>
            <a:picLocks noChangeAspect="1"/>
          </p:cNvPicPr>
          <p:nvPr/>
        </p:nvPicPr>
        <p:blipFill>
          <a:blip r:embed="rId2"/>
          <a:stretch>
            <a:fillRect/>
          </a:stretch>
        </p:blipFill>
        <p:spPr>
          <a:xfrm>
            <a:off x="4736592" y="2011680"/>
            <a:ext cx="822960" cy="822960"/>
          </a:xfrm>
          <a:prstGeom prst="rect">
            <a:avLst/>
          </a:prstGeom>
        </p:spPr>
      </p:pic>
      <p:sp>
        <p:nvSpPr>
          <p:cNvPr id="9" name="Text 5"/>
          <p:cNvSpPr txBox="1"/>
          <p:nvPr/>
        </p:nvSpPr>
        <p:spPr>
          <a:xfrm>
            <a:off x="4736592" y="3017520"/>
            <a:ext cx="2880360" cy="868680"/>
          </a:xfrm>
          <a:prstGeom prst="rect">
            <a:avLst/>
          </a:prstGeom>
          <a:noFill/>
          <a:ln/>
        </p:spPr>
        <p:txBody>
          <a:bodyPr wrap="square" lIns="0" tIns="0" rIns="0" bIns="0" rtlCol="0" anchor="t"/>
          <a:lstStyle/>
          <a:p>
            <a:pPr indent="0" marL="0">
              <a:buNone/>
            </a:pPr>
            <a:r>
              <a:rPr lang="en-US" sz="2000" b="1" dirty="0">
                <a:solidFill>
                  <a:srgbClr val="0E9F6E"/>
                </a:solidFill>
              </a:rPr>
              <a:t>Key Growth Targets</a:t>
            </a:r>
            <a:endParaRPr lang="en-US" sz="2000" dirty="0"/>
          </a:p>
        </p:txBody>
      </p:sp>
      <p:sp>
        <p:nvSpPr>
          <p:cNvPr id="10" name="Text 6"/>
          <p:cNvSpPr txBox="1"/>
          <p:nvPr/>
        </p:nvSpPr>
        <p:spPr>
          <a:xfrm>
            <a:off x="4736592" y="3794760"/>
            <a:ext cx="2880360" cy="1828800"/>
          </a:xfrm>
          <a:prstGeom prst="rect">
            <a:avLst/>
          </a:prstGeom>
          <a:noFill/>
          <a:ln/>
        </p:spPr>
        <p:txBody>
          <a:bodyPr wrap="square" lIns="0" tIns="0" rIns="0" bIns="0" rtlCol="0" anchor="t"/>
          <a:lstStyle/>
          <a:p>
            <a:pPr indent="0" marL="0">
              <a:buNone/>
            </a:pPr>
            <a:r>
              <a:rPr lang="en-US" sz="1500" dirty="0">
                <a:solidFill>
                  <a:srgbClr val="0B2E23"/>
                </a:solidFill>
              </a:rPr>
              <a:t>50,000 registered users, ₱25M annualized GMV, and break-even unit economics by Month 14.</a:t>
            </a:r>
            <a:endParaRPr lang="en-US" sz="1500" dirty="0"/>
          </a:p>
        </p:txBody>
      </p:sp>
      <p:sp>
        <p:nvSpPr>
          <p:cNvPr id="11" name="Shape 7"/>
          <p:cNvSpPr/>
          <p:nvPr/>
        </p:nvSpPr>
        <p:spPr>
          <a:xfrm>
            <a:off x="8101584" y="1737360"/>
            <a:ext cx="3520440" cy="4023360"/>
          </a:xfrm>
          <a:prstGeom prst="roundRect">
            <a:avLst>
              <a:gd name="adj" fmla="val 3896"/>
            </a:avLst>
          </a:prstGeom>
          <a:solidFill>
            <a:srgbClr val="EEF9F4"/>
          </a:solidFill>
          <a:ln w="12700">
            <a:solidFill>
              <a:srgbClr val="EEF9F4"/>
            </a:solidFill>
            <a:prstDash val="solid"/>
          </a:ln>
        </p:spPr>
      </p:sp>
      <p:pic>
        <p:nvPicPr>
          <p:cNvPr id="12" name="Image 2" descr="preencoded.png">    </p:cNvPr>
          <p:cNvPicPr>
            <a:picLocks noChangeAspect="1"/>
          </p:cNvPicPr>
          <p:nvPr/>
        </p:nvPicPr>
        <p:blipFill>
          <a:blip r:embed="rId3"/>
          <a:stretch>
            <a:fillRect/>
          </a:stretch>
        </p:blipFill>
        <p:spPr>
          <a:xfrm>
            <a:off x="8421624" y="2011680"/>
            <a:ext cx="822960" cy="822960"/>
          </a:xfrm>
          <a:prstGeom prst="rect">
            <a:avLst/>
          </a:prstGeom>
        </p:spPr>
      </p:pic>
      <p:sp>
        <p:nvSpPr>
          <p:cNvPr id="13" name="Text 8"/>
          <p:cNvSpPr txBox="1"/>
          <p:nvPr/>
        </p:nvSpPr>
        <p:spPr>
          <a:xfrm>
            <a:off x="8421624" y="3017520"/>
            <a:ext cx="2880360" cy="868680"/>
          </a:xfrm>
          <a:prstGeom prst="rect">
            <a:avLst/>
          </a:prstGeom>
          <a:noFill/>
          <a:ln/>
        </p:spPr>
        <p:txBody>
          <a:bodyPr wrap="square" lIns="0" tIns="0" rIns="0" bIns="0" rtlCol="0" anchor="t"/>
          <a:lstStyle/>
          <a:p>
            <a:pPr indent="0" marL="0">
              <a:buNone/>
            </a:pPr>
            <a:r>
              <a:rPr lang="en-US" sz="2000" b="1" dirty="0">
                <a:solidFill>
                  <a:srgbClr val="0E9F6E"/>
                </a:solidFill>
              </a:rPr>
              <a:t>Founding Team Mastery</a:t>
            </a:r>
            <a:endParaRPr lang="en-US" sz="2000" dirty="0"/>
          </a:p>
        </p:txBody>
      </p:sp>
      <p:sp>
        <p:nvSpPr>
          <p:cNvPr id="14" name="Text 9"/>
          <p:cNvSpPr txBox="1"/>
          <p:nvPr/>
        </p:nvSpPr>
        <p:spPr>
          <a:xfrm>
            <a:off x="8421624" y="3794760"/>
            <a:ext cx="2880360" cy="1828800"/>
          </a:xfrm>
          <a:prstGeom prst="rect">
            <a:avLst/>
          </a:prstGeom>
          <a:noFill/>
          <a:ln/>
        </p:spPr>
        <p:txBody>
          <a:bodyPr wrap="square" lIns="0" tIns="0" rIns="0" bIns="0" rtlCol="0" anchor="t"/>
          <a:lstStyle/>
          <a:p>
            <a:pPr indent="0" marL="0">
              <a:buNone/>
            </a:pPr>
            <a:r>
              <a:rPr lang="en-US" sz="1500" dirty="0">
                <a:solidFill>
                  <a:srgbClr val="0B2E23"/>
                </a:solidFill>
              </a:rPr>
              <a:t>Built by passionate BSIT software engineers and student leaders deeply embedded in university culture.</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Illustration for Join the Campus Revolution">    </p:cNvPr>
          <p:cNvPicPr>
            <a:picLocks noChangeAspect="1"/>
          </p:cNvPicPr>
          <p:nvPr/>
        </p:nvPicPr>
        <p:blipFill>
          <a:blip r:embed="rId1"/>
          <a:stretch>
            <a:fillRect/>
          </a:stretch>
        </p:blipFill>
        <p:spPr>
          <a:xfrm>
            <a:off x="6217920" y="731520"/>
            <a:ext cx="5303520" cy="5394960"/>
          </a:xfrm>
          <a:prstGeom prst="rect">
            <a:avLst/>
          </a:prstGeom>
        </p:spPr>
      </p:pic>
      <p:sp>
        <p:nvSpPr>
          <p:cNvPr id="3" name="Text 0"/>
          <p:cNvSpPr txBox="1"/>
          <p:nvPr/>
        </p:nvSpPr>
        <p:spPr>
          <a:xfrm>
            <a:off x="731520" y="822960"/>
            <a:ext cx="5394960" cy="5212080"/>
          </a:xfrm>
          <a:prstGeom prst="rect">
            <a:avLst/>
          </a:prstGeom>
          <a:noFill/>
          <a:ln/>
        </p:spPr>
        <p:txBody>
          <a:bodyPr wrap="square" lIns="0" tIns="0" rIns="0" bIns="0" rtlCol="0" anchor="ctr"/>
          <a:lstStyle/>
          <a:p>
            <a:pPr indent="0" marL="0">
              <a:spcAft>
                <a:spcPts val="1000"/>
              </a:spcAft>
              <a:buNone/>
            </a:pPr>
            <a:r>
              <a:rPr lang="en-US" sz="3800" b="1" dirty="0">
                <a:solidFill>
                  <a:srgbClr val="FFFFFF"/>
                </a:solidFill>
                <a:latin typeface="Cambria" pitchFamily="34" charset="0"/>
                <a:ea typeface="Cambria" pitchFamily="34" charset="-122"/>
                <a:cs typeface="Cambria" pitchFamily="34" charset="-120"/>
              </a:rPr>
              <a:t>Join the Campus Revolution</a:t>
            </a:r>
            <a:endParaRPr lang="en-US" sz="3800" dirty="0"/>
          </a:p>
          <a:p>
            <a:pPr indent="0" marL="0">
              <a:spcAft>
                <a:spcPts val="1800"/>
              </a:spcAft>
              <a:buNone/>
            </a:pPr>
            <a:r>
              <a:rPr lang="en-US" sz="2000" dirty="0">
                <a:solidFill>
                  <a:srgbClr val="F5A623"/>
                </a:solidFill>
              </a:rPr>
              <a:t>Safe, Fast, and Trusted Collegiate Commerce for Every Student</a:t>
            </a:r>
            <a:endParaRPr lang="en-US" sz="3800" dirty="0"/>
          </a:p>
          <a:p>
            <a:pPr indent="0" marL="0">
              <a:spcAft>
                <a:spcPts val="400"/>
              </a:spcAft>
              <a:buNone/>
            </a:pPr>
            <a:r>
              <a:rPr lang="en-US" sz="1200" b="1" dirty="0">
                <a:solidFill>
                  <a:srgbClr val="DCE3EC"/>
                </a:solidFill>
              </a:rPr>
              <a:t>Image &amp; Academic Credits:</a:t>
            </a:r>
            <a:endParaRPr lang="en-US" sz="3800" dirty="0"/>
          </a:p>
          <a:p>
            <a:pPr marL="342900" indent="-342900">
              <a:spcAft>
                <a:spcPts val="300"/>
              </a:spcAft>
              <a:buSzPct val="100000"/>
              <a:buChar char="•"/>
            </a:pPr>
            <a:r>
              <a:rPr lang="en-US" sz="1200" dirty="0">
                <a:solidFill>
                  <a:srgbClr val="DCE3EC"/>
                </a:solidFill>
              </a:rPr>
              <a:t>Visual Assets: Custom 3D renders &amp; high-res vector graphics.</a:t>
            </a:r>
            <a:endParaRPr lang="en-US" sz="3800" dirty="0"/>
          </a:p>
          <a:p>
            <a:pPr marL="342900" indent="-342900">
              <a:spcAft>
                <a:spcPts val="300"/>
              </a:spcAft>
              <a:buSzPct val="100000"/>
              <a:buChar char="•"/>
            </a:pPr>
            <a:r>
              <a:rPr lang="en-US" sz="1200" dirty="0">
                <a:solidFill>
                  <a:srgbClr val="DCE3EC"/>
                </a:solidFill>
              </a:rPr>
              <a:t>Research Citations: APA 7th academic standards.</a:t>
            </a:r>
            <a:endParaRPr lang="en-US" sz="3800" dirty="0"/>
          </a:p>
          <a:p>
            <a:pPr marL="342900" indent="-342900">
              <a:spcAft>
                <a:spcPts val="300"/>
              </a:spcAft>
              <a:buSzPct val="100000"/>
              <a:buChar char="•"/>
            </a:pPr>
            <a:r>
              <a:rPr lang="en-US" sz="1200" dirty="0">
                <a:solidFill>
                  <a:srgbClr val="DCE3EC"/>
                </a:solidFill>
              </a:rPr>
              <a:t>STI West Negros University • BSIT Program 2026–2027</a:t>
            </a:r>
            <a:endParaRPr lang="en-US" sz="3800" dirty="0"/>
          </a:p>
        </p:txBody>
      </p:sp>
    </p:spTree>
  </p:cSld>
  <p:clrMapOvr>
    <a:masterClrMapping/>
  </p:clrMapOvr>
</p:sld>
</file>

<file path=ppt/theme/theme1.xml><?xml version="1.0" encoding="utf-8"?>
<a:theme xmlns:a="http://schemas.openxmlformats.org/drawingml/2006/main" name="Pitch Deck Campus Marketplace App">
  <a:themeElements>
    <a:clrScheme name="Pitch Deck Campus Marketplace App">
      <a:dk1>
        <a:srgbClr val="0B2E23"/>
      </a:dk1>
      <a:lt1>
        <a:srgbClr val="FFFFFF"/>
      </a:lt1>
      <a:dk2>
        <a:srgbClr val="0B3D2E"/>
      </a:dk2>
      <a:lt2>
        <a:srgbClr val="EEF9F4"/>
      </a:lt2>
      <a:accent1>
        <a:srgbClr val="0E9F6E"/>
      </a:accent1>
      <a:accent2>
        <a:srgbClr val="F5A623"/>
      </a:accent2>
      <a:accent3>
        <a:srgbClr val="117A5A"/>
      </a:accent3>
      <a:accent4>
        <a:srgbClr val="0B2E23"/>
      </a:accent4>
      <a:accent5>
        <a:srgbClr val="0E9F6E"/>
      </a:accent5>
      <a:accent6>
        <a:srgbClr val="F5A623"/>
      </a:accent6>
      <a:hlink>
        <a:srgbClr val="0E9F6E"/>
      </a:hlink>
      <a:folHlink>
        <a:srgbClr val="117A5A"/>
      </a:folHlink>
    </a:clrScheme>
    <a:fontScheme name="Pitch Deck Campus Marketplace App">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Jhon Paulo Gascon</dc:creator>
  <cp:lastModifiedBy>Jhon Paulo Gascon</cp:lastModifiedBy>
  <cp:revision>1</cp:revision>
  <dcterms:created xsi:type="dcterms:W3CDTF">2026-10-24T14:40:53Z</dcterms:created>
  <dcterms:modified xsi:type="dcterms:W3CDTF">2026-10-24T14:40:53Z</dcterms:modified>
</cp:coreProperties>
</file>