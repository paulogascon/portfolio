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analyze the profound impact of Artificial Intelligence in collegiate classrooms. Our objective is to evaluate how adaptive AI tutors accelerate mastery, while addressing critical ethical concerns regarding academic integrity and algorithmic bias.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shown on the screen, AI adoption among students is unprecedented. Over three-quarters of college students actively use AI assistance. Faculty must therefore redesign assessments to evaluate critical synthesis rather than simple regurgitation.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our first major pillar: Intelligent Tutoring Systems. Rather than passive textbook reading, students can now interact with conversational AI agents that adapt dynamically to their specific learning 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Adaptive feedback provides immediate diagnostic explanations. When a student struggles with a programming concept like recursion, the tutor generates tailored analogies until cognitive comprehension is achieved.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core levers demonstrate that AI serves to augment, not displace, human educators. By handling administrative grading, professors can dedicate more office hours to deep student mentorship.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must address the dark side: cognitive atrophy. If students allow AI to solve every homework problem, critical thinking muscles wither. Furthermore, AI models frequently invent completely fictitious citations with total confidence.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these vulnerabilities, academic institutions cannot simply ban AI tools. Blanket bans fail. Instead, colleges must deploy transparent usage frameworks.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effective policy is mandatory disclosure. When students must document their AI prompts and submit a reflective synthesis of what they changed, academic honesty is maintained while technical literacy grows.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3-tier governance rubric. Clearly articulating what constitutes permitted brainstorming versus prohibited plagiarism removes ambiguity for both instructors and learners.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students must treat AI as an intern whose work requires verification, while educators must evolve exam formats to prioritize real-time critical thinking.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The future of education belongs to those who master collaborative intelligence — pairing human curiosity and ethics with artificial computing speed. I now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ai_hero.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1200" b="1">
                <a:solidFill>
                  <a:srgbClr val="00E5FF"/>
                </a:solidFill>
              </a:defRPr>
            </a:pPr>
            <a:r>
              <a:t>EDUCATIONAL TECHNOLOGY</a:t>
            </a:r>
          </a:p>
          <a:p>
            <a:pPr>
              <a:defRPr sz="3600" b="1">
                <a:solidFill>
                  <a:srgbClr val="FFFFFF"/>
                </a:solidFill>
              </a:defRPr>
            </a:pPr>
            <a:r>
              <a:t>Artificial Intelligence in Education</a:t>
            </a:r>
          </a:p>
          <a:p>
            <a:pPr>
              <a:defRPr sz="1500">
                <a:solidFill>
                  <a:srgbClr val="B4C8DC"/>
                </a:solidFill>
              </a:defRPr>
            </a:pPr>
            <a:r>
              <a:t>Opportunities, Ethical Risks, and Modern Pedagogies</a:t>
            </a:r>
          </a:p>
          <a:p>
            <a:br/>
            <a:pPr>
              <a:defRPr sz="1100">
                <a:solidFill>
                  <a:srgbClr val="8CA0B4"/>
                </a:solidFill>
              </a:defRPr>
            </a:pPr>
            <a:r>
              <a:t>Presenter: Jhon Paulo Gascon • STI West Negros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ACADEMIC CONTEXT</a:t>
            </a:r>
          </a:p>
          <a:p>
            <a:pPr>
              <a:defRPr sz="2400" b="1">
                <a:solidFill>
                  <a:srgbClr val="FFFFFF"/>
                </a:solidFill>
              </a:defRPr>
            </a:pPr>
            <a:r>
              <a:t>The Modern Classroom Landscape</a:t>
            </a:r>
          </a:p>
        </p:txBody>
      </p:sp>
      <p:pic>
        <p:nvPicPr>
          <p:cNvPr id="4" name="!!Content_Image" descr="ai_landscape.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Rapid Collegiate Adoption</a:t>
            </a:r>
          </a:p>
          <a:p>
            <a:pPr>
              <a:defRPr sz="1050">
                <a:solidFill>
                  <a:srgbClr val="DCE6F2"/>
                </a:solidFill>
              </a:defRPr>
            </a:pPr>
            <a:r>
              <a:t>Over 78% of undergraduate students leverage large language models for conceptual synthesis.</a:t>
            </a:r>
          </a:p>
        </p:txBody>
      </p:sp>
      <p:sp>
        <p:nvSpPr>
          <p:cNvPr id="6" name="!!Card_2"/>
          <p:cNvSpPr/>
          <p:nvPr/>
        </p:nvSpPr>
        <p:spPr>
          <a:xfrm>
            <a:off x="6126480" y="310896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Shift from Rote to Evaluation</a:t>
            </a:r>
          </a:p>
          <a:p>
            <a:pPr>
              <a:defRPr sz="1050">
                <a:solidFill>
                  <a:srgbClr val="DCE6F2"/>
                </a:solidFill>
              </a:defRPr>
            </a:pPr>
            <a:r>
              <a:t>Educational paradigms are transitioning from memorizing facts to critically evaluating AI outputs.</a:t>
            </a:r>
          </a:p>
        </p:txBody>
      </p:sp>
      <p:sp>
        <p:nvSpPr>
          <p:cNvPr id="7" name="!!Card_3"/>
          <p:cNvSpPr/>
          <p:nvPr/>
        </p:nvSpPr>
        <p:spPr>
          <a:xfrm>
            <a:off x="6126480" y="457200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Faculty Integration Challenges</a:t>
            </a:r>
          </a:p>
          <a:p>
            <a:pPr>
              <a:defRPr sz="1050">
                <a:solidFill>
                  <a:srgbClr val="DCE6F2"/>
                </a:solidFill>
              </a:defRPr>
            </a:pPr>
            <a:r>
              <a:t>Institutions face the urgent imperative to establish coherent, transparent AI classroom syllabi.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ai_tutoring.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Intelligent Tutoring Systems</a:t>
            </a:r>
          </a:p>
          <a:p>
            <a:pPr>
              <a:defRPr sz="1600">
                <a:solidFill>
                  <a:srgbClr val="00E5FF"/>
                </a:solidFill>
              </a:defRPr>
            </a:pPr>
            <a:r>
              <a:t>Transforming One-Way Lectures into 24/7 Adaptive Mentorship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PEDAGOGICAL BENEFITS</a:t>
            </a:r>
          </a:p>
          <a:p>
            <a:pPr>
              <a:defRPr sz="2400" b="1">
                <a:solidFill>
                  <a:srgbClr val="FFFFFF"/>
                </a:solidFill>
              </a:defRPr>
            </a:pPr>
            <a:r>
              <a:t>Adaptive Feedback Mechanisms</a:t>
            </a:r>
          </a:p>
        </p:txBody>
      </p:sp>
      <p:pic>
        <p:nvPicPr>
          <p:cNvPr id="4" name="!!Content_Image" descr="ai_assessment.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Personalized Learning Cadence</a:t>
            </a:r>
          </a:p>
          <a:p>
            <a:pPr>
              <a:defRPr sz="1050">
                <a:solidFill>
                  <a:srgbClr val="DCE6F2"/>
                </a:solidFill>
              </a:defRPr>
            </a:pPr>
            <a:r>
              <a:t>AI models detect cognitive misconceptions and tailor practice problems in real time.</a:t>
            </a:r>
          </a:p>
        </p:txBody>
      </p:sp>
      <p:sp>
        <p:nvSpPr>
          <p:cNvPr id="6" name="!!Card_2"/>
          <p:cNvSpPr/>
          <p:nvPr/>
        </p:nvSpPr>
        <p:spPr>
          <a:xfrm>
            <a:off x="6126480" y="310896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Instantaneous Code Debugging</a:t>
            </a:r>
          </a:p>
          <a:p>
            <a:pPr>
              <a:defRPr sz="1050">
                <a:solidFill>
                  <a:srgbClr val="DCE6F2"/>
                </a:solidFill>
              </a:defRPr>
            </a:pPr>
            <a:r>
              <a:t>For BSIT students, automated syntax checkers explain logic bugs line-by-line.</a:t>
            </a:r>
          </a:p>
        </p:txBody>
      </p:sp>
      <p:sp>
        <p:nvSpPr>
          <p:cNvPr id="7" name="!!Card_3"/>
          <p:cNvSpPr/>
          <p:nvPr/>
        </p:nvSpPr>
        <p:spPr>
          <a:xfrm>
            <a:off x="6126480" y="457200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Continuous Formative Feedback</a:t>
            </a:r>
          </a:p>
          <a:p>
            <a:pPr>
              <a:defRPr sz="1050">
                <a:solidFill>
                  <a:srgbClr val="DCE6F2"/>
                </a:solidFill>
              </a:defRPr>
            </a:pPr>
            <a:r>
              <a:t>Low-stakes continuous self-assessments replace high-anxiety cram sessions.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PEDAGOGICAL LEVERS</a:t>
            </a:r>
          </a:p>
          <a:p>
            <a:pPr>
              <a:defRPr sz="2400" b="1">
                <a:solidFill>
                  <a:srgbClr val="FFFFFF"/>
                </a:solidFill>
              </a:defRPr>
            </a:pPr>
            <a:r>
              <a:t>Three Core Academic Opportunities</a:t>
            </a:r>
          </a:p>
        </p:txBody>
      </p:sp>
      <p:sp>
        <p:nvSpPr>
          <p:cNvPr id="4" name="!!Card_1"/>
          <p:cNvSpPr/>
          <p:nvPr/>
        </p:nvSpPr>
        <p:spPr>
          <a:xfrm>
            <a:off x="7315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1. Personalized Tutoring</a:t>
            </a:r>
          </a:p>
          <a:p>
            <a:pPr>
              <a:defRPr sz="1100">
                <a:solidFill>
                  <a:srgbClr val="F0F0F0"/>
                </a:solidFill>
              </a:defRPr>
            </a:pPr>
            <a:r>
              <a:t>Customized pacing and adaptive scaffolds designed around individual student neurodiversity and aptitude.</a:t>
            </a:r>
          </a:p>
        </p:txBody>
      </p:sp>
      <p:sp>
        <p:nvSpPr>
          <p:cNvPr id="5" name="!!Card_2"/>
          <p:cNvSpPr/>
          <p:nvPr/>
        </p:nvSpPr>
        <p:spPr>
          <a:xfrm>
            <a:off x="43891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2. Faculty Workflow Automation</a:t>
            </a:r>
          </a:p>
          <a:p>
            <a:pPr>
              <a:defRPr sz="1100">
                <a:solidFill>
                  <a:srgbClr val="F0F0F0"/>
                </a:solidFill>
              </a:defRPr>
            </a:pPr>
            <a:r>
              <a:t>Automated routine grading of quizzes and diagnostic reports, liberating teachers for direct 1-on-1 mentorship.</a:t>
            </a:r>
          </a:p>
        </p:txBody>
      </p:sp>
      <p:sp>
        <p:nvSpPr>
          <p:cNvPr id="6" name="!!Card_3"/>
          <p:cNvSpPr/>
          <p:nvPr/>
        </p:nvSpPr>
        <p:spPr>
          <a:xfrm>
            <a:off x="80467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3. Multilingual Accessibility</a:t>
            </a:r>
          </a:p>
          <a:p>
            <a:pPr>
              <a:defRPr sz="1100">
                <a:solidFill>
                  <a:srgbClr val="F0F0F0"/>
                </a:solidFill>
              </a:defRPr>
            </a:pPr>
            <a:r>
              <a:t>Real-time speech-to-text, dialect translation, and assistive reading engines for equitable classroom access.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VULNERABILITY ANALYSIS</a:t>
            </a:r>
          </a:p>
          <a:p>
            <a:pPr>
              <a:defRPr sz="2400" b="1">
                <a:solidFill>
                  <a:srgbClr val="FFFFFF"/>
                </a:solidFill>
              </a:defRPr>
            </a:pPr>
            <a:r>
              <a:t>Academic Integrity &amp; Ethical Risks</a:t>
            </a:r>
          </a:p>
        </p:txBody>
      </p:sp>
      <p:pic>
        <p:nvPicPr>
          <p:cNvPr id="4" name="!!Content_Image" descr="ai_integrity.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Cognitive Atrophy Hazard</a:t>
            </a:r>
          </a:p>
          <a:p>
            <a:pPr>
              <a:defRPr sz="1050">
                <a:solidFill>
                  <a:srgbClr val="DCE6F2"/>
                </a:solidFill>
              </a:defRPr>
            </a:pPr>
            <a:r>
              <a:t>Over-reliance on automated code completion impairs baseline algorithmic problem-solving.</a:t>
            </a:r>
          </a:p>
        </p:txBody>
      </p:sp>
      <p:sp>
        <p:nvSpPr>
          <p:cNvPr id="6" name="!!Card_2"/>
          <p:cNvSpPr/>
          <p:nvPr/>
        </p:nvSpPr>
        <p:spPr>
          <a:xfrm>
            <a:off x="6126480" y="310896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Algorithmic Hallucinations</a:t>
            </a:r>
          </a:p>
          <a:p>
            <a:pPr>
              <a:defRPr sz="1050">
                <a:solidFill>
                  <a:srgbClr val="DCE6F2"/>
                </a:solidFill>
              </a:defRPr>
            </a:pPr>
            <a:r>
              <a:t>Generative models produce convincingly worded false citations and inaccurate historical facts.</a:t>
            </a:r>
          </a:p>
        </p:txBody>
      </p:sp>
      <p:sp>
        <p:nvSpPr>
          <p:cNvPr id="7" name="!!Card_3"/>
          <p:cNvSpPr/>
          <p:nvPr/>
        </p:nvSpPr>
        <p:spPr>
          <a:xfrm>
            <a:off x="6126480" y="457200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Data Privacy &amp; IP Exposure</a:t>
            </a:r>
          </a:p>
          <a:p>
            <a:pPr>
              <a:defRPr sz="1050">
                <a:solidFill>
                  <a:srgbClr val="DCE6F2"/>
                </a:solidFill>
              </a:defRPr>
            </a:pPr>
            <a:r>
              <a:t>Uploading proprietary university research into commercial model clouds creates serious data leaks.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ai_policy.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Institutional AI Policy</a:t>
            </a:r>
          </a:p>
          <a:p>
            <a:pPr>
              <a:defRPr sz="1600">
                <a:solidFill>
                  <a:srgbClr val="00E5FF"/>
                </a:solidFill>
              </a:defRPr>
            </a:pPr>
            <a:r>
              <a:t>Constructing Ethical Governance Frameworks for Higher Education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INSTITUTIONAL ACTION</a:t>
            </a:r>
          </a:p>
          <a:p>
            <a:pPr>
              <a:defRPr sz="2400" b="1">
                <a:solidFill>
                  <a:srgbClr val="FFFFFF"/>
                </a:solidFill>
              </a:defRPr>
            </a:pPr>
            <a:r>
              <a:t>Classroom Syllabi Best Practices</a:t>
            </a:r>
          </a:p>
        </p:txBody>
      </p:sp>
      <p:pic>
        <p:nvPicPr>
          <p:cNvPr id="4" name="!!Content_Image" descr="ai_future.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Mandatory Disclosure Logs</a:t>
            </a:r>
          </a:p>
          <a:p>
            <a:pPr>
              <a:defRPr sz="1050">
                <a:solidFill>
                  <a:srgbClr val="DCE6F2"/>
                </a:solidFill>
              </a:defRPr>
            </a:pPr>
            <a:r>
              <a:t>Students submit an AI appendix detailing prompts used, AI outputs, and personal revisions.</a:t>
            </a:r>
          </a:p>
        </p:txBody>
      </p:sp>
      <p:sp>
        <p:nvSpPr>
          <p:cNvPr id="6" name="!!Card_2"/>
          <p:cNvSpPr/>
          <p:nvPr/>
        </p:nvSpPr>
        <p:spPr>
          <a:xfrm>
            <a:off x="6126480" y="310896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Oral Defense &amp; Whiteboarding</a:t>
            </a:r>
          </a:p>
          <a:p>
            <a:pPr>
              <a:defRPr sz="1050">
                <a:solidFill>
                  <a:srgbClr val="DCE6F2"/>
                </a:solidFill>
              </a:defRPr>
            </a:pPr>
            <a:r>
              <a:t>Evaluating student code mastery through live whiteboard walkthroughs and conceptual defense.</a:t>
            </a:r>
          </a:p>
        </p:txBody>
      </p:sp>
      <p:sp>
        <p:nvSpPr>
          <p:cNvPr id="7" name="!!Card_3"/>
          <p:cNvSpPr/>
          <p:nvPr/>
        </p:nvSpPr>
        <p:spPr>
          <a:xfrm>
            <a:off x="6126480" y="457200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Institutional Model Subscriptions</a:t>
            </a:r>
          </a:p>
          <a:p>
            <a:pPr>
              <a:defRPr sz="1050">
                <a:solidFill>
                  <a:srgbClr val="DCE6F2"/>
                </a:solidFill>
              </a:defRPr>
            </a:pPr>
            <a:r>
              <a:t>Universities provision privacy-shielded enterprise AI tiers that safeguard student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POLICY BLUEPRINT</a:t>
            </a:r>
          </a:p>
          <a:p>
            <a:pPr>
              <a:defRPr sz="2400" b="1">
                <a:solidFill>
                  <a:srgbClr val="FFFFFF"/>
                </a:solidFill>
              </a:defRPr>
            </a:pPr>
            <a:r>
              <a:t>The Three Tiers of AI Governance</a:t>
            </a:r>
          </a:p>
        </p:txBody>
      </p:sp>
      <p:sp>
        <p:nvSpPr>
          <p:cNvPr id="4" name="!!Card_1"/>
          <p:cNvSpPr/>
          <p:nvPr/>
        </p:nvSpPr>
        <p:spPr>
          <a:xfrm>
            <a:off x="7315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Tier 1: Permitted Use</a:t>
            </a:r>
          </a:p>
          <a:p>
            <a:pPr>
              <a:defRPr sz="1100">
                <a:solidFill>
                  <a:srgbClr val="F0F0F0"/>
                </a:solidFill>
              </a:defRPr>
            </a:pPr>
            <a:r>
              <a:t>Brainstorming project topics, finding syntax errors, and practicing mock interview questions.</a:t>
            </a:r>
          </a:p>
        </p:txBody>
      </p:sp>
      <p:sp>
        <p:nvSpPr>
          <p:cNvPr id="5" name="!!Card_2"/>
          <p:cNvSpPr/>
          <p:nvPr/>
        </p:nvSpPr>
        <p:spPr>
          <a:xfrm>
            <a:off x="43891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Tier 2: Disclosed Use</a:t>
            </a:r>
          </a:p>
          <a:p>
            <a:pPr>
              <a:defRPr sz="1100">
                <a:solidFill>
                  <a:srgbClr val="F0F0F0"/>
                </a:solidFill>
              </a:defRPr>
            </a:pPr>
            <a:r>
              <a:t>Synthesizing research abstracts and drafting code templates with mandatory prompt citation.</a:t>
            </a:r>
          </a:p>
        </p:txBody>
      </p:sp>
      <p:sp>
        <p:nvSpPr>
          <p:cNvPr id="6" name="!!Card_3"/>
          <p:cNvSpPr/>
          <p:nvPr/>
        </p:nvSpPr>
        <p:spPr>
          <a:xfrm>
            <a:off x="80467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Tier 3: Strictly Prohibited</a:t>
            </a:r>
          </a:p>
          <a:p>
            <a:pPr>
              <a:defRPr sz="1100">
                <a:solidFill>
                  <a:srgbClr val="F0F0F0"/>
                </a:solidFill>
              </a:defRPr>
            </a:pPr>
            <a:r>
              <a:t>Submitting unedited AI essays, take-home exam completions, and unauthorized auto-prompting.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STRATEGIC ROADMAP</a:t>
            </a:r>
          </a:p>
          <a:p>
            <a:pPr>
              <a:defRPr sz="2400" b="1">
                <a:solidFill>
                  <a:srgbClr val="FFFFFF"/>
                </a:solidFill>
              </a:defRPr>
            </a:pPr>
            <a:r>
              <a:t>Action Plan for Students &amp; Faculty</a:t>
            </a:r>
          </a:p>
        </p:txBody>
      </p:sp>
      <p:sp>
        <p:nvSpPr>
          <p:cNvPr id="4" name="!!Card_1"/>
          <p:cNvSpPr/>
          <p:nvPr/>
        </p:nvSpPr>
        <p:spPr>
          <a:xfrm>
            <a:off x="7315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For Students</a:t>
            </a:r>
          </a:p>
          <a:p>
            <a:pPr>
              <a:defRPr sz="1100">
                <a:solidFill>
                  <a:srgbClr val="F0F0F0"/>
                </a:solidFill>
              </a:defRPr>
            </a:pPr>
            <a:r>
              <a:t>Treat AI as a junior research assistant. Always fact-check citations, verify logic, and defend every line of code.</a:t>
            </a:r>
          </a:p>
        </p:txBody>
      </p:sp>
      <p:sp>
        <p:nvSpPr>
          <p:cNvPr id="5" name="!!Card_2"/>
          <p:cNvSpPr/>
          <p:nvPr/>
        </p:nvSpPr>
        <p:spPr>
          <a:xfrm>
            <a:off x="43891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For Educators</a:t>
            </a:r>
          </a:p>
          <a:p>
            <a:pPr>
              <a:defRPr sz="1100">
                <a:solidFill>
                  <a:srgbClr val="F0F0F0"/>
                </a:solidFill>
              </a:defRPr>
            </a:pPr>
            <a:r>
              <a:t>Shift exam design to authentic case studies, practical problem solving, and contextual oral evaluations.</a:t>
            </a:r>
          </a:p>
        </p:txBody>
      </p:sp>
      <p:sp>
        <p:nvSpPr>
          <p:cNvPr id="6" name="!!Card_3"/>
          <p:cNvSpPr/>
          <p:nvPr/>
        </p:nvSpPr>
        <p:spPr>
          <a:xfrm>
            <a:off x="80467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For STI Administration</a:t>
            </a:r>
          </a:p>
          <a:p>
            <a:pPr>
              <a:defRPr sz="1100">
                <a:solidFill>
                  <a:srgbClr val="F0F0F0"/>
                </a:solidFill>
              </a:defRPr>
            </a:pPr>
            <a:r>
              <a:t>Sponsor faculty training workshops and campus AI sandbox labs to bridge technological divides.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ai_closing.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3200" b="1">
                <a:solidFill>
                  <a:srgbClr val="FFFFFF"/>
                </a:solidFill>
              </a:defRPr>
            </a:pPr>
            <a:r>
              <a:t>Empowering Tomorrow with AI</a:t>
            </a:r>
          </a:p>
          <a:p>
            <a:pPr>
              <a:defRPr sz="1400">
                <a:solidFill>
                  <a:srgbClr val="00E5FF"/>
                </a:solidFill>
              </a:defRPr>
            </a:pPr>
            <a:r>
              <a:t>Balancing Technological Innovation with Scholastic Rigor</a:t>
            </a:r>
          </a:p>
          <a:p>
            <a:br/>
            <a:pPr>
              <a:defRPr sz="1000">
                <a:solidFill>
                  <a:srgbClr val="96AABE"/>
                </a:solidFill>
              </a:defRPr>
            </a:pPr>
            <a:r>
              <a:t>Image &amp; Academic Credits:</a:t>
            </a:r>
            <a:br/>
            <a:r>
              <a:t>• Visual Assets: Custom 3D renders &amp; high-res vector graphics.</a:t>
            </a:r>
            <a:br/>
            <a:r>
              <a:t>• Research Citations: APA 7th academic standards.</a:t>
            </a:r>
            <a:br/>
            <a:r>
              <a:t>• STI West Negros University • BSIT Program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