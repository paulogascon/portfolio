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 analyze the profound impact of Artificial Intelligence in collegiate classrooms. Our objective is to evaluate how adaptive AI tutors accelerate mastery, while addressing critical ethical concerns regarding academic integrity and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shown on the screen, AI adoption among students is unprecedented. Over three-quarters of college students actively use AI assistance. Faculty must therefore redesign assessments to evaluate critical synthesis rather than simple regurgitation.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our first major pillar: Intelligent Tutoring Systems. Rather than passive textbook reading, students can now interact with conversational AI agents that adapt dynamically to their specific learning 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Adaptive feedback provides immediate diagnostic explanations. When a student struggles with a programming concept like recursion, the tutor generates tailored analogies until cognitive comprehension is achieved.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core levers demonstrate that AI serves to augment, not displace, human educators. By handling administrative grading, professors can dedicate more office hours to deep student mentorship.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must address the dark side: cognitive atrophy. If students allow AI to solve every homework problem, critical thinking muscles wither. Furthermore, AI models frequently invent completely fictitious citations with total confidence.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these vulnerabilities, academic institutions cannot simply ban AI tools. Blanket bans fail. Instead, colleges must deploy transparent usage frameworks.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effective policy is mandatory disclosure. When students must document their AI prompts and submit a reflective synthesis of what they changed, academic honesty is maintained while technical literacy grows.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3-tier governance rubric. Clearly articulating what constitutes permitted brainstorming versus prohibited plagiarism removes ambiguity for both instructors and learners.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students must treat AI as an intern whose work requires verification, while educators must evolve exam formats to prioritize real-time critical thinking.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The future of education belongs to those who master collaborative intelligence — pairing human curiosity and ethics with artificial computing speed. I now welcome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hero.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1200" b="1">
                <a:solidFill>
                  <a:srgbClr val="00E5FF"/>
                </a:solidFill>
              </a:defRPr>
            </a:pPr>
            <a:r>
              <a:t>EDUCATIONAL TECHNOLOGY</a:t>
            </a:r>
          </a:p>
          <a:p>
            <a:pPr>
              <a:defRPr sz="3600" b="1">
                <a:solidFill>
                  <a:srgbClr val="FFFFFF"/>
                </a:solidFill>
              </a:defRPr>
            </a:pPr>
            <a:r>
              <a:t>Artificial Intelligence in Education</a:t>
            </a:r>
          </a:p>
          <a:p>
            <a:pPr>
              <a:defRPr sz="1500">
                <a:solidFill>
                  <a:srgbClr val="B4C8DC"/>
                </a:solidFill>
              </a:defRPr>
            </a:pPr>
            <a:r>
              <a:t>Opportunities, Ethical Risks, and Modern Pedagogies</a:t>
            </a:r>
          </a:p>
          <a:p>
            <a:br/>
            <a:pPr>
              <a:defRPr sz="1100">
                <a:solidFill>
                  <a:srgbClr val="8CA0B4"/>
                </a:solidFill>
              </a:defRPr>
            </a:pPr>
            <a:r>
              <a:t>Presenter: Jhon Paulo Gascon • STI West Negros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ACADEMIC CONTEXT</a:t>
            </a:r>
          </a:p>
          <a:p>
            <a:pPr>
              <a:defRPr sz="2400" b="1">
                <a:solidFill>
                  <a:srgbClr val="FFFFFF"/>
                </a:solidFill>
              </a:defRPr>
            </a:pPr>
            <a:r>
              <a:t>The Modern Classroom Landscape</a:t>
            </a:r>
          </a:p>
        </p:txBody>
      </p:sp>
      <p:pic>
        <p:nvPicPr>
          <p:cNvPr id="4" name="!!Content_Image" descr="ai_landscap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Rapid Collegiate Adoption</a:t>
            </a:r>
          </a:p>
          <a:p>
            <a:pPr>
              <a:defRPr sz="1050">
                <a:solidFill>
                  <a:srgbClr val="DCE6F2"/>
                </a:solidFill>
              </a:defRPr>
            </a:pPr>
            <a:r>
              <a:t>Over 78% of undergraduate students leverage large language models for conceptual synthesis.</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Shift from Rote to Evaluation</a:t>
            </a:r>
          </a:p>
          <a:p>
            <a:pPr>
              <a:defRPr sz="1050">
                <a:solidFill>
                  <a:srgbClr val="DCE6F2"/>
                </a:solidFill>
              </a:defRPr>
            </a:pPr>
            <a:r>
              <a:t>Educational paradigms are transitioning from memorizing facts to critically evaluating AI outputs.</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Faculty Integration Challenges</a:t>
            </a:r>
          </a:p>
          <a:p>
            <a:pPr>
              <a:defRPr sz="1050">
                <a:solidFill>
                  <a:srgbClr val="DCE6F2"/>
                </a:solidFill>
              </a:defRPr>
            </a:pPr>
            <a:r>
              <a:t>Institutions face the urgent imperative to establish coherent, transparent AI classroom syllabi.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tutoring.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Intelligent Tutoring Systems</a:t>
            </a:r>
          </a:p>
          <a:p>
            <a:pPr>
              <a:defRPr sz="1600">
                <a:solidFill>
                  <a:srgbClr val="00E5FF"/>
                </a:solidFill>
              </a:defRPr>
            </a:pPr>
            <a:r>
              <a:t>Transforming One-Way Lectures into 24/7 Adaptive Mentorship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PEDAGOGICAL BENEFITS</a:t>
            </a:r>
          </a:p>
          <a:p>
            <a:pPr>
              <a:defRPr sz="2400" b="1">
                <a:solidFill>
                  <a:srgbClr val="FFFFFF"/>
                </a:solidFill>
              </a:defRPr>
            </a:pPr>
            <a:r>
              <a:t>Adaptive Feedback Mechanisms</a:t>
            </a:r>
          </a:p>
        </p:txBody>
      </p:sp>
      <p:pic>
        <p:nvPicPr>
          <p:cNvPr id="4" name="!!Content_Image" descr="ai_assessment.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Personalized Learning Cadence</a:t>
            </a:r>
          </a:p>
          <a:p>
            <a:pPr>
              <a:defRPr sz="1050">
                <a:solidFill>
                  <a:srgbClr val="DCE6F2"/>
                </a:solidFill>
              </a:defRPr>
            </a:pPr>
            <a:r>
              <a:t>AI models detect cognitive misconceptions and tailor practice problems in real time.</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Instantaneous Code Debugging</a:t>
            </a:r>
          </a:p>
          <a:p>
            <a:pPr>
              <a:defRPr sz="1050">
                <a:solidFill>
                  <a:srgbClr val="DCE6F2"/>
                </a:solidFill>
              </a:defRPr>
            </a:pPr>
            <a:r>
              <a:t>For BSIT students, automated syntax checkers explain logic bugs line-by-line.</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Continuous Formative Feedback</a:t>
            </a:r>
          </a:p>
          <a:p>
            <a:pPr>
              <a:defRPr sz="1050">
                <a:solidFill>
                  <a:srgbClr val="DCE6F2"/>
                </a:solidFill>
              </a:defRPr>
            </a:pPr>
            <a:r>
              <a:t>Low-stakes continuous self-assessments replace high-anxiety cram sessions.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PEDAGOGICAL LEVERS</a:t>
            </a:r>
          </a:p>
          <a:p>
            <a:pPr>
              <a:defRPr sz="2400" b="1">
                <a:solidFill>
                  <a:srgbClr val="FFFFFF"/>
                </a:solidFill>
              </a:defRPr>
            </a:pPr>
            <a:r>
              <a:t>Three Core Academic Opportunities</a:t>
            </a:r>
          </a:p>
        </p:txBody>
      </p:sp>
      <p:sp>
        <p:nvSpPr>
          <p:cNvPr id="4" name="!!Card_1"/>
          <p:cNvSpPr/>
          <p:nvPr/>
        </p:nvSpPr>
        <p:spPr>
          <a:xfrm>
            <a:off x="7315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1. Personalized Tutoring</a:t>
            </a:r>
          </a:p>
          <a:p>
            <a:pPr>
              <a:defRPr sz="1100">
                <a:solidFill>
                  <a:srgbClr val="F0F0F0"/>
                </a:solidFill>
              </a:defRPr>
            </a:pPr>
            <a:r>
              <a:t>Customized pacing and adaptive scaffolds designed around individual student neurodiversity and aptitude.</a:t>
            </a:r>
          </a:p>
        </p:txBody>
      </p:sp>
      <p:sp>
        <p:nvSpPr>
          <p:cNvPr id="5" name="!!Card_2"/>
          <p:cNvSpPr/>
          <p:nvPr/>
        </p:nvSpPr>
        <p:spPr>
          <a:xfrm>
            <a:off x="43891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2. Faculty Workflow Automation</a:t>
            </a:r>
          </a:p>
          <a:p>
            <a:pPr>
              <a:defRPr sz="1100">
                <a:solidFill>
                  <a:srgbClr val="F0F0F0"/>
                </a:solidFill>
              </a:defRPr>
            </a:pPr>
            <a:r>
              <a:t>Automated routine grading of quizzes and diagnostic reports, liberating teachers for direct 1-on-1 mentorship.</a:t>
            </a:r>
          </a:p>
        </p:txBody>
      </p:sp>
      <p:sp>
        <p:nvSpPr>
          <p:cNvPr id="6" name="!!Card_3"/>
          <p:cNvSpPr/>
          <p:nvPr/>
        </p:nvSpPr>
        <p:spPr>
          <a:xfrm>
            <a:off x="80467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3. Multilingual Accessibility</a:t>
            </a:r>
          </a:p>
          <a:p>
            <a:pPr>
              <a:defRPr sz="1100">
                <a:solidFill>
                  <a:srgbClr val="F0F0F0"/>
                </a:solidFill>
              </a:defRPr>
            </a:pPr>
            <a:r>
              <a:t>Real-time speech-to-text, dialect translation, and assistive reading engines for equitable classroom access.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VULNERABILITY ANALYSIS</a:t>
            </a:r>
          </a:p>
          <a:p>
            <a:pPr>
              <a:defRPr sz="2400" b="1">
                <a:solidFill>
                  <a:srgbClr val="FFFFFF"/>
                </a:solidFill>
              </a:defRPr>
            </a:pPr>
            <a:r>
              <a:t>Academic Integrity &amp; Ethical Risks</a:t>
            </a:r>
          </a:p>
        </p:txBody>
      </p:sp>
      <p:pic>
        <p:nvPicPr>
          <p:cNvPr id="4" name="!!Content_Image" descr="ai_integrity.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Cognitive Atrophy Hazard</a:t>
            </a:r>
          </a:p>
          <a:p>
            <a:pPr>
              <a:defRPr sz="1050">
                <a:solidFill>
                  <a:srgbClr val="DCE6F2"/>
                </a:solidFill>
              </a:defRPr>
            </a:pPr>
            <a:r>
              <a:t>Over-reliance on automated code completion impairs baseline algorithmic problem-solving.</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Algorithmic Hallucinations</a:t>
            </a:r>
          </a:p>
          <a:p>
            <a:pPr>
              <a:defRPr sz="1050">
                <a:solidFill>
                  <a:srgbClr val="DCE6F2"/>
                </a:solidFill>
              </a:defRPr>
            </a:pPr>
            <a:r>
              <a:t>Generative models produce convincingly worded false citations and inaccurate historical facts.</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Data Privacy &amp; IP Exposure</a:t>
            </a:r>
          </a:p>
          <a:p>
            <a:pPr>
              <a:defRPr sz="1050">
                <a:solidFill>
                  <a:srgbClr val="DCE6F2"/>
                </a:solidFill>
              </a:defRPr>
            </a:pPr>
            <a:r>
              <a:t>Uploading proprietary university research into commercial model clouds creates serious data leaks.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policy.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Institutional AI Policy</a:t>
            </a:r>
          </a:p>
          <a:p>
            <a:pPr>
              <a:defRPr sz="1600">
                <a:solidFill>
                  <a:srgbClr val="00E5FF"/>
                </a:solidFill>
              </a:defRPr>
            </a:pPr>
            <a:r>
              <a:t>Constructing Ethical Governance Frameworks for Higher Education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INSTITUTIONAL ACTION</a:t>
            </a:r>
          </a:p>
          <a:p>
            <a:pPr>
              <a:defRPr sz="2400" b="1">
                <a:solidFill>
                  <a:srgbClr val="FFFFFF"/>
                </a:solidFill>
              </a:defRPr>
            </a:pPr>
            <a:r>
              <a:t>Classroom Syllabi Best Practices</a:t>
            </a:r>
          </a:p>
        </p:txBody>
      </p:sp>
      <p:pic>
        <p:nvPicPr>
          <p:cNvPr id="4" name="!!Content_Image" descr="ai_futur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Mandatory Disclosure Logs</a:t>
            </a:r>
          </a:p>
          <a:p>
            <a:pPr>
              <a:defRPr sz="1050">
                <a:solidFill>
                  <a:srgbClr val="DCE6F2"/>
                </a:solidFill>
              </a:defRPr>
            </a:pPr>
            <a:r>
              <a:t>Students submit an AI appendix detailing prompts used, AI outputs, and personal revisions.</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Oral Defense &amp; Whiteboarding</a:t>
            </a:r>
          </a:p>
          <a:p>
            <a:pPr>
              <a:defRPr sz="1050">
                <a:solidFill>
                  <a:srgbClr val="DCE6F2"/>
                </a:solidFill>
              </a:defRPr>
            </a:pPr>
            <a:r>
              <a:t>Evaluating student code mastery through live whiteboard walkthroughs and conceptual defense.</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Institutional Model Subscriptions</a:t>
            </a:r>
          </a:p>
          <a:p>
            <a:pPr>
              <a:defRPr sz="1050">
                <a:solidFill>
                  <a:srgbClr val="DCE6F2"/>
                </a:solidFill>
              </a:defRPr>
            </a:pPr>
            <a:r>
              <a:t>Universities provision privacy-shielded enterprise AI tiers that safeguard student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POLICY BLUEPRINT</a:t>
            </a:r>
          </a:p>
          <a:p>
            <a:pPr>
              <a:defRPr sz="2400" b="1">
                <a:solidFill>
                  <a:srgbClr val="FFFFFF"/>
                </a:solidFill>
              </a:defRPr>
            </a:pPr>
            <a:r>
              <a:t>The Three Tiers of AI Governance</a:t>
            </a:r>
          </a:p>
        </p:txBody>
      </p:sp>
      <p:sp>
        <p:nvSpPr>
          <p:cNvPr id="4" name="!!Card_1"/>
          <p:cNvSpPr/>
          <p:nvPr/>
        </p:nvSpPr>
        <p:spPr>
          <a:xfrm>
            <a:off x="7315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Tier 1: Permitted Use</a:t>
            </a:r>
          </a:p>
          <a:p>
            <a:pPr>
              <a:defRPr sz="1100">
                <a:solidFill>
                  <a:srgbClr val="F0F0F0"/>
                </a:solidFill>
              </a:defRPr>
            </a:pPr>
            <a:r>
              <a:t>Brainstorming project topics, finding syntax errors, and practicing mock interview questions.</a:t>
            </a:r>
          </a:p>
        </p:txBody>
      </p:sp>
      <p:sp>
        <p:nvSpPr>
          <p:cNvPr id="5" name="!!Card_2"/>
          <p:cNvSpPr/>
          <p:nvPr/>
        </p:nvSpPr>
        <p:spPr>
          <a:xfrm>
            <a:off x="43891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Tier 2: Disclosed Use</a:t>
            </a:r>
          </a:p>
          <a:p>
            <a:pPr>
              <a:defRPr sz="1100">
                <a:solidFill>
                  <a:srgbClr val="F0F0F0"/>
                </a:solidFill>
              </a:defRPr>
            </a:pPr>
            <a:r>
              <a:t>Synthesizing research abstracts and drafting code templates with mandatory prompt citation.</a:t>
            </a:r>
          </a:p>
        </p:txBody>
      </p:sp>
      <p:sp>
        <p:nvSpPr>
          <p:cNvPr id="6" name="!!Card_3"/>
          <p:cNvSpPr/>
          <p:nvPr/>
        </p:nvSpPr>
        <p:spPr>
          <a:xfrm>
            <a:off x="80467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Tier 3: Strictly Prohibited</a:t>
            </a:r>
          </a:p>
          <a:p>
            <a:pPr>
              <a:defRPr sz="1100">
                <a:solidFill>
                  <a:srgbClr val="F0F0F0"/>
                </a:solidFill>
              </a:defRPr>
            </a:pPr>
            <a:r>
              <a:t>Submitting unedited AI essays, take-home exam completions, and unauthorized auto-prompting.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STRATEGIC ROADMAP</a:t>
            </a:r>
          </a:p>
          <a:p>
            <a:pPr>
              <a:defRPr sz="2400" b="1">
                <a:solidFill>
                  <a:srgbClr val="FFFFFF"/>
                </a:solidFill>
              </a:defRPr>
            </a:pPr>
            <a:r>
              <a:t>Action Plan for Students &amp; Faculty</a:t>
            </a:r>
          </a:p>
        </p:txBody>
      </p:sp>
      <p:sp>
        <p:nvSpPr>
          <p:cNvPr id="4" name="!!Card_1"/>
          <p:cNvSpPr/>
          <p:nvPr/>
        </p:nvSpPr>
        <p:spPr>
          <a:xfrm>
            <a:off x="7315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For Students</a:t>
            </a:r>
          </a:p>
          <a:p>
            <a:pPr>
              <a:defRPr sz="1100">
                <a:solidFill>
                  <a:srgbClr val="F0F0F0"/>
                </a:solidFill>
              </a:defRPr>
            </a:pPr>
            <a:r>
              <a:t>Treat AI as a junior research assistant. Always fact-check citations, verify logic, and defend every line of code.</a:t>
            </a:r>
          </a:p>
        </p:txBody>
      </p:sp>
      <p:sp>
        <p:nvSpPr>
          <p:cNvPr id="5" name="!!Card_2"/>
          <p:cNvSpPr/>
          <p:nvPr/>
        </p:nvSpPr>
        <p:spPr>
          <a:xfrm>
            <a:off x="43891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For Educators</a:t>
            </a:r>
          </a:p>
          <a:p>
            <a:pPr>
              <a:defRPr sz="1100">
                <a:solidFill>
                  <a:srgbClr val="F0F0F0"/>
                </a:solidFill>
              </a:defRPr>
            </a:pPr>
            <a:r>
              <a:t>Shift exam design to authentic case studies, practical problem solving, and contextual oral evaluations.</a:t>
            </a:r>
          </a:p>
        </p:txBody>
      </p:sp>
      <p:sp>
        <p:nvSpPr>
          <p:cNvPr id="6" name="!!Card_3"/>
          <p:cNvSpPr/>
          <p:nvPr/>
        </p:nvSpPr>
        <p:spPr>
          <a:xfrm>
            <a:off x="80467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For STI Administration</a:t>
            </a:r>
          </a:p>
          <a:p>
            <a:pPr>
              <a:defRPr sz="1100">
                <a:solidFill>
                  <a:srgbClr val="F0F0F0"/>
                </a:solidFill>
              </a:defRPr>
            </a:pPr>
            <a:r>
              <a:t>Sponsor faculty training workshops and campus AI sandbox labs to bridge technological divides.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closing.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3200" b="1">
                <a:solidFill>
                  <a:srgbClr val="FFFFFF"/>
                </a:solidFill>
              </a:defRPr>
            </a:pPr>
            <a:r>
              <a:t>Empowering Tomorrow with AI</a:t>
            </a:r>
          </a:p>
          <a:p>
            <a:pPr>
              <a:defRPr sz="1400">
                <a:solidFill>
                  <a:srgbClr val="00E5FF"/>
                </a:solidFill>
              </a:defRPr>
            </a:pPr>
            <a:r>
              <a:t>Balancing Technological Innovation with Scholastic Rigor</a:t>
            </a:r>
          </a:p>
          <a:p>
            <a:br/>
            <a:pPr>
              <a:defRPr sz="1000">
                <a:solidFill>
                  <a:srgbClr val="96AABE"/>
                </a:solidFill>
              </a:defRPr>
            </a:pPr>
            <a:r>
              <a:t>Image &amp; Academic Credits:</a:t>
            </a:r>
            <a:br/>
            <a:r>
              <a:t>• Visual Assets: Custom 3D renders &amp; high-res vector graphics.</a:t>
            </a:r>
            <a:br/>
            <a:r>
              <a:t>• Research Citations: APA 7th academic standards.</a:t>
            </a:r>
            <a:br/>
            <a:r>
              <a:t>• STI West Negros University • BSIT Program 2026–2027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