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504096-fa91-f460-6d96-d2e0fa5f3feb}">
          <p14:sldIdLst>
            <p14:sldId id="256"/>
          </p14:sldIdLst>
        </p14:section>
        <p14:section name="Main Content" id="{a3a0d9c7-0e4f-5abf-0aee-4fc2722f5fb3}">
          <p14:sldIdLst>
            <p14:sldId id="257"/>
            <p14:sldId id="258"/>
            <p14:sldId id="259"/>
            <p14:sldId id="260"/>
            <p14:sldId id="261"/>
            <p14:sldId id="262"/>
            <p14:sldId id="263"/>
            <p14:sldId id="264"/>
            <p14:sldId id="265"/>
          </p14:sldIdLst>
        </p14:section>
        <p14:section name="Closing" id="{98106552-7af2-7791-d62e-db57856fad1f}">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 analyze the profound impact of Artificial Intelligence in collegiate classrooms. Our objective is to evaluate how adaptive AI tutors accelerate mastery, while addressing critical ethical concerns regarding academic integrity and algorithmic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shown on the screen, AI adoption among students is unprecedented. Over three-quarters of college students actively use AI assistance. Faculty must therefore redesign assessments to evaluate critical synthesis rather than simple regurgitation.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to our first major pillar: Intelligent Tutoring Systems. Rather than passive textbook reading, students can now interact with conversational AI agents that adapt dynamically to their specific learning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feedback provides immediate diagnostic explanations. When a student struggles with a programming concept like recursion, the tutor generates tailored analogies until cognitive comprehension is achieved.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core levers demonstrate that AI serves to augment, not displace, human educators. By handling administrative grading, professors can dedicate more office hours to deep student mentorship.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must address the dark side: cognitive atrophy. If students allow AI to solve every homework problem, critical thinking muscles wither. Furthermore, AI models frequently invent completely fictitious citations with total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these vulnerabilities, academic institutions cannot simply ban AI tools. Blanket bans fail. Instead, colleges must deploy transparent usage frameworks.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effective policy is mandatory disclosure. When students must document their AI prompts and submit a reflective synthesis of what they changed, academic honesty is maintained while technical literacy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3-tier governance rubric. Clearly articulating what constitutes permitted brainstorming versus prohibited plagiarism removes ambiguity for both instructors and learners.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summary, students must treat AI as an intern whose work requires verification, while educators must evolve exam formats to prioritize real-time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The future of education belongs to those who master collaborative intelligence — pairing human curiosity and ethics with artificial computing speed. I now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338"/>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llustration for Artificial Intelligence in Education">    </p:cNvPr>
          <p:cNvPicPr>
            <a:picLocks noChangeAspect="1"/>
          </p:cNvPicPr>
          <p:nvPr/>
        </p:nvPicPr>
        <p:blipFill>
          <a:blip r:embed="rId1"/>
          <a:stretch>
            <a:fillRect/>
          </a:stretch>
        </p:blipFill>
        <p:spPr>
          <a:xfrm>
            <a:off x="6217920" y="731520"/>
            <a:ext cx="5303520" cy="53949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000"/>
              </a:spcAft>
              <a:buNone/>
            </a:pPr>
            <a:r>
              <a:rPr lang="en-US" sz="1400" b="1" spc="300" kern="0" dirty="0">
                <a:solidFill>
                  <a:srgbClr val="22D3C5"/>
                </a:solidFill>
              </a:rPr>
              <a:t>EDUCATIONAL TECHNOLOGY</a:t>
            </a:r>
            <a:endParaRPr lang="en-US" sz="1400" dirty="0"/>
          </a:p>
          <a:p>
            <a:pPr indent="0" marL="0">
              <a:spcAft>
                <a:spcPts val="1200"/>
              </a:spcAft>
              <a:buNone/>
            </a:pPr>
            <a:r>
              <a:rPr lang="en-US" sz="4000" b="1" dirty="0">
                <a:solidFill>
                  <a:srgbClr val="FFFFFF"/>
                </a:solidFill>
                <a:latin typeface="Cambria" pitchFamily="34" charset="0"/>
                <a:ea typeface="Cambria" pitchFamily="34" charset="-122"/>
                <a:cs typeface="Cambria" pitchFamily="34" charset="-120"/>
              </a:rPr>
              <a:t>Artificial Intelligence in Education</a:t>
            </a:r>
            <a:endParaRPr lang="en-US" sz="1400" dirty="0"/>
          </a:p>
          <a:p>
            <a:pPr indent="0" marL="0">
              <a:spcAft>
                <a:spcPts val="1600"/>
              </a:spcAft>
              <a:buNone/>
            </a:pPr>
            <a:r>
              <a:rPr lang="en-US" sz="1800" dirty="0">
                <a:solidFill>
                  <a:srgbClr val="DCE3EC"/>
                </a:solidFill>
              </a:rPr>
              <a:t>Opportunities, Ethical Risks, and Modern Pedagogies</a:t>
            </a:r>
            <a:endParaRPr lang="en-US" sz="1400" dirty="0"/>
          </a:p>
          <a:p>
            <a:pPr indent="0" marL="0">
              <a:buNone/>
            </a:pPr>
            <a:r>
              <a:rPr lang="en-US" sz="1400" dirty="0">
                <a:solidFill>
                  <a:srgbClr val="22D3C5"/>
                </a:solidFill>
              </a:rPr>
              <a:t>Presenter: Jhon Paulo Gascon • STI West Negros University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ACADEMIC CONTEXT</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The Modern Classroom Landscape</a:t>
            </a:r>
            <a:endParaRPr lang="en-US" sz="1200" dirty="0"/>
          </a:p>
        </p:txBody>
      </p:sp>
      <p:pic>
        <p:nvPicPr>
          <p:cNvPr id="3" name="Image 0" descr="Illustration for The Modern Classroom Landscape">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1F0FE"/>
          </a:solidFill>
          <a:ln w="12700">
            <a:solidFill>
              <a:srgbClr val="F1F0FE"/>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Rapid Collegiate Adoption</a:t>
            </a:r>
            <a:endParaRPr lang="en-US" sz="1800" dirty="0"/>
          </a:p>
          <a:p>
            <a:pPr indent="0" marL="0">
              <a:buNone/>
            </a:pPr>
            <a:r>
              <a:rPr lang="en-US" sz="1400" dirty="0">
                <a:solidFill>
                  <a:srgbClr val="1B1A3A"/>
                </a:solidFill>
              </a:rPr>
              <a:t>Over 78% of undergraduate students leverage large language models for conceptual synthesis.</a:t>
            </a:r>
            <a:endParaRPr lang="en-US" sz="1800" dirty="0"/>
          </a:p>
        </p:txBody>
      </p:sp>
      <p:sp>
        <p:nvSpPr>
          <p:cNvPr id="7" name="Shape 3"/>
          <p:cNvSpPr/>
          <p:nvPr/>
        </p:nvSpPr>
        <p:spPr>
          <a:xfrm>
            <a:off x="5577840" y="3291840"/>
            <a:ext cx="5879592" cy="1371600"/>
          </a:xfrm>
          <a:prstGeom prst="roundRect">
            <a:avLst>
              <a:gd name="adj" fmla="val 10000"/>
            </a:avLst>
          </a:prstGeom>
          <a:solidFill>
            <a:srgbClr val="F1F0FE"/>
          </a:solidFill>
          <a:ln w="12700">
            <a:solidFill>
              <a:srgbClr val="F1F0FE"/>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Shift from Rote to Evaluation</a:t>
            </a:r>
            <a:endParaRPr lang="en-US" sz="1800" dirty="0"/>
          </a:p>
          <a:p>
            <a:pPr indent="0" marL="0">
              <a:buNone/>
            </a:pPr>
            <a:r>
              <a:rPr lang="en-US" sz="1400" dirty="0">
                <a:solidFill>
                  <a:srgbClr val="1B1A3A"/>
                </a:solidFill>
              </a:rPr>
              <a:t>Educational paradigms are transitioning from memorizing facts to critically evaluating AI outputs.</a:t>
            </a:r>
            <a:endParaRPr lang="en-US" sz="1800" dirty="0"/>
          </a:p>
        </p:txBody>
      </p:sp>
      <p:sp>
        <p:nvSpPr>
          <p:cNvPr id="10" name="Shape 5"/>
          <p:cNvSpPr/>
          <p:nvPr/>
        </p:nvSpPr>
        <p:spPr>
          <a:xfrm>
            <a:off x="5577840" y="4846320"/>
            <a:ext cx="5879592" cy="1371600"/>
          </a:xfrm>
          <a:prstGeom prst="roundRect">
            <a:avLst>
              <a:gd name="adj" fmla="val 10000"/>
            </a:avLst>
          </a:prstGeom>
          <a:solidFill>
            <a:srgbClr val="F1F0FE"/>
          </a:solidFill>
          <a:ln w="12700">
            <a:solidFill>
              <a:srgbClr val="F1F0FE"/>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Faculty Integration Challenges</a:t>
            </a:r>
            <a:endParaRPr lang="en-US" sz="1800" dirty="0"/>
          </a:p>
          <a:p>
            <a:pPr indent="0" marL="0">
              <a:buNone/>
            </a:pPr>
            <a:r>
              <a:rPr lang="en-US" sz="1400" dirty="0">
                <a:solidFill>
                  <a:srgbClr val="1B1A3A"/>
                </a:solidFill>
              </a:rPr>
              <a:t>Institutions face the urgent imperative to establish coherent, transparent AI classroom syllabi.</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Illustration for Intelligent Tutoring Systems">    </p:cNvPr>
          <p:cNvPicPr>
            <a:picLocks noChangeAspect="1"/>
          </p:cNvPicPr>
          <p:nvPr/>
        </p:nvPicPr>
        <p:blipFill>
          <a:blip r:embed="rId1"/>
          <a:stretch>
            <a:fillRect/>
          </a:stretch>
        </p:blipFill>
        <p:spPr>
          <a:xfrm>
            <a:off x="731520" y="960120"/>
            <a:ext cx="4937760" cy="4937760"/>
          </a:xfrm>
          <a:prstGeom prst="rect">
            <a:avLst/>
          </a:prstGeom>
        </p:spPr>
      </p:pic>
      <p:sp>
        <p:nvSpPr>
          <p:cNvPr id="3" name="Text 0"/>
          <p:cNvSpPr txBox="1"/>
          <p:nvPr/>
        </p:nvSpPr>
        <p:spPr>
          <a:xfrm>
            <a:off x="6126480" y="822960"/>
            <a:ext cx="5394960" cy="5212080"/>
          </a:xfrm>
          <a:prstGeom prst="rect">
            <a:avLst/>
          </a:prstGeom>
          <a:noFill/>
          <a:ln/>
        </p:spPr>
        <p:txBody>
          <a:bodyPr wrap="square" lIns="0" tIns="0" rIns="0" bIns="0" rtlCol="0" anchor="ctr"/>
          <a:lstStyle/>
          <a:p>
            <a:pPr indent="0" marL="0">
              <a:spcAft>
                <a:spcPts val="1200"/>
              </a:spcAft>
              <a:buNone/>
            </a:pPr>
            <a:r>
              <a:rPr lang="en-US" sz="3800" b="1" dirty="0">
                <a:solidFill>
                  <a:srgbClr val="FFFFFF"/>
                </a:solidFill>
                <a:latin typeface="Cambria" pitchFamily="34" charset="0"/>
                <a:ea typeface="Cambria" pitchFamily="34" charset="-122"/>
                <a:cs typeface="Cambria" pitchFamily="34" charset="-120"/>
              </a:rPr>
              <a:t>Intelligent Tutoring Systems</a:t>
            </a:r>
            <a:endParaRPr lang="en-US" sz="3800" dirty="0"/>
          </a:p>
          <a:p>
            <a:pPr indent="0" marL="0">
              <a:buNone/>
            </a:pPr>
            <a:r>
              <a:rPr lang="en-US" sz="2000" dirty="0">
                <a:solidFill>
                  <a:srgbClr val="22D3C5"/>
                </a:solidFill>
              </a:rPr>
              <a:t>Transforming One-Way Lectures into 24/7 Adaptive Mentorship</a:t>
            </a:r>
            <a:endParaRPr lang="en-US" sz="3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PEDAGOGICAL BENEFITS</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Adaptive Feedback Mechanisms</a:t>
            </a:r>
            <a:endParaRPr lang="en-US" sz="1200" dirty="0"/>
          </a:p>
        </p:txBody>
      </p:sp>
      <p:pic>
        <p:nvPicPr>
          <p:cNvPr id="3" name="Image 0" descr="Illustration for Adaptive Feedback Mechanisms">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1F0FE"/>
          </a:solidFill>
          <a:ln w="12700">
            <a:solidFill>
              <a:srgbClr val="F1F0FE"/>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Personalized Learning Cadence</a:t>
            </a:r>
            <a:endParaRPr lang="en-US" sz="1800" dirty="0"/>
          </a:p>
          <a:p>
            <a:pPr indent="0" marL="0">
              <a:buNone/>
            </a:pPr>
            <a:r>
              <a:rPr lang="en-US" sz="1400" dirty="0">
                <a:solidFill>
                  <a:srgbClr val="1B1A3A"/>
                </a:solidFill>
              </a:rPr>
              <a:t>AI models detect cognitive misconceptions and tailor practice problems in real time.</a:t>
            </a:r>
            <a:endParaRPr lang="en-US" sz="1800" dirty="0"/>
          </a:p>
        </p:txBody>
      </p:sp>
      <p:sp>
        <p:nvSpPr>
          <p:cNvPr id="7" name="Shape 3"/>
          <p:cNvSpPr/>
          <p:nvPr/>
        </p:nvSpPr>
        <p:spPr>
          <a:xfrm>
            <a:off x="5577840" y="3291840"/>
            <a:ext cx="5879592" cy="1371600"/>
          </a:xfrm>
          <a:prstGeom prst="roundRect">
            <a:avLst>
              <a:gd name="adj" fmla="val 10000"/>
            </a:avLst>
          </a:prstGeom>
          <a:solidFill>
            <a:srgbClr val="F1F0FE"/>
          </a:solidFill>
          <a:ln w="12700">
            <a:solidFill>
              <a:srgbClr val="F1F0FE"/>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Instantaneous Code Debugging</a:t>
            </a:r>
            <a:endParaRPr lang="en-US" sz="1800" dirty="0"/>
          </a:p>
          <a:p>
            <a:pPr indent="0" marL="0">
              <a:buNone/>
            </a:pPr>
            <a:r>
              <a:rPr lang="en-US" sz="1400" dirty="0">
                <a:solidFill>
                  <a:srgbClr val="1B1A3A"/>
                </a:solidFill>
              </a:rPr>
              <a:t>For BSIT students, automated syntax checkers explain logic bugs line-by-line.</a:t>
            </a:r>
            <a:endParaRPr lang="en-US" sz="1800" dirty="0"/>
          </a:p>
        </p:txBody>
      </p:sp>
      <p:sp>
        <p:nvSpPr>
          <p:cNvPr id="10" name="Shape 5"/>
          <p:cNvSpPr/>
          <p:nvPr/>
        </p:nvSpPr>
        <p:spPr>
          <a:xfrm>
            <a:off x="5577840" y="4846320"/>
            <a:ext cx="5879592" cy="1371600"/>
          </a:xfrm>
          <a:prstGeom prst="roundRect">
            <a:avLst>
              <a:gd name="adj" fmla="val 10000"/>
            </a:avLst>
          </a:prstGeom>
          <a:solidFill>
            <a:srgbClr val="F1F0FE"/>
          </a:solidFill>
          <a:ln w="12700">
            <a:solidFill>
              <a:srgbClr val="F1F0FE"/>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Continuous Formative Feedback</a:t>
            </a:r>
            <a:endParaRPr lang="en-US" sz="1800" dirty="0"/>
          </a:p>
          <a:p>
            <a:pPr indent="0" marL="0">
              <a:buNone/>
            </a:pPr>
            <a:r>
              <a:rPr lang="en-US" sz="1400" dirty="0">
                <a:solidFill>
                  <a:srgbClr val="1B1A3A"/>
                </a:solidFill>
              </a:rPr>
              <a:t>Low-stakes continuous self-assessments replace high-anxiety cram sessions.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PEDAGOGICAL LEVERS</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Three Core Academic Opportunities</a:t>
            </a:r>
            <a:endParaRPr lang="en-US" sz="1200" dirty="0"/>
          </a:p>
        </p:txBody>
      </p:sp>
      <p:sp>
        <p:nvSpPr>
          <p:cNvPr id="3" name="Shape 1"/>
          <p:cNvSpPr/>
          <p:nvPr/>
        </p:nvSpPr>
        <p:spPr>
          <a:xfrm>
            <a:off x="731520" y="1737360"/>
            <a:ext cx="3520440" cy="4023360"/>
          </a:xfrm>
          <a:prstGeom prst="roundRect">
            <a:avLst>
              <a:gd name="adj" fmla="val 3896"/>
            </a:avLst>
          </a:prstGeom>
          <a:solidFill>
            <a:srgbClr val="F1F0FE"/>
          </a:solidFill>
          <a:ln w="12700">
            <a:solidFill>
              <a:srgbClr val="F1F0FE"/>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1. Personalized Tutoring</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Customized pacing and adaptive scaffolds designed around individual student neurodiversity and aptitude.</a:t>
            </a:r>
            <a:endParaRPr lang="en-US" sz="1500" dirty="0"/>
          </a:p>
        </p:txBody>
      </p:sp>
      <p:sp>
        <p:nvSpPr>
          <p:cNvPr id="7" name="Shape 4"/>
          <p:cNvSpPr/>
          <p:nvPr/>
        </p:nvSpPr>
        <p:spPr>
          <a:xfrm>
            <a:off x="4416552" y="1737360"/>
            <a:ext cx="3520440" cy="4023360"/>
          </a:xfrm>
          <a:prstGeom prst="roundRect">
            <a:avLst>
              <a:gd name="adj" fmla="val 3896"/>
            </a:avLst>
          </a:prstGeom>
          <a:solidFill>
            <a:srgbClr val="F1F0FE"/>
          </a:solidFill>
          <a:ln w="12700">
            <a:solidFill>
              <a:srgbClr val="F1F0FE"/>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2. Faculty Workflow Automation</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Automated routine grading of quizzes and diagnostic reports, liberating teachers for direct 1-on-1 mentorship.</a:t>
            </a:r>
            <a:endParaRPr lang="en-US" sz="1500" dirty="0"/>
          </a:p>
        </p:txBody>
      </p:sp>
      <p:sp>
        <p:nvSpPr>
          <p:cNvPr id="11" name="Shape 7"/>
          <p:cNvSpPr/>
          <p:nvPr/>
        </p:nvSpPr>
        <p:spPr>
          <a:xfrm>
            <a:off x="8101584" y="1737360"/>
            <a:ext cx="3520440" cy="4023360"/>
          </a:xfrm>
          <a:prstGeom prst="roundRect">
            <a:avLst>
              <a:gd name="adj" fmla="val 3896"/>
            </a:avLst>
          </a:prstGeom>
          <a:solidFill>
            <a:srgbClr val="F1F0FE"/>
          </a:solidFill>
          <a:ln w="12700">
            <a:solidFill>
              <a:srgbClr val="F1F0FE"/>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3. Multilingual Accessibility</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Real-time speech-to-text, dialect translation, and assistive reading engines for equitable classroom access.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VULNERABILITY ANALYSIS</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Academic Integrity &amp; Ethical Risks</a:t>
            </a:r>
            <a:endParaRPr lang="en-US" sz="1200" dirty="0"/>
          </a:p>
        </p:txBody>
      </p:sp>
      <p:pic>
        <p:nvPicPr>
          <p:cNvPr id="3" name="Image 0" descr="Illustration for Academic Integrity &amp; Ethical Risks">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1F0FE"/>
          </a:solidFill>
          <a:ln w="12700">
            <a:solidFill>
              <a:srgbClr val="F1F0FE"/>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Cognitive Atrophy Hazard</a:t>
            </a:r>
            <a:endParaRPr lang="en-US" sz="1800" dirty="0"/>
          </a:p>
          <a:p>
            <a:pPr indent="0" marL="0">
              <a:buNone/>
            </a:pPr>
            <a:r>
              <a:rPr lang="en-US" sz="1400" dirty="0">
                <a:solidFill>
                  <a:srgbClr val="1B1A3A"/>
                </a:solidFill>
              </a:rPr>
              <a:t>Over-reliance on automated code completion impairs baseline algorithmic problem-solving.</a:t>
            </a:r>
            <a:endParaRPr lang="en-US" sz="1800" dirty="0"/>
          </a:p>
        </p:txBody>
      </p:sp>
      <p:sp>
        <p:nvSpPr>
          <p:cNvPr id="7" name="Shape 3"/>
          <p:cNvSpPr/>
          <p:nvPr/>
        </p:nvSpPr>
        <p:spPr>
          <a:xfrm>
            <a:off x="5577840" y="3291840"/>
            <a:ext cx="5879592" cy="1371600"/>
          </a:xfrm>
          <a:prstGeom prst="roundRect">
            <a:avLst>
              <a:gd name="adj" fmla="val 10000"/>
            </a:avLst>
          </a:prstGeom>
          <a:solidFill>
            <a:srgbClr val="F1F0FE"/>
          </a:solidFill>
          <a:ln w="12700">
            <a:solidFill>
              <a:srgbClr val="F1F0FE"/>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Algorithmic Hallucinations</a:t>
            </a:r>
            <a:endParaRPr lang="en-US" sz="1800" dirty="0"/>
          </a:p>
          <a:p>
            <a:pPr indent="0" marL="0">
              <a:buNone/>
            </a:pPr>
            <a:r>
              <a:rPr lang="en-US" sz="1400" dirty="0">
                <a:solidFill>
                  <a:srgbClr val="1B1A3A"/>
                </a:solidFill>
              </a:rPr>
              <a:t>Generative models produce convincingly worded false citations and inaccurate historical facts.</a:t>
            </a:r>
            <a:endParaRPr lang="en-US" sz="1800" dirty="0"/>
          </a:p>
        </p:txBody>
      </p:sp>
      <p:sp>
        <p:nvSpPr>
          <p:cNvPr id="10" name="Shape 5"/>
          <p:cNvSpPr/>
          <p:nvPr/>
        </p:nvSpPr>
        <p:spPr>
          <a:xfrm>
            <a:off x="5577840" y="4846320"/>
            <a:ext cx="5879592" cy="1371600"/>
          </a:xfrm>
          <a:prstGeom prst="roundRect">
            <a:avLst>
              <a:gd name="adj" fmla="val 10000"/>
            </a:avLst>
          </a:prstGeom>
          <a:solidFill>
            <a:srgbClr val="F1F0FE"/>
          </a:solidFill>
          <a:ln w="12700">
            <a:solidFill>
              <a:srgbClr val="F1F0FE"/>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Data Privacy &amp; IP Exposure</a:t>
            </a:r>
            <a:endParaRPr lang="en-US" sz="1800" dirty="0"/>
          </a:p>
          <a:p>
            <a:pPr indent="0" marL="0">
              <a:buNone/>
            </a:pPr>
            <a:r>
              <a:rPr lang="en-US" sz="1400" dirty="0">
                <a:solidFill>
                  <a:srgbClr val="1B1A3A"/>
                </a:solidFill>
              </a:rPr>
              <a:t>Uploading proprietary university research into commercial model clouds creates serious data leaks.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Illustration for Institutional AI Policy">    </p:cNvPr>
          <p:cNvPicPr>
            <a:picLocks noChangeAspect="1"/>
          </p:cNvPicPr>
          <p:nvPr/>
        </p:nvPicPr>
        <p:blipFill>
          <a:blip r:embed="rId1"/>
          <a:stretch>
            <a:fillRect/>
          </a:stretch>
        </p:blipFill>
        <p:spPr>
          <a:xfrm>
            <a:off x="6217920" y="960120"/>
            <a:ext cx="4937760" cy="49377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200"/>
              </a:spcAft>
              <a:buNone/>
            </a:pPr>
            <a:r>
              <a:rPr lang="en-US" sz="3800" b="1" dirty="0">
                <a:solidFill>
                  <a:srgbClr val="FFFFFF"/>
                </a:solidFill>
                <a:latin typeface="Cambria" pitchFamily="34" charset="0"/>
                <a:ea typeface="Cambria" pitchFamily="34" charset="-122"/>
                <a:cs typeface="Cambria" pitchFamily="34" charset="-120"/>
              </a:rPr>
              <a:t>Institutional AI Policy</a:t>
            </a:r>
            <a:endParaRPr lang="en-US" sz="3800" dirty="0"/>
          </a:p>
          <a:p>
            <a:pPr indent="0" marL="0">
              <a:buNone/>
            </a:pPr>
            <a:r>
              <a:rPr lang="en-US" sz="2000" dirty="0">
                <a:solidFill>
                  <a:srgbClr val="22D3C5"/>
                </a:solidFill>
              </a:rPr>
              <a:t>Constructing Ethical Governance Frameworks for Higher Education</a:t>
            </a:r>
            <a:endParaRPr lang="en-US" sz="3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INSTITUTIONAL ACTION</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Classroom Syllabi Best Practices</a:t>
            </a:r>
            <a:endParaRPr lang="en-US" sz="1200" dirty="0"/>
          </a:p>
        </p:txBody>
      </p:sp>
      <p:pic>
        <p:nvPicPr>
          <p:cNvPr id="3" name="Image 0" descr="Illustration for Classroom Syllabi Best Practices">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1F0FE"/>
          </a:solidFill>
          <a:ln w="12700">
            <a:solidFill>
              <a:srgbClr val="F1F0FE"/>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Mandatory Disclosure Logs</a:t>
            </a:r>
            <a:endParaRPr lang="en-US" sz="1800" dirty="0"/>
          </a:p>
          <a:p>
            <a:pPr indent="0" marL="0">
              <a:buNone/>
            </a:pPr>
            <a:r>
              <a:rPr lang="en-US" sz="1400" dirty="0">
                <a:solidFill>
                  <a:srgbClr val="1B1A3A"/>
                </a:solidFill>
              </a:rPr>
              <a:t>Students submit an AI appendix detailing prompts used, AI outputs, and personal revisions.</a:t>
            </a:r>
            <a:endParaRPr lang="en-US" sz="1800" dirty="0"/>
          </a:p>
        </p:txBody>
      </p:sp>
      <p:sp>
        <p:nvSpPr>
          <p:cNvPr id="7" name="Shape 3"/>
          <p:cNvSpPr/>
          <p:nvPr/>
        </p:nvSpPr>
        <p:spPr>
          <a:xfrm>
            <a:off x="5577840" y="3291840"/>
            <a:ext cx="5879592" cy="1371600"/>
          </a:xfrm>
          <a:prstGeom prst="roundRect">
            <a:avLst>
              <a:gd name="adj" fmla="val 10000"/>
            </a:avLst>
          </a:prstGeom>
          <a:solidFill>
            <a:srgbClr val="F1F0FE"/>
          </a:solidFill>
          <a:ln w="12700">
            <a:solidFill>
              <a:srgbClr val="F1F0FE"/>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Oral Defense &amp; Whiteboarding</a:t>
            </a:r>
            <a:endParaRPr lang="en-US" sz="1800" dirty="0"/>
          </a:p>
          <a:p>
            <a:pPr indent="0" marL="0">
              <a:buNone/>
            </a:pPr>
            <a:r>
              <a:rPr lang="en-US" sz="1400" dirty="0">
                <a:solidFill>
                  <a:srgbClr val="1B1A3A"/>
                </a:solidFill>
              </a:rPr>
              <a:t>Evaluating student code mastery through live whiteboard walkthroughs and conceptual defense.</a:t>
            </a:r>
            <a:endParaRPr lang="en-US" sz="1800" dirty="0"/>
          </a:p>
        </p:txBody>
      </p:sp>
      <p:sp>
        <p:nvSpPr>
          <p:cNvPr id="10" name="Shape 5"/>
          <p:cNvSpPr/>
          <p:nvPr/>
        </p:nvSpPr>
        <p:spPr>
          <a:xfrm>
            <a:off x="5577840" y="4846320"/>
            <a:ext cx="5879592" cy="1371600"/>
          </a:xfrm>
          <a:prstGeom prst="roundRect">
            <a:avLst>
              <a:gd name="adj" fmla="val 10000"/>
            </a:avLst>
          </a:prstGeom>
          <a:solidFill>
            <a:srgbClr val="F1F0FE"/>
          </a:solidFill>
          <a:ln w="12700">
            <a:solidFill>
              <a:srgbClr val="F1F0FE"/>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5B4CF0"/>
                </a:solidFill>
              </a:rPr>
              <a:t>Institutional Model Subscriptions</a:t>
            </a:r>
            <a:endParaRPr lang="en-US" sz="1800" dirty="0"/>
          </a:p>
          <a:p>
            <a:pPr indent="0" marL="0">
              <a:buNone/>
            </a:pPr>
            <a:r>
              <a:rPr lang="en-US" sz="1400" dirty="0">
                <a:solidFill>
                  <a:srgbClr val="1B1A3A"/>
                </a:solidFill>
              </a:rPr>
              <a:t>Universities provision privacy-shielded enterprise AI tiers that safeguard student data.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POLICY BLUEPRINT</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The Three Tiers of AI Governance</a:t>
            </a:r>
            <a:endParaRPr lang="en-US" sz="1200" dirty="0"/>
          </a:p>
        </p:txBody>
      </p:sp>
      <p:sp>
        <p:nvSpPr>
          <p:cNvPr id="3" name="Shape 1"/>
          <p:cNvSpPr/>
          <p:nvPr/>
        </p:nvSpPr>
        <p:spPr>
          <a:xfrm>
            <a:off x="731520" y="1737360"/>
            <a:ext cx="3520440" cy="4023360"/>
          </a:xfrm>
          <a:prstGeom prst="roundRect">
            <a:avLst>
              <a:gd name="adj" fmla="val 3896"/>
            </a:avLst>
          </a:prstGeom>
          <a:solidFill>
            <a:srgbClr val="F1F0FE"/>
          </a:solidFill>
          <a:ln w="12700">
            <a:solidFill>
              <a:srgbClr val="F1F0FE"/>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Tier 1: Permitted Use</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Brainstorming project topics, finding syntax errors, and practicing mock interview questions.</a:t>
            </a:r>
            <a:endParaRPr lang="en-US" sz="1500" dirty="0"/>
          </a:p>
        </p:txBody>
      </p:sp>
      <p:sp>
        <p:nvSpPr>
          <p:cNvPr id="7" name="Shape 4"/>
          <p:cNvSpPr/>
          <p:nvPr/>
        </p:nvSpPr>
        <p:spPr>
          <a:xfrm>
            <a:off x="4416552" y="1737360"/>
            <a:ext cx="3520440" cy="4023360"/>
          </a:xfrm>
          <a:prstGeom prst="roundRect">
            <a:avLst>
              <a:gd name="adj" fmla="val 3896"/>
            </a:avLst>
          </a:prstGeom>
          <a:solidFill>
            <a:srgbClr val="F1F0FE"/>
          </a:solidFill>
          <a:ln w="12700">
            <a:solidFill>
              <a:srgbClr val="F1F0FE"/>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Tier 2: Disclosed Use</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Synthesizing research abstracts and drafting code templates with mandatory prompt citation.</a:t>
            </a:r>
            <a:endParaRPr lang="en-US" sz="1500" dirty="0"/>
          </a:p>
        </p:txBody>
      </p:sp>
      <p:sp>
        <p:nvSpPr>
          <p:cNvPr id="11" name="Shape 7"/>
          <p:cNvSpPr/>
          <p:nvPr/>
        </p:nvSpPr>
        <p:spPr>
          <a:xfrm>
            <a:off x="8101584" y="1737360"/>
            <a:ext cx="3520440" cy="4023360"/>
          </a:xfrm>
          <a:prstGeom prst="roundRect">
            <a:avLst>
              <a:gd name="adj" fmla="val 3896"/>
            </a:avLst>
          </a:prstGeom>
          <a:solidFill>
            <a:srgbClr val="F1F0FE"/>
          </a:solidFill>
          <a:ln w="12700">
            <a:solidFill>
              <a:srgbClr val="F1F0FE"/>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Tier 3: Strictly Prohibited</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Submitting unedited AI essays, take-home exam completions, and unauthorized auto-prompting.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5B4CF0"/>
                </a:solidFill>
              </a:rPr>
              <a:t>STRATEGIC ROADMAP</a:t>
            </a:r>
            <a:endParaRPr lang="en-US" sz="1200" dirty="0"/>
          </a:p>
          <a:p>
            <a:pPr indent="0" marL="0">
              <a:buNone/>
            </a:pPr>
            <a:r>
              <a:rPr lang="en-US" sz="3400" b="1" dirty="0">
                <a:solidFill>
                  <a:srgbClr val="1B1A3A"/>
                </a:solidFill>
                <a:latin typeface="Cambria" pitchFamily="34" charset="0"/>
                <a:ea typeface="Cambria" pitchFamily="34" charset="-122"/>
                <a:cs typeface="Cambria" pitchFamily="34" charset="-120"/>
              </a:rPr>
              <a:t>Action Plan for Students &amp; Faculty</a:t>
            </a:r>
            <a:endParaRPr lang="en-US" sz="1200" dirty="0"/>
          </a:p>
        </p:txBody>
      </p:sp>
      <p:sp>
        <p:nvSpPr>
          <p:cNvPr id="3" name="Shape 1"/>
          <p:cNvSpPr/>
          <p:nvPr/>
        </p:nvSpPr>
        <p:spPr>
          <a:xfrm>
            <a:off x="731520" y="1737360"/>
            <a:ext cx="3520440" cy="4023360"/>
          </a:xfrm>
          <a:prstGeom prst="roundRect">
            <a:avLst>
              <a:gd name="adj" fmla="val 3896"/>
            </a:avLst>
          </a:prstGeom>
          <a:solidFill>
            <a:srgbClr val="F1F0FE"/>
          </a:solidFill>
          <a:ln w="12700">
            <a:solidFill>
              <a:srgbClr val="F1F0FE"/>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For Students</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Treat AI as a junior research assistant. Always fact-check citations, verify logic, and defend every line of code.</a:t>
            </a:r>
            <a:endParaRPr lang="en-US" sz="1500" dirty="0"/>
          </a:p>
        </p:txBody>
      </p:sp>
      <p:sp>
        <p:nvSpPr>
          <p:cNvPr id="7" name="Shape 4"/>
          <p:cNvSpPr/>
          <p:nvPr/>
        </p:nvSpPr>
        <p:spPr>
          <a:xfrm>
            <a:off x="4416552" y="1737360"/>
            <a:ext cx="3520440" cy="4023360"/>
          </a:xfrm>
          <a:prstGeom prst="roundRect">
            <a:avLst>
              <a:gd name="adj" fmla="val 3896"/>
            </a:avLst>
          </a:prstGeom>
          <a:solidFill>
            <a:srgbClr val="F1F0FE"/>
          </a:solidFill>
          <a:ln w="12700">
            <a:solidFill>
              <a:srgbClr val="F1F0FE"/>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For Educators</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Shift exam design to authentic case studies, practical problem solving, and contextual oral evaluations.</a:t>
            </a:r>
            <a:endParaRPr lang="en-US" sz="1500" dirty="0"/>
          </a:p>
        </p:txBody>
      </p:sp>
      <p:sp>
        <p:nvSpPr>
          <p:cNvPr id="11" name="Shape 7"/>
          <p:cNvSpPr/>
          <p:nvPr/>
        </p:nvSpPr>
        <p:spPr>
          <a:xfrm>
            <a:off x="8101584" y="1737360"/>
            <a:ext cx="3520440" cy="4023360"/>
          </a:xfrm>
          <a:prstGeom prst="roundRect">
            <a:avLst>
              <a:gd name="adj" fmla="val 3896"/>
            </a:avLst>
          </a:prstGeom>
          <a:solidFill>
            <a:srgbClr val="F1F0FE"/>
          </a:solidFill>
          <a:ln w="12700">
            <a:solidFill>
              <a:srgbClr val="F1F0FE"/>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5B4CF0"/>
                </a:solidFill>
              </a:rPr>
              <a:t>For STI Administration</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1B1A3A"/>
                </a:solidFill>
              </a:rPr>
              <a:t>Sponsor faculty training workshops and campus AI sandbox labs to bridge technological divides.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Illustration for Empowering Tomorrow with AI">    </p:cNvPr>
          <p:cNvPicPr>
            <a:picLocks noChangeAspect="1"/>
          </p:cNvPicPr>
          <p:nvPr/>
        </p:nvPicPr>
        <p:blipFill>
          <a:blip r:embed="rId1"/>
          <a:stretch>
            <a:fillRect/>
          </a:stretch>
        </p:blipFill>
        <p:spPr>
          <a:xfrm>
            <a:off x="6217920" y="731520"/>
            <a:ext cx="5303520" cy="53949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000"/>
              </a:spcAft>
              <a:buNone/>
            </a:pPr>
            <a:r>
              <a:rPr lang="en-US" sz="3800" b="1" dirty="0">
                <a:solidFill>
                  <a:srgbClr val="FFFFFF"/>
                </a:solidFill>
                <a:latin typeface="Cambria" pitchFamily="34" charset="0"/>
                <a:ea typeface="Cambria" pitchFamily="34" charset="-122"/>
                <a:cs typeface="Cambria" pitchFamily="34" charset="-120"/>
              </a:rPr>
              <a:t>Empowering Tomorrow with AI</a:t>
            </a:r>
            <a:endParaRPr lang="en-US" sz="3800" dirty="0"/>
          </a:p>
          <a:p>
            <a:pPr indent="0" marL="0">
              <a:spcAft>
                <a:spcPts val="1800"/>
              </a:spcAft>
              <a:buNone/>
            </a:pPr>
            <a:r>
              <a:rPr lang="en-US" sz="2000" dirty="0">
                <a:solidFill>
                  <a:srgbClr val="22D3C5"/>
                </a:solidFill>
              </a:rPr>
              <a:t>Balancing Technological Innovation with Scholastic Rigor</a:t>
            </a:r>
            <a:endParaRPr lang="en-US" sz="3800" dirty="0"/>
          </a:p>
          <a:p>
            <a:pPr indent="0" marL="0">
              <a:spcAft>
                <a:spcPts val="400"/>
              </a:spcAft>
              <a:buNone/>
            </a:pPr>
            <a:r>
              <a:rPr lang="en-US" sz="1200" b="1" dirty="0">
                <a:solidFill>
                  <a:srgbClr val="DCE3EC"/>
                </a:solidFill>
              </a:rPr>
              <a:t>Image &amp; Academic Credits:</a:t>
            </a:r>
            <a:endParaRPr lang="en-US" sz="3800" dirty="0"/>
          </a:p>
          <a:p>
            <a:pPr marL="342900" indent="-342900">
              <a:spcAft>
                <a:spcPts val="300"/>
              </a:spcAft>
              <a:buSzPct val="100000"/>
              <a:buChar char="•"/>
            </a:pPr>
            <a:r>
              <a:rPr lang="en-US" sz="1200" dirty="0">
                <a:solidFill>
                  <a:srgbClr val="DCE3EC"/>
                </a:solidFill>
              </a:rPr>
              <a:t>Visual Assets: Custom 3D renders &amp; high-res vector graphics.</a:t>
            </a:r>
            <a:endParaRPr lang="en-US" sz="3800" dirty="0"/>
          </a:p>
          <a:p>
            <a:pPr marL="342900" indent="-342900">
              <a:spcAft>
                <a:spcPts val="300"/>
              </a:spcAft>
              <a:buSzPct val="100000"/>
              <a:buChar char="•"/>
            </a:pPr>
            <a:r>
              <a:rPr lang="en-US" sz="1200" dirty="0">
                <a:solidFill>
                  <a:srgbClr val="DCE3EC"/>
                </a:solidFill>
              </a:rPr>
              <a:t>Research Citations: APA 7th academic standards.</a:t>
            </a:r>
            <a:endParaRPr lang="en-US" sz="3800" dirty="0"/>
          </a:p>
          <a:p>
            <a:pPr marL="342900" indent="-342900">
              <a:spcAft>
                <a:spcPts val="300"/>
              </a:spcAft>
              <a:buSzPct val="100000"/>
              <a:buChar char="•"/>
            </a:pPr>
            <a:r>
              <a:rPr lang="en-US" sz="1200" dirty="0">
                <a:solidFill>
                  <a:srgbClr val="DCE3EC"/>
                </a:solidFill>
              </a:rPr>
              <a:t>STI West Negros University • BSIT Program 2026–2027</a:t>
            </a:r>
            <a:endParaRPr lang="en-US" sz="3800" dirty="0"/>
          </a:p>
        </p:txBody>
      </p:sp>
    </p:spTree>
  </p:cSld>
  <p:clrMapOvr>
    <a:masterClrMapping/>
  </p:clrMapOvr>
</p:sld>
</file>

<file path=ppt/theme/theme1.xml><?xml version="1.0" encoding="utf-8"?>
<a:theme xmlns:a="http://schemas.openxmlformats.org/drawingml/2006/main" name="AI in Education Opportunities Risks">
  <a:themeElements>
    <a:clrScheme name="AI in Education Opportunities Risks">
      <a:dk1>
        <a:srgbClr val="1B1A3A"/>
      </a:dk1>
      <a:lt1>
        <a:srgbClr val="FFFFFF"/>
      </a:lt1>
      <a:dk2>
        <a:srgbClr val="151338"/>
      </a:dk2>
      <a:lt2>
        <a:srgbClr val="F1F0FE"/>
      </a:lt2>
      <a:accent1>
        <a:srgbClr val="5B4CF0"/>
      </a:accent1>
      <a:accent2>
        <a:srgbClr val="22D3C5"/>
      </a:accent2>
      <a:accent3>
        <a:srgbClr val="3B30C4"/>
      </a:accent3>
      <a:accent4>
        <a:srgbClr val="1B1A3A"/>
      </a:accent4>
      <a:accent5>
        <a:srgbClr val="5B4CF0"/>
      </a:accent5>
      <a:accent6>
        <a:srgbClr val="22D3C5"/>
      </a:accent6>
      <a:hlink>
        <a:srgbClr val="5B4CF0"/>
      </a:hlink>
      <a:folHlink>
        <a:srgbClr val="3B30C4"/>
      </a:folHlink>
    </a:clrScheme>
    <a:fontScheme name="AI in Education Opportunities Risk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Jhon Paulo Gascon</dc:creator>
  <cp:lastModifiedBy>Jhon Paulo Gascon</cp:lastModifiedBy>
  <cp:revision>1</cp:revision>
  <dcterms:created xsi:type="dcterms:W3CDTF">2026-10-24T14:40:51Z</dcterms:created>
  <dcterms:modified xsi:type="dcterms:W3CDTF">2026-10-24T14:40:51Z</dcterms:modified>
</cp:coreProperties>
</file>